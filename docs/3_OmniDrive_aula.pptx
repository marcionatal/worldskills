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8627" autoAdjust="0"/>
  </p:normalViewPr>
  <p:slideViewPr>
    <p:cSldViewPr snapToGrid="0" snapToObjects="1">
      <p:cViewPr varScale="1">
        <p:scale>
          <a:sx n="56" d="100"/>
          <a:sy n="56" d="100"/>
        </p:scale>
        <p:origin x="168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8538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Pergunte antes de começar: 'como vocês fariam um robô estacionar de lado, sem manobrar?' Deixe a turma tentar responder — a resposta é a aula inteira.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mapa e volte a ele nos divisores. Combine com a turma que a parte 3 é a mais pesada — e a mais importante.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8 minutos nesta 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para alguém da turma imaginar estacionar um carro de ré numa vaga apertada. É exatamente o custo que o omni elimina.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Conceito de grau de liberdade. Um robô no plano tem 3. O robô de duas rodas controla só 2 deles (frente e giro) — por isso é chamado não-holonômico.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tiver uma roda omni em mãos, passe para a turma agora. Vale mais que qualquer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Analogia: é como um patins montado de lado sobre um carrinho. O motor decide só uma das duas direções; a outra fica livre.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ideia central da aula. Se a turma entender que cada roda só 'enxerga' a componente dela, a matriz do próximo bloco vira consequência.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mais longa, cerca de 20 minutos. Vá devagar nos exemplos numéricos.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no robô real qual motor é qual. Vale conferir com a turma o sentido positivo de cada motor antes de acreditar na conta.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Retome produto escalar: V·u = |V||u|cos(ângulo). Como u é unitário, sobra |V|cos(ângulo) — a sombra de V em cima de 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Cinemática</a:t>
            </a:r>
            <a:r>
              <a:rPr lang="en-US" b="1" dirty="0"/>
              <a:t> </a:t>
            </a:r>
            <a:r>
              <a:rPr lang="en-US" b="1" dirty="0" err="1"/>
              <a:t>inversa</a:t>
            </a:r>
            <a:r>
              <a:rPr lang="en-US" b="1" dirty="0"/>
              <a:t> : </a:t>
            </a:r>
            <a:r>
              <a:rPr lang="en-US" b="1" dirty="0" err="1"/>
              <a:t>Atuação</a:t>
            </a:r>
            <a:r>
              <a:rPr lang="en-US" dirty="0"/>
              <a:t> Pega a </a:t>
            </a:r>
            <a:r>
              <a:rPr lang="en-US" dirty="0" err="1"/>
              <a:t>intenção</a:t>
            </a:r>
            <a:r>
              <a:rPr lang="en-US" dirty="0"/>
              <a:t> do </a:t>
            </a:r>
            <a:r>
              <a:rPr lang="en-US" dirty="0" err="1"/>
              <a:t>piloto</a:t>
            </a:r>
            <a:r>
              <a:rPr lang="en-US" dirty="0"/>
              <a:t> (Joystick) </a:t>
            </a:r>
            <a:r>
              <a:rPr lang="en-US" dirty="0" err="1"/>
              <a:t>ou</a:t>
            </a:r>
            <a:r>
              <a:rPr lang="en-US" dirty="0"/>
              <a:t> do </a:t>
            </a:r>
            <a:r>
              <a:rPr lang="en-US" dirty="0" err="1"/>
              <a:t>caminho</a:t>
            </a:r>
            <a:r>
              <a:rPr lang="en-US" dirty="0"/>
              <a:t> </a:t>
            </a:r>
            <a:r>
              <a:rPr lang="en-US" dirty="0" err="1"/>
              <a:t>autônomo</a:t>
            </a:r>
            <a:r>
              <a:rPr lang="en-US" dirty="0"/>
              <a:t> e </a:t>
            </a:r>
            <a:r>
              <a:rPr lang="en-US" dirty="0" err="1"/>
              <a:t>diz</a:t>
            </a:r>
            <a:r>
              <a:rPr lang="en-US" dirty="0"/>
              <a:t> </a:t>
            </a:r>
            <a:r>
              <a:rPr lang="en-US" dirty="0" err="1"/>
              <a:t>quão</a:t>
            </a:r>
            <a:r>
              <a:rPr lang="en-US" dirty="0"/>
              <a:t> </a:t>
            </a:r>
            <a:r>
              <a:rPr lang="en-US" dirty="0" err="1"/>
              <a:t>rápido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motor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girar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Destaque</a:t>
            </a:r>
            <a:r>
              <a:rPr lang="en-US" dirty="0"/>
              <a:t>: a matriz depende só de como as rodas foram parafusadas. Isso é o que permite escrever o código uma vez e reusar em qualquer robô de 3 omni.</a:t>
            </a:r>
          </a:p>
          <a:p>
            <a:endParaRPr lang="en-US" dirty="0"/>
          </a:p>
          <a:p>
            <a:r>
              <a:rPr lang="en-US" dirty="0" err="1"/>
              <a:t>Calcula</a:t>
            </a:r>
            <a:r>
              <a:rPr lang="en-US" dirty="0"/>
              <a:t> a </a:t>
            </a:r>
            <a:r>
              <a:rPr lang="en-US" dirty="0" err="1"/>
              <a:t>velocidade</a:t>
            </a:r>
            <a:r>
              <a:rPr lang="en-US" dirty="0"/>
              <a:t> das </a:t>
            </a:r>
            <a:r>
              <a:rPr lang="en-US" dirty="0" err="1"/>
              <a:t>rodas</a:t>
            </a:r>
            <a:r>
              <a:rPr lang="en-US" dirty="0"/>
              <a:t> a </a:t>
            </a:r>
            <a:r>
              <a:rPr lang="en-US" dirty="0" err="1"/>
              <a:t>partir</a:t>
            </a:r>
            <a:r>
              <a:rPr lang="en-US" dirty="0"/>
              <a:t> do </a:t>
            </a:r>
            <a:r>
              <a:rPr lang="en-US" dirty="0" err="1"/>
              <a:t>comando</a:t>
            </a:r>
            <a:r>
              <a:rPr lang="en-US" dirty="0"/>
              <a:t> do </a:t>
            </a:r>
            <a:r>
              <a:rPr lang="en-US" dirty="0" err="1"/>
              <a:t>robô</a:t>
            </a:r>
            <a:r>
              <a:rPr lang="en-US" dirty="0"/>
              <a:t> (</a:t>
            </a:r>
            <a:r>
              <a:rPr lang="en-US" b="1" dirty="0"/>
              <a:t>chassis speed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Se a </a:t>
            </a:r>
            <a:r>
              <a:rPr lang="en-US" dirty="0" err="1"/>
              <a:t>velocidade</a:t>
            </a:r>
            <a:r>
              <a:rPr lang="en-US" dirty="0"/>
              <a:t> de </a:t>
            </a:r>
            <a:r>
              <a:rPr lang="en-US" dirty="0" err="1"/>
              <a:t>rotação</a:t>
            </a:r>
            <a:r>
              <a:rPr lang="en-US" dirty="0"/>
              <a:t> </a:t>
            </a:r>
            <a:r>
              <a:rPr lang="en-US" dirty="0" err="1"/>
              <a:t>desejada</a:t>
            </a:r>
            <a:r>
              <a:rPr lang="en-US" dirty="0"/>
              <a:t> do </a:t>
            </a:r>
            <a:r>
              <a:rPr lang="en-US" dirty="0" err="1"/>
              <a:t>robô</a:t>
            </a:r>
            <a:r>
              <a:rPr lang="en-US" dirty="0"/>
              <a:t> (\(\omega \)) for </a:t>
            </a:r>
            <a:r>
              <a:rPr lang="en-US" dirty="0" err="1"/>
              <a:t>definida</a:t>
            </a:r>
            <a:r>
              <a:rPr lang="en-US" dirty="0"/>
              <a:t> </a:t>
            </a:r>
            <a:r>
              <a:rPr lang="en-US" dirty="0" err="1"/>
              <a:t>diretamente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velocidade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tangencial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linear </a:t>
            </a:r>
            <a:r>
              <a:rPr lang="en-US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periférica</a:t>
            </a:r>
            <a:r>
              <a:rPr lang="en-US" dirty="0"/>
              <a:t>, o </a:t>
            </a:r>
            <a:r>
              <a:rPr lang="en-US" dirty="0" err="1"/>
              <a:t>termo</a:t>
            </a:r>
            <a:r>
              <a:rPr lang="en-US" dirty="0"/>
              <a:t> \(L\) </a:t>
            </a:r>
            <a:r>
              <a:rPr lang="en-US" dirty="0" err="1"/>
              <a:t>já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embutido</a:t>
            </a:r>
            <a:r>
              <a:rPr lang="en-US" dirty="0"/>
              <a:t> no </a:t>
            </a:r>
            <a:r>
              <a:rPr lang="en-US" dirty="0" err="1"/>
              <a:t>comando</a:t>
            </a:r>
            <a:r>
              <a:rPr lang="en-US" dirty="0"/>
              <a:t> de entrada. Ou </a:t>
            </a:r>
            <a:r>
              <a:rPr lang="en-US" dirty="0" err="1"/>
              <a:t>seja</a:t>
            </a:r>
            <a:r>
              <a:rPr lang="en-US" dirty="0"/>
              <a:t>, assume-se </a:t>
            </a:r>
            <a:r>
              <a:rPr lang="en-US" dirty="0" err="1"/>
              <a:t>matematicamente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\(L = 1\) </a:t>
            </a:r>
            <a:r>
              <a:rPr lang="en-US" dirty="0" err="1"/>
              <a:t>unidade</a:t>
            </a:r>
            <a:r>
              <a:rPr lang="en-US" dirty="0"/>
              <a:t> de </a:t>
            </a:r>
            <a:r>
              <a:rPr lang="en-US" dirty="0" err="1"/>
              <a:t>comprimento</a:t>
            </a:r>
            <a:r>
              <a:rPr lang="en-US" dirty="0"/>
              <a:t> </a:t>
            </a:r>
            <a:r>
              <a:rPr lang="en-US" dirty="0" err="1"/>
              <a:t>padrão</a:t>
            </a:r>
            <a:r>
              <a:rPr lang="en-US" dirty="0"/>
              <a:t> para </a:t>
            </a:r>
            <a:r>
              <a:rPr lang="en-US" dirty="0" err="1"/>
              <a:t>que</a:t>
            </a:r>
            <a:r>
              <a:rPr lang="en-US" dirty="0"/>
              <a:t> a </a:t>
            </a:r>
            <a:r>
              <a:rPr lang="en-US" dirty="0" err="1"/>
              <a:t>multiplicação</a:t>
            </a:r>
            <a:r>
              <a:rPr lang="en-US" dirty="0"/>
              <a:t> </a:t>
            </a:r>
            <a:r>
              <a:rPr lang="en-US" dirty="0" err="1"/>
              <a:t>direta</a:t>
            </a:r>
            <a:r>
              <a:rPr lang="en-US" dirty="0"/>
              <a:t> </a:t>
            </a:r>
            <a:r>
              <a:rPr lang="en-US" dirty="0" err="1"/>
              <a:t>funcione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alterar</a:t>
            </a:r>
            <a:r>
              <a:rPr lang="en-US" dirty="0"/>
              <a:t> a </a:t>
            </a:r>
            <a:r>
              <a:rPr lang="en-US" dirty="0" err="1"/>
              <a:t>proporção</a:t>
            </a:r>
            <a:r>
              <a:rPr lang="en-US" dirty="0"/>
              <a:t> entre </a:t>
            </a:r>
            <a:r>
              <a:rPr lang="en-US" dirty="0" err="1"/>
              <a:t>translação</a:t>
            </a:r>
            <a:r>
              <a:rPr lang="en-US" dirty="0"/>
              <a:t> e </a:t>
            </a:r>
            <a:r>
              <a:rPr lang="en-US" dirty="0" err="1"/>
              <a:t>rotação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para a turma prever o sinal de M3 antes de mostrar. Erro clássico é achar que as duas giram no mesmo sentido.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0,5 + 0,5 = 1 na horizontal, e que na vertical +√3/2 e −√3/2 se anulam. Por isso o robô não sobe nem desce.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forte: como a conta é linear, qualquer movimento é a soma de frente + lado + giro. O robô pode andar na diagonal girando ao mesmo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1,366 é impossível: é 136% do motor. Dividir os três pelo maior mantém a proporção, logo mantém a direção — só chega mais devagar.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arquivo real no projetor se der. Conectar o slide ao código que roda no robô é o momento em que a turma acredita na matemática.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Últimos 12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alguém pilotar sem orientação de campo por 30 segundos. Todo mundo erra. Depois ligue e mostre a diferença.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Conexão direta com a aula de rotação de eixos. Vale mostrar que, com θ = 0, a matriz vira a identidade e nada muda.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Cinemática</a:t>
            </a:r>
            <a:r>
              <a:rPr lang="en-US" b="1" dirty="0"/>
              <a:t> </a:t>
            </a:r>
            <a:r>
              <a:rPr lang="en-US" b="1" dirty="0" err="1"/>
              <a:t>direta</a:t>
            </a:r>
            <a:r>
              <a:rPr lang="en-US" b="1" dirty="0"/>
              <a:t>: </a:t>
            </a:r>
            <a:r>
              <a:rPr lang="en-US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Sensoriamento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dirty="0"/>
              <a:t> Pega a </a:t>
            </a:r>
            <a:r>
              <a:rPr lang="en-US" dirty="0" err="1"/>
              <a:t>leitura</a:t>
            </a:r>
            <a:r>
              <a:rPr lang="en-US" dirty="0"/>
              <a:t> dos encoders das </a:t>
            </a:r>
            <a:r>
              <a:rPr lang="en-US" dirty="0" err="1"/>
              <a:t>rodas</a:t>
            </a:r>
            <a:r>
              <a:rPr lang="en-US" dirty="0"/>
              <a:t> e </a:t>
            </a:r>
            <a:r>
              <a:rPr lang="en-US" dirty="0" err="1"/>
              <a:t>calcula</a:t>
            </a:r>
            <a:r>
              <a:rPr lang="en-US" dirty="0"/>
              <a:t> o </a:t>
            </a:r>
            <a:r>
              <a:rPr lang="en-US" dirty="0" err="1"/>
              <a:t>quanto</a:t>
            </a:r>
            <a:r>
              <a:rPr lang="en-US" dirty="0"/>
              <a:t> o </a:t>
            </a:r>
            <a:r>
              <a:rPr lang="en-US" dirty="0" err="1"/>
              <a:t>robô</a:t>
            </a:r>
            <a:r>
              <a:rPr lang="en-US" dirty="0"/>
              <a:t> se </a:t>
            </a:r>
            <a:r>
              <a:rPr lang="en-US" dirty="0" err="1"/>
              <a:t>moveu</a:t>
            </a:r>
            <a:r>
              <a:rPr lang="en-US" dirty="0"/>
              <a:t> no </a:t>
            </a:r>
            <a:r>
              <a:rPr lang="en-US" dirty="0" err="1"/>
              <a:t>mundo</a:t>
            </a:r>
            <a:r>
              <a:rPr lang="en-US" dirty="0"/>
              <a:t> para </a:t>
            </a:r>
            <a:r>
              <a:rPr lang="en-US" dirty="0" err="1"/>
              <a:t>atualizar</a:t>
            </a:r>
            <a:r>
              <a:rPr lang="en-US" dirty="0"/>
              <a:t> o </a:t>
            </a:r>
            <a:r>
              <a:rPr lang="en-US" dirty="0" err="1"/>
              <a:t>mapa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Toda matriz invertível pode ser lida nos dois sentidos: comando -&gt; rodas, e rodas -&gt; movimento. É o mesmo conceito de sistema linear que eles já </a:t>
            </a:r>
            <a:r>
              <a:rPr lang="en-US" dirty="0" err="1"/>
              <a:t>viram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ela</a:t>
            </a:r>
            <a:r>
              <a:rPr lang="en-US" dirty="0"/>
              <a:t> </a:t>
            </a:r>
            <a:r>
              <a:rPr lang="en-US" dirty="0" err="1"/>
              <a:t>calcula</a:t>
            </a:r>
            <a:r>
              <a:rPr lang="en-US" dirty="0"/>
              <a:t> o </a:t>
            </a:r>
            <a:r>
              <a:rPr lang="en-US" dirty="0" err="1"/>
              <a:t>deslocamento</a:t>
            </a:r>
            <a:r>
              <a:rPr lang="en-US" dirty="0"/>
              <a:t> real do </a:t>
            </a:r>
            <a:r>
              <a:rPr lang="en-US" dirty="0" err="1"/>
              <a:t>robô</a:t>
            </a:r>
            <a:r>
              <a:rPr lang="en-US" dirty="0"/>
              <a:t> no </a:t>
            </a:r>
            <a:r>
              <a:rPr lang="en-US" dirty="0" err="1"/>
              <a:t>espaço</a:t>
            </a:r>
            <a:r>
              <a:rPr lang="en-US" dirty="0"/>
              <a:t> a </a:t>
            </a:r>
            <a:r>
              <a:rPr lang="en-US" dirty="0" err="1"/>
              <a:t>partir</a:t>
            </a:r>
            <a:r>
              <a:rPr lang="en-US" dirty="0"/>
              <a:t> da </a:t>
            </a:r>
            <a:r>
              <a:rPr lang="en-US" dirty="0" err="1"/>
              <a:t>leitura</a:t>
            </a:r>
            <a:r>
              <a:rPr lang="en-US" dirty="0"/>
              <a:t> dos encoders de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roda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o ciclo: cada número (0,1), (1,0)... é o vetor direção que entra na matriz do começo da aula. Se der, rode o autônomo ao vivo agora.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perguntando: 'o que muda na matriz se a gente usar quatro rodas omni em vez de três?' Boa deixa para a próxima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995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f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4088" y="178308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OmniDrive</a:t>
            </a:r>
            <a:endParaRPr lang="en-US" sz="6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907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E26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 robô anda para qualquer lado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49808" y="4041648"/>
            <a:ext cx="128016" cy="128016"/>
          </a:xfrm>
          <a:prstGeom prst="ellipse">
            <a:avLst/>
          </a:prstGeom>
          <a:solidFill>
            <a:srgbClr val="E26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909923" y="395935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três rodas omnidirecionais a 120°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robótica  ·  do vetor no papel ao motor no chão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475488" cy="475488"/>
          </a:xfrm>
          <a:prstGeom prst="ellipse">
            <a:avLst/>
          </a:prstGeom>
          <a:solidFill>
            <a:srgbClr val="E26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10896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da aula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86968" y="173736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86968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7465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8600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um robô de duas rodas não resolve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19088" y="141732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739128" y="173736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739128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17465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roda omni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228600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truque mecânico: um eixo trava, o outro desliza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" y="365760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86968" y="3977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86968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39867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matemática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452628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motores, três números, uma matriz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19088" y="365760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39128" y="3977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739128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39867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Além do joystick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452628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Giroscópio, encoders e um quadrado sem curvas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18745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E26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2514600" y="21488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578608" y="31089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9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um robô comum não consegue fazer — e por que isso custa tempo na pista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475488" cy="475488"/>
          </a:xfrm>
          <a:prstGeom prst="ellipse">
            <a:avLst/>
          </a:prstGeom>
          <a:solidFill>
            <a:srgbClr val="E26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10896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robô comum só anda para onde aponta</a:t>
            </a:r>
            <a:endParaRPr lang="en-US" sz="2900" dirty="0"/>
          </a:p>
        </p:txBody>
      </p:sp>
      <p:pic>
        <p:nvPicPr>
          <p:cNvPr id="5" name="Image 0" descr="img/01_prob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229" y="1234440"/>
            <a:ext cx="8181062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5577840"/>
            <a:ext cx="10545775" cy="841248"/>
          </a:xfrm>
          <a:prstGeom prst="roundRect">
            <a:avLst>
              <a:gd name="adj" fmla="val 1087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115568" y="5577840"/>
            <a:ext cx="996055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20 cm para o lado, o robô de duas rodas precisa girar, andar e girar de volta. O omnidirecional simplesmente vai.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475488" cy="475488"/>
          </a:xfrm>
          <a:prstGeom prst="ellipse">
            <a:avLst/>
          </a:prstGeom>
          <a:solidFill>
            <a:srgbClr val="E26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10896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plano, só existem três movimentos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611880" cy="2788920"/>
          </a:xfrm>
          <a:prstGeom prst="roundRect">
            <a:avLst>
              <a:gd name="adj" fmla="val 3279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66928" y="169164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26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r>
              <a:rPr lang="en-US" sz="3400" b="1" baseline="-40000" dirty="0">
                <a:solidFill>
                  <a:srgbClr val="E26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9260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deslizar para os lados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9704" y="1417320"/>
            <a:ext cx="3611880" cy="2788920"/>
          </a:xfrm>
          <a:prstGeom prst="roundRect">
            <a:avLst>
              <a:gd name="adj" fmla="val 3279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489704" y="169164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77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r>
              <a:rPr lang="en-US" sz="3400" b="1" baseline="-40000" dirty="0">
                <a:solidFill>
                  <a:srgbClr val="177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4809744" y="29260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andar para frente e para trás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12480" y="1417320"/>
            <a:ext cx="3611880" cy="2788920"/>
          </a:xfrm>
          <a:prstGeom prst="roundRect">
            <a:avLst>
              <a:gd name="adj" fmla="val 3279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412480" y="169164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732520" y="29260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girar em torno do próprio centro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6928" y="4526280"/>
            <a:ext cx="11057839" cy="1417320"/>
          </a:xfrm>
          <a:prstGeom prst="roundRect">
            <a:avLst>
              <a:gd name="adj" fmla="val 645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69848" y="4736592"/>
            <a:ext cx="100519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movimentos independentes pedem três motores independentes.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069848" y="5230368"/>
            <a:ext cx="100519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por isso que o OmniDrive tem três rodas — nem duas, nem quatro.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18745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E26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2514600" y="21488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roda omni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578608" y="31089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9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uma roda pode empurrar num eixo e escorregar no outro ao mesmo tempo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475488" cy="475488"/>
          </a:xfrm>
          <a:prstGeom prst="ellipse">
            <a:avLst/>
          </a:prstGeom>
          <a:solidFill>
            <a:srgbClr val="E26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10896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roda omni por dentro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00200"/>
            <a:ext cx="5212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roda grande, com rolinhos livres montados na borda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rolinhos giram num eixo perpendicular ao da roda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motor controla só a rotação da roda grande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direção dos rolinhos, a roda não oferece resistência: ela escorrega de graça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5138928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50976" y="5138928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uma roda que empurra num eixo e é livre no outro.</a:t>
            </a:r>
            <a:endParaRPr lang="en-US" sz="1700" dirty="0"/>
          </a:p>
        </p:txBody>
      </p:sp>
      <p:pic>
        <p:nvPicPr>
          <p:cNvPr id="8" name="Image 0" descr="img/02_roda_om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1028"/>
            <a:ext cx="5349240" cy="46217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475488" cy="475488"/>
          </a:xfrm>
          <a:prstGeom prst="ellipse">
            <a:avLst/>
          </a:prstGeom>
          <a:solidFill>
            <a:srgbClr val="E26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10896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robô se move, a roda só sente uma parte</a:t>
            </a:r>
            <a:endParaRPr lang="en-US" sz="2900" dirty="0"/>
          </a:p>
        </p:txBody>
      </p:sp>
      <p:pic>
        <p:nvPicPr>
          <p:cNvPr id="5" name="Image 0" descr="img/03_decomposi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596" y="1280160"/>
            <a:ext cx="6838327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5486400"/>
            <a:ext cx="10545775" cy="914400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115568" y="5486400"/>
            <a:ext cx="99605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velocidade do robô se divide em duas: a parte ao longo da roda, que o motor precisa produzir, e a parte atravessada, que os rolinhos absorvem sem atrito.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18745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E26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2514600" y="21488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matemática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578608" y="31089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9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rodas, três equações: como transformar 'vai para lá' em três velocidades de motor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475488" cy="475488"/>
          </a:xfrm>
          <a:prstGeom prst="ellipse">
            <a:avLst/>
          </a:prstGeom>
          <a:solidFill>
            <a:srgbClr val="E26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10896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rodas espalhadas a 120°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0020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rodas ficam em ângulos de 120° em volta do centro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roda tem uma seta: a direção em que ela empurra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OmniDrive: M1 a 90°, M2 a 330°, M3 a 210°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três setas apontam para lados diferentes, juntas elas cobrem o plano inteiro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5212080"/>
            <a:ext cx="5212080" cy="1078992"/>
          </a:xfrm>
          <a:prstGeom prst="roundRect">
            <a:avLst>
              <a:gd name="adj" fmla="val 847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50976" y="5212080"/>
            <a:ext cx="4663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roda sozinha faz o robô ir para onde você quer.</a:t>
            </a:r>
            <a:endParaRPr lang="en-US" sz="1600" dirty="0"/>
          </a:p>
        </p:txBody>
      </p:sp>
      <p:pic>
        <p:nvPicPr>
          <p:cNvPr id="8" name="Image 0" descr="img/04_lay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079" y="1234440"/>
            <a:ext cx="5082361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475488" cy="475488"/>
          </a:xfrm>
          <a:prstGeom prst="ellipse">
            <a:avLst/>
          </a:prstGeom>
          <a:solidFill>
            <a:srgbClr val="E26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10896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conta de uma roda é uma projeção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002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a velocidade que você quer como um vetor V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roda, projete V na seta daquela roda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é a velocidade que aquele motor precisa ter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Projetar é o produto escalar: multiplica e soma as componentes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48920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50976" y="48920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 for perpendicular à seta da roda, a projeção dá zero: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aquela roda fica parada e só escorrega.</a:t>
            </a:r>
            <a:endParaRPr lang="en-US" sz="1600" dirty="0"/>
          </a:p>
        </p:txBody>
      </p:sp>
      <p:pic>
        <p:nvPicPr>
          <p:cNvPr id="8" name="Image 0" descr="img/05_proje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570" y="1234440"/>
            <a:ext cx="48779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475488" cy="475488"/>
          </a:xfrm>
          <a:prstGeom prst="ellipse">
            <a:avLst/>
          </a:prstGeom>
          <a:solidFill>
            <a:srgbClr val="E26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10896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projeções viram </a:t>
            </a:r>
            <a:r>
              <a:rPr lang="en-US" sz="2900" b="1" dirty="0" err="1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</a:t>
            </a: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900" b="1" dirty="0" err="1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</a:t>
            </a: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</a:t>
            </a:r>
            <a:r>
              <a:rPr lang="en-US" sz="2900" b="1" dirty="0" err="1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Comandos</a:t>
            </a: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sym typeface="Wingdings" panose="05000000000000000000" pitchFamily="2" charset="2"/>
              </a:rPr>
              <a:t> </a:t>
            </a: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Rodas</a:t>
            </a:r>
            <a:endParaRPr lang="en-US" sz="2900" dirty="0"/>
          </a:p>
        </p:txBody>
      </p:sp>
      <p:pic>
        <p:nvPicPr>
          <p:cNvPr id="5" name="Image 0" descr="img/f1_g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3995" y="1280160"/>
            <a:ext cx="5593530" cy="868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2212848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conta, repetida para θ₁ = 90°,  θ₂ = 330°  e  θ₃ = 210°</a:t>
            </a:r>
            <a:endParaRPr lang="en-US" sz="1500" dirty="0"/>
          </a:p>
        </p:txBody>
      </p:sp>
      <p:pic>
        <p:nvPicPr>
          <p:cNvPr id="7" name="Image 1" descr="img/f2_matri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0841" y="2697480"/>
            <a:ext cx="6059837" cy="23317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rodas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80644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geometria (fixa)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928116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6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quer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66928" y="5650992"/>
            <a:ext cx="11057839" cy="786384"/>
          </a:xfrm>
          <a:prstGeom prst="roundRect">
            <a:avLst>
              <a:gd name="adj" fmla="val 1162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978408" y="5650992"/>
            <a:ext cx="1023487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do meio nunca muda: ela é a planta do robô. Trocar de destino é trocar só a coluna da direita.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475488" cy="475488"/>
          </a:xfrm>
          <a:prstGeom prst="ellipse">
            <a:avLst/>
          </a:prstGeom>
          <a:solidFill>
            <a:srgbClr val="E26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10896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1: andar para frente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4592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Comando: vx = 0,  vy = 1,  ω = 0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fica parada — a seta dela é perpendicular ao movimento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gira +0,866 e M3 gira −0,866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0,866 é √3/2: a projeção do movimento nas setas inclinadas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4983480"/>
            <a:ext cx="5120640" cy="1298448"/>
          </a:xfrm>
          <a:prstGeom prst="roundRect">
            <a:avLst>
              <a:gd name="adj" fmla="val 7042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50976" y="4983480"/>
            <a:ext cx="45720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rodas em sentidos opostos e uma parada: o robô anda reto para frente.</a:t>
            </a:r>
            <a:endParaRPr lang="en-US" sz="1600" dirty="0"/>
          </a:p>
        </p:txBody>
      </p:sp>
      <p:pic>
        <p:nvPicPr>
          <p:cNvPr id="8" name="Image 0" descr="img/06_f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523" y="1188720"/>
            <a:ext cx="4729473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475488" cy="475488"/>
          </a:xfrm>
          <a:prstGeom prst="ellipse">
            <a:avLst/>
          </a:prstGeom>
          <a:solidFill>
            <a:srgbClr val="E26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10896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2: andar de lado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4592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Comando: vx = 1,  vy = 0,  ω = 0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faz a maior parte da força: −1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e M3 acompanham com +0,5 cada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componentes verticais de M2 e M3 se cancelam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4983480"/>
            <a:ext cx="5120640" cy="1298448"/>
          </a:xfrm>
          <a:prstGeom prst="roundRect">
            <a:avLst>
              <a:gd name="adj" fmla="val 7042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50976" y="4983480"/>
            <a:ext cx="45720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girar, sem manobrar: o robô simplesmente desliza para o lado.</a:t>
            </a:r>
            <a:endParaRPr lang="en-US" sz="1600" dirty="0"/>
          </a:p>
        </p:txBody>
      </p:sp>
      <p:pic>
        <p:nvPicPr>
          <p:cNvPr id="8" name="Image 0" descr="img/07_l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523" y="1188720"/>
            <a:ext cx="4729473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475488" cy="475488"/>
          </a:xfrm>
          <a:prstGeom prst="ellipse">
            <a:avLst/>
          </a:prstGeom>
          <a:solidFill>
            <a:srgbClr val="E26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10896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3 e 4: girar e combinar</a:t>
            </a:r>
            <a:endParaRPr lang="en-US" sz="2900" dirty="0"/>
          </a:p>
        </p:txBody>
      </p:sp>
      <p:pic>
        <p:nvPicPr>
          <p:cNvPr id="5" name="Image 0" descr="img/08_gir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552" y="1234440"/>
            <a:ext cx="3884577" cy="4251960"/>
          </a:xfrm>
          <a:prstGeom prst="rect">
            <a:avLst/>
          </a:prstGeom>
        </p:spPr>
      </p:pic>
      <p:pic>
        <p:nvPicPr>
          <p:cNvPr id="6" name="Image 1" descr="img/09_diago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9201" y="1234440"/>
            <a:ext cx="3892398" cy="4251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85800" y="5596128"/>
            <a:ext cx="5212080" cy="841248"/>
          </a:xfrm>
          <a:prstGeom prst="roundRect">
            <a:avLst>
              <a:gd name="adj" fmla="val 1087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960120" y="5596128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Girar no lugar: as três recebem o mesmo valor, +1.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6309360" y="5596128"/>
            <a:ext cx="5212080" cy="841248"/>
          </a:xfrm>
          <a:prstGeom prst="roundRect">
            <a:avLst>
              <a:gd name="adj" fmla="val 1087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6583680" y="5596128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Diagonal: é a soma dos casos anteriores, nada novo.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475488" cy="475488"/>
          </a:xfrm>
          <a:prstGeom prst="ellipse">
            <a:avLst/>
          </a:prstGeom>
          <a:solidFill>
            <a:srgbClr val="E26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10896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quando a conta pede mais de 100%?</a:t>
            </a:r>
            <a:endParaRPr lang="en-US" sz="2900" dirty="0"/>
          </a:p>
        </p:txBody>
      </p:sp>
      <p:pic>
        <p:nvPicPr>
          <p:cNvPr id="5" name="Image 0" descr="img/f5_n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695" y="1325880"/>
            <a:ext cx="8674131" cy="1325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" y="2926080"/>
            <a:ext cx="10509199" cy="896112"/>
          </a:xfrm>
          <a:prstGeom prst="roundRect">
            <a:avLst>
              <a:gd name="adj" fmla="val 1020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207008" y="2926080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407408" y="2926080"/>
            <a:ext cx="6766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vy = 1  e  ω = 0,5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41248" y="3977640"/>
            <a:ext cx="10509199" cy="896112"/>
          </a:xfrm>
          <a:prstGeom prst="roundRect">
            <a:avLst>
              <a:gd name="adj" fmla="val 1020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207008" y="3977640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dá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407408" y="3977640"/>
            <a:ext cx="6766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6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+0,500   +1,366   −0,366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41248" y="5029200"/>
            <a:ext cx="10509199" cy="896112"/>
          </a:xfrm>
          <a:prstGeom prst="roundRect">
            <a:avLst>
              <a:gd name="adj" fmla="val 1020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207008" y="5029200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normalizar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407408" y="5029200"/>
            <a:ext cx="6766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7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+0,366   +1,000   −0,268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6172200"/>
            <a:ext cx="105091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motor não gira mais que o máximo. Sem normalizar, ele satura e o robô sai torto.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475488" cy="475488"/>
          </a:xfrm>
          <a:prstGeom prst="ellipse">
            <a:avLst/>
          </a:prstGeom>
          <a:solidFill>
            <a:srgbClr val="E26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10896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linhas que fazem tudo isso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41248" y="1371600"/>
            <a:ext cx="10509199" cy="3246120"/>
          </a:xfrm>
          <a:prstGeom prst="roundRect">
            <a:avLst>
              <a:gd name="adj" fmla="val 2254"/>
            </a:avLst>
          </a:prstGeom>
          <a:solidFill>
            <a:srgbClr val="11293F"/>
          </a:solidFill>
          <a:ln w="12700">
            <a:solidFill>
              <a:srgbClr val="112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97280" y="1554480"/>
            <a:ext cx="1005199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cinemática das 3 rodas omni — OmnidriveSubsystem.java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alvo1 = -vx + wz;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alvo2 =  0.5*vx + (Math.sqrt(3)/2)*vy + wz;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alvo3 =  0.5*vx - (Math.sqrt(3)/2)*vy + wz;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normalização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pico = max(|alvo1|, |alvo2|, |alvo3|);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(pico &gt; 1.0) { alvo1 /= pico; alvo2 /= pico; alvo3 /= pico; 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1248" y="4892040"/>
            <a:ext cx="5349240" cy="1508760"/>
          </a:xfrm>
          <a:prstGeom prst="roundRect">
            <a:avLst>
              <a:gd name="adj" fmla="val 606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133856" y="4892040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é uma linha da matriz. A teoria inteira cabe em três instruções.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4892040"/>
            <a:ext cx="5349240" cy="1508760"/>
          </a:xfrm>
          <a:prstGeom prst="roundRect">
            <a:avLst>
              <a:gd name="adj" fmla="val 606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556248" y="4892040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disso, um PID em cada roda garante que o motor realmente chegue na velocidade pedida.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18745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E26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2514600" y="21488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Além do joystick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578608" y="31089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9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giroscópio para não se perder e os encoders para saber onde chegou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475488" cy="475488"/>
          </a:xfrm>
          <a:prstGeom prst="ellipse">
            <a:avLst/>
          </a:prstGeom>
          <a:solidFill>
            <a:srgbClr val="E26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10896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Orientação de campo: o robô gira, o comando não</a:t>
            </a:r>
            <a:endParaRPr lang="en-US" sz="2900" dirty="0"/>
          </a:p>
        </p:txBody>
      </p:sp>
      <p:pic>
        <p:nvPicPr>
          <p:cNvPr id="5" name="Image 0" descr="img/10_cam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480" y="1234440"/>
            <a:ext cx="7892560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5532120"/>
            <a:ext cx="10545775" cy="868680"/>
          </a:xfrm>
          <a:prstGeom prst="roundRect">
            <a:avLst>
              <a:gd name="adj" fmla="val 10526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115568" y="5532120"/>
            <a:ext cx="99605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isso, o piloto precisa pensar 'onde é a frente do robô agora?'. Com isso, empurrar o joystick para longe sempre manda o robô para longe.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475488" cy="475488"/>
          </a:xfrm>
          <a:prstGeom prst="ellipse">
            <a:avLst/>
          </a:prstGeom>
          <a:solidFill>
            <a:srgbClr val="E26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10896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conta que o giroscópio permite</a:t>
            </a:r>
            <a:endParaRPr lang="en-US" sz="2900" dirty="0"/>
          </a:p>
        </p:txBody>
      </p:sp>
      <p:pic>
        <p:nvPicPr>
          <p:cNvPr id="5" name="Image 0" descr="img/f4_cam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284752"/>
            <a:ext cx="9052560" cy="19567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78408" y="3611880"/>
            <a:ext cx="10607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giroscópio mede θ, o quanto o robô já girou desde o início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Giramos o vetor de comando por −θ antes de ele entrar na matriz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mesma matriz de rotação que vocês viram em trigonometria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Zerar o giroscópio é o que define qual direção passa a ser 'para frente'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41248" y="5577840"/>
            <a:ext cx="10509199" cy="841248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1207008" y="5577840"/>
            <a:ext cx="977767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θ = 0 a matriz vira a identidade: o comando passa direto, sem correção nenhuma.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475488" cy="475488"/>
          </a:xfrm>
          <a:prstGeom prst="ellipse">
            <a:avLst/>
          </a:prstGeom>
          <a:solidFill>
            <a:srgbClr val="E26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10896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Encoders: a mesma matriz, </a:t>
            </a:r>
            <a:r>
              <a:rPr lang="en-US" sz="2900" b="1" dirty="0" err="1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</a:t>
            </a: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900" b="1" dirty="0" err="1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contrário</a:t>
            </a: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Rodas </a:t>
            </a: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sym typeface="Wingdings" panose="05000000000000000000" pitchFamily="2" charset="2"/>
              </a:rPr>
              <a:t> </a:t>
            </a:r>
            <a:r>
              <a:rPr lang="en-US" sz="2900" b="1" dirty="0" err="1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sym typeface="Wingdings" panose="05000000000000000000" pitchFamily="2" charset="2"/>
              </a:rPr>
              <a:t>posição</a:t>
            </a:r>
            <a:endParaRPr lang="en-US" sz="2900" dirty="0"/>
          </a:p>
        </p:txBody>
      </p:sp>
      <p:pic>
        <p:nvPicPr>
          <p:cNvPr id="5" name="Image 0" descr="img/f3_inver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71103"/>
            <a:ext cx="6035040" cy="208699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86600" y="14630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encoders contam quanto cada roda girou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Invertendo a matriz, descobrimos para onde o robô andou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mesma geometria, lida no sentido contrário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chama odometria: o robô sabe onde está sem GPS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41248" y="4160520"/>
            <a:ext cx="10509199" cy="1234440"/>
          </a:xfrm>
          <a:prstGeom prst="roundRect">
            <a:avLst>
              <a:gd name="adj" fmla="val 5926"/>
            </a:avLst>
          </a:prstGeom>
          <a:solidFill>
            <a:srgbClr val="11293F"/>
          </a:solidFill>
          <a:ln w="12700">
            <a:solidFill>
              <a:srgbClr val="112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1097280" y="4343400"/>
            <a:ext cx="100519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dTheta = (d1 + d2 + d3) / 3.0;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dx     = dTheta - d1;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dy     = (d2 - d3) / Math.sqrt(3);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5623560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linhas de novo — e o robô passa a saber quantos centímetros já percorreu.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475488" cy="475488"/>
          </a:xfrm>
          <a:prstGeom prst="ellipse">
            <a:avLst/>
          </a:prstGeom>
          <a:solidFill>
            <a:srgbClr val="E26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10896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Juntando tudo: um quadrado de 50 cm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55448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trechos retos, nenhuma curva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frente do robô aponta para o mesmo lado o tempo todo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encoders dizem quando os 50 cm terminaram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giroscópio corrige qualquer desvio de rumo no caminho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3931920"/>
            <a:ext cx="5029200" cy="1874520"/>
          </a:xfrm>
          <a:prstGeom prst="roundRect">
            <a:avLst>
              <a:gd name="adj" fmla="val 3902"/>
            </a:avLst>
          </a:prstGeom>
          <a:solidFill>
            <a:srgbClr val="11293F"/>
          </a:solidFill>
          <a:ln w="12700">
            <a:solidFill>
              <a:srgbClr val="112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4114800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leg(drive,  0,  1, 0.50);  // frente</a:t>
            </a:r>
            <a:endParaRPr lang="en-US" sz="14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leg(drive,  1,  0, 0.50);  // direita</a:t>
            </a:r>
            <a:endParaRPr lang="en-US" sz="14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leg(drive,  0, -1, 0.50);  // trás</a:t>
            </a:r>
            <a:endParaRPr lang="en-US" sz="14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leg(drive, -1,  0, 0.50);  // esquerda</a:t>
            </a:r>
            <a:endParaRPr lang="en-US" sz="1400" dirty="0"/>
          </a:p>
        </p:txBody>
      </p:sp>
      <p:pic>
        <p:nvPicPr>
          <p:cNvPr id="8" name="Image 0" descr="img/11_quadr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613" y="1234440"/>
            <a:ext cx="473101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6400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coisas para levar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95528" y="1691640"/>
            <a:ext cx="457200" cy="457200"/>
          </a:xfrm>
          <a:prstGeom prst="ellipse">
            <a:avLst/>
          </a:prstGeom>
          <a:solidFill>
            <a:srgbClr val="E26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9552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527048" y="163677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plano existem três movimentos: lado, frente e giro.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5528" y="2624328"/>
            <a:ext cx="457200" cy="457200"/>
          </a:xfrm>
          <a:prstGeom prst="ellipse">
            <a:avLst/>
          </a:prstGeom>
          <a:solidFill>
            <a:srgbClr val="E26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95528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27048" y="256946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roda omni empurra num eixo e escorrega no outro — é isso que permite somar movimentos.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5528" y="3557016"/>
            <a:ext cx="457200" cy="457200"/>
          </a:xfrm>
          <a:prstGeom prst="ellipse">
            <a:avLst/>
          </a:prstGeom>
          <a:solidFill>
            <a:srgbClr val="E26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95528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27048" y="350215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velocidade de cada roda é a projeção do vetor de comando na seta daquela roda.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5528" y="4489704"/>
            <a:ext cx="457200" cy="457200"/>
          </a:xfrm>
          <a:prstGeom prst="ellipse">
            <a:avLst/>
          </a:prstGeom>
          <a:solidFill>
            <a:srgbClr val="E26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95528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27048" y="44348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projeções formam uma matriz que só depende de como o robô foi montado.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5528" y="5422392"/>
            <a:ext cx="457200" cy="457200"/>
          </a:xfrm>
          <a:prstGeom prst="ellipse">
            <a:avLst/>
          </a:prstGeom>
          <a:solidFill>
            <a:srgbClr val="E263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95528" y="542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27048" y="53675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Invertendo essa matriz, os encoders contam para onde o robô andou.</a:t>
            </a:r>
            <a:endParaRPr lang="en-US" sz="1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8365007-268A-3462-6DE0-6672B782D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1588769"/>
            <a:ext cx="10905066" cy="368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255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12A7BFA-F1A4-44F8-4BAD-C3A871836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3910"/>
            <a:ext cx="12189068" cy="664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470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2105</Words>
  <Application>Microsoft Office PowerPoint</Application>
  <PresentationFormat>Widescreen</PresentationFormat>
  <Paragraphs>212</Paragraphs>
  <Slides>25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1" baseType="lpstr">
      <vt:lpstr>Aptos</vt:lpstr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OmniDrive - como um robô anda para qualquer lado</dc:title>
  <dc:subject>PptxGenJS Presentation</dc:subject>
  <dc:creator>Aula de robótica</dc:creator>
  <cp:lastModifiedBy>Marcio Natal Lopes</cp:lastModifiedBy>
  <cp:revision>4</cp:revision>
  <dcterms:created xsi:type="dcterms:W3CDTF">2026-09-14T18:34:33Z</dcterms:created>
  <dcterms:modified xsi:type="dcterms:W3CDTF">2026-10-19T13:38:35Z</dcterms:modified>
</cp:coreProperties>
</file>