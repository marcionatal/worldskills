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340" autoAdjust="0"/>
  </p:normalViewPr>
  <p:slideViewPr>
    <p:cSldViewPr snapToGrid="0" snapToObjects="1">
      <p:cViewPr varScale="1">
        <p:scale>
          <a:sx n="63" d="100"/>
          <a:sy n="63" d="100"/>
        </p:scale>
        <p:origin x="1426" y="29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2978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2 min  ·  ABERTURA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Enquanto a turma senta, deixe o robô na mesa e o projeto aberto no VS Code ao lado dos slides.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Abra assim: "Este robô tem três rodas que não apontam para onde ele anda, um código em que ninguém chama o motor diretamente, e um arquivo de 200 linhas que sabe onde o robô está sem nenhum GPS. Hoje a gente desmonta as três coisas."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PERGUNTE (levantar a mão): "Quem já escreveu código de robô que funcionou na bancada e falhou na arena?" — quase todos levantam. Use isso: a maior parte das falhas vem de estrutura, não de matemática.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CONTRATO DA AULA: ~2h40 de conteúdo com 2 intervalos. Se você tiver 90 min, corte os slides marcados [OPCIONAL] nas notas e faça a Parte 3 inteira — ela é a que menos se aprende sozinho.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2 min  ·  ROTEIRO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Venda as três partes como uma escada, não como três assuntos soltos:</a:t>
            </a:r>
          </a:p>
          <a:p>
            <a:r>
              <a:rPr sz="1200">
                <a:latin typeface="Segoe UI"/>
              </a:rPr>
              <a:t>  1) Command-Based = ONDE o código mora.</a:t>
            </a:r>
          </a:p>
          <a:p>
            <a:r>
              <a:rPr sz="1200">
                <a:latin typeface="Segoe UI"/>
              </a:rPr>
              <a:t>  2) OmniDrive = COMO o robô obedece.</a:t>
            </a:r>
          </a:p>
          <a:p>
            <a:r>
              <a:rPr sz="1200">
                <a:latin typeface="Segoe UI"/>
              </a:rPr>
              <a:t>  3) Odometria = COMO o robô sabe onde está — e é literalmente a parte 2 lida de trás para frente.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Diga em voz alta: "A matemática da parte 3 é a mesma da parte 2. Se você entender bem a 2, a 3 sai quase de graça." Isso tira o medo do bloco de odometria.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REGRA DA AULA: tudo que está no slide existe no projeto, com o mesmo nome. Peça que abram o repositório agora e deixem aberto — eles vão navegar junto.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HARDWARE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Vá rápido nos cinco primeiros cartões — é contexto, não conteúdo. Gaste o tempo no rodapé.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O PONTO DA AULA está no aviso amarelo: ticks por volta, diâmetro da roda e raio do chassi são medidas FÍSICAS. O software não tem como descobrir sozinho. Se alguém trocar a roda por uma de outro diâmetro e não mexer no Constants, a odometria passa a mentir — e não dá erro, não trava, não avisa. Só erra.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PERGUNTE: "Qual desses três números, se estiver 5% errado, estraga mais a odometria?" (Resposta: o diâmetro — erro proporcional em toda distância. O raio só afeta o giro estimado pelas rodas, que aqui nem é usado para a pose.)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Guarde a resposta completa: ela volta no slide "Fontes de erro".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MAPA DO PROJETO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Navegue a árvore no VS Code enquanto fala, na mesma ordem do slide. Eles precisam sair da aula sabendo abrir o arquivo certo sem procurar.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Três frases que valem a pena repetir:</a:t>
            </a:r>
          </a:p>
          <a:p>
            <a:r>
              <a:rPr sz="1200">
                <a:latin typeface="Segoe UI"/>
              </a:rPr>
              <a:t> • Robot.java nunca cresce. Se ele estiver crescendo, alguma coisa está no lugar errado.</a:t>
            </a:r>
          </a:p>
          <a:p>
            <a:r>
              <a:rPr sz="1200">
                <a:latin typeface="Segoe UI"/>
              </a:rPr>
              <a:t> • RobotContainer é o mapa: é lá que você liga botão a comando.</a:t>
            </a:r>
          </a:p>
          <a:p>
            <a:r>
              <a:rPr sz="1200">
                <a:latin typeface="Segoe UI"/>
              </a:rPr>
              <a:t> • Odometry.java não importa nada de hardware — é por isso que existe uma pasta src/test. Essa separação é escolha de projeto, não acidente.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PERGUNTE: "Por que Odometry é uma classe separada, e não um método dentro do OmnidriveSubsystem?" Deixe responderem; a resposta (testabilidade) só fecha no slide 49, mas plantar a pergunta aqui faz o slide 49 render muito 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1 min  ·  DIVISÓRIA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Respire, troque o tom. Avise: "Os próximos 50 minutos não têm nenhuma conta. É só organização de código — e é a parte que mais salva competição."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Se a turma já conhece Command-Based, não pule a Parte 1: vá rápido até o slide 15 (addRequirements) e gaste o tempo lá. É o conceito que a maioria usa sem entender.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MOTIVAÇÃO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Comece pela coluna da esquerda e seja honesto: "Todo mundo já escreveu isso. Eu já escrevi isso." Não transforme em deboche — eles precisam reconhecer o próprio código sem se sentir atacados.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O problema real não é o método ficar grande. É que ninguém consegue responder "quem está controlando o motor agora?". Com dois trechos escrevendo no mesmo motor, o motor obedece ao último — e o bug aparece uma vez a cada dez partidas.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PERGUNTE: "O que acontece se o autônomo não terminar e o teleop começar?" (Sem framework: os dois rodam. Com framework: o scheduler resolve.)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Feche com a palavra-chave DECLARATIVO: você descreve o robô e as regras; quem executa é o scheduler.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4 min  ·  AS QUATRO PEÇAS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Dê o paralelo que costuma funcionar: Subsystem é um recurso com dono (como um arquivo aberto em modo exclusivo); Command é uma tarefa com começo, meio e fim; Scheduler é o sistema operacional; Trigger é o atalho de teclado.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Mostre no código, um de cada vez — abra OmnidriveSubsystem.java, DriveDistanceCommand.java, Robot.java (a linha do run()) e RobotContainer.java (o JoystickButton). Quatro arquivos, quatro peças. Leva 60 segundos e vale mais que o slide.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REGRA DE OURO (leia o rodapé em voz alta): um recurso = um subsystem. Dois comandos nunca usam o mesmo subsystem ao mesmo tempo.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PERGUNTE: "Nesse projeto, quantos subsystems existem?" (Um. E isso está certo — o robô só tem a base.)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4 min  ·  O LOOP DE 20 ms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Este é o slide mais importante da Parte 1. Percorra as cinco caixas com o dedo, na ordem, e diga em voz alta: "isso acontece 50 vezes por segundo, para sempre, em todos os modos".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Dois detalhes que ninguém conta:</a:t>
            </a:r>
          </a:p>
          <a:p>
            <a:r>
              <a:rPr sz="1200">
                <a:latin typeface="Segoe UI"/>
              </a:rPr>
              <a:t> • Os comandos rodam ANTES dos periodic(). Logo, o periodic() já enxerga o efeito do comando deste ciclo.</a:t>
            </a:r>
          </a:p>
          <a:p>
            <a:r>
              <a:rPr sz="1200">
                <a:latin typeface="Segoe UI"/>
              </a:rPr>
              <a:t> • Nada pode bloquear. Um Thread.sleep(500) dentro de um execute() congela o robô inteiro por meio segundo: joystick, odometria, segurança, tudo.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PERGUNTE: "O que acontece se eu puser um while(sensor == false) dentro do execute()?" (O robô trava. O watchdog reclama. A odometria perde 25 ciclos.)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Se der tempo, mostre o aviso de loop overrun no console — eles vão encontrar isso na competição.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2 min  ·  Robot.java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Slide rápido. A única linha que importa está destacada: CommandScheduler.getInstance().run().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Diga: "Se essa linha sumir, nada do Command-Based funciona. Nenhum comando roda, nenhum periodic() é chamado, a odometria congela — e o robô não dá erro nenhum. Ele só fica parado."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Note que robotPeriodic roda em TODOS os modos, inclusive desabilitado. Guarde: é por isso que você vai poder empurrar o robô na mão e ver a pose mudar (volta no slide 11 e no checklist do slide 51).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Chame atenção para teleopPeriodic() VAZIO — e diga que é proposital. Isso incomoda quem vem de código procedural, e o slide 16 resolve.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SUBSYSTEM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O ponto é encapsulamento, não sintaxe. Pergunte: "Quem pode chamar motor1.set() neste projeto?" Resposta: só o próprio subsystem. Nenhum comando toca no motor — comandos chamam métodos públicos.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Mostre a lista de métodos públicos no rodapé e caracterize o estilo: VERBOS curtos e não bloqueantes. driveFieldOriented() calcula e retorna; ela não espera o robô chegar em lugar nenhum. Quem espera é o comando, ciclo a ciclo.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PERGUNTE: "Por que o construtor chama resetEncoders() e resetHeading()?" (Para o robô começar num estado conhecido. Sem isso a primeira leitura é lixo acumulado da energização anterior.)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Observação honesta: extends SubsystemBase já registra o subsystem no scheduler — é o que faz o periodic() ser chamado sozinho.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periodic()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A pergunta que organiza o slide: o que é do subsystem e o que é do comando?</a:t>
            </a:r>
          </a:p>
          <a:p>
            <a:r>
              <a:rPr sz="1200">
                <a:latin typeface="Segoe UI"/>
              </a:rPr>
              <a:t> • Subsystem: medir, estimar, publicar, proteger. Acontece sempre.</a:t>
            </a:r>
          </a:p>
          <a:p>
            <a:r>
              <a:rPr sz="1200">
                <a:latin typeface="Segoe UI"/>
              </a:rPr>
              <a:t> • Comando: decidir para onde ir. Acontece enquanto aquele comportamento está ativo.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Se o periodic() mandar potência no motor, ele vira um segundo dono — e briga com o comando ativo. Essa é a regra prática.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Leia o comentário do código em voz alta ("precisa rodar TODO ciclo"): a odometria integra deltas; pular ciclos aumenta o passo de integração e piora a aproximação do arco. Isso volta no slide 44.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DEMONSTRE se o robô estiver na mesa: deixe desabilitado, empurre com a mão e mostre os números mudando no dashboard. É o momento "aaah" da aula inteira — vale os 30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4 min  ·  CICLO DE VIDA DO COMMAND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Percorra o diagrama contando uma história: o comando é agendado → initialize() uma vez → execute() repete a cada 20 ms enquanto isFinished() devolver false → end() uma vez.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As duas setas de saída são o que diferencia quem entendeu de quem decorou:</a:t>
            </a:r>
          </a:p>
          <a:p>
            <a:r>
              <a:rPr sz="1200">
                <a:latin typeface="Segoe UI"/>
              </a:rPr>
              <a:t> • isFinished() == true → end(false) — terminou sozinho.</a:t>
            </a:r>
          </a:p>
          <a:p>
            <a:r>
              <a:rPr sz="1200">
                <a:latin typeface="Segoe UI"/>
              </a:rPr>
              <a:t> • outro comando exige o mesmo subsystem → end(true) — foi interrompido.</a:t>
            </a:r>
          </a:p>
          <a:p>
            <a:r>
              <a:rPr sz="1200">
                <a:latin typeface="Segoe UI"/>
              </a:rPr>
              <a:t>Em ambos os casos end() roda. É por isso que parar o motor no end() é seguro.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PERGUNTE: "Por que zerar o encoder no initialize() e não no construtor?" (O construtor roda uma vez, na inicialização do robô. O comando pode ser agendado várias vezes. Zerar no construtor mede a distância desde que o robô ligou.) Esse erro aparece todo ano.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A tabela de baixo é material de consulta — não leia linha por linha.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DriveDistanceCommand (estrutura)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Leia o código na ordem do ciclo de vida, não de cima para baixo: construtor → initialize → isFinished → end.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Destaques:</a:t>
            </a:r>
          </a:p>
          <a:p>
            <a:r>
              <a:rPr sz="1200">
                <a:latin typeface="Segoe UI"/>
              </a:rPr>
              <a:t> • A direção é normalizada no construtor (Math.hypot). Por isso "Auto 1" com (1, −1) anda na diagonal com a mesma velocidade de um lado reto, e não com √2 vezes.</a:t>
            </a:r>
          </a:p>
          <a:p>
            <a:r>
              <a:rPr sz="1200">
                <a:latin typeface="Segoe UI"/>
              </a:rPr>
              <a:t> • A guarda norm &lt; 1e-6 evita divisão por zero se alguém passar (0,0).</a:t>
            </a:r>
          </a:p>
          <a:p>
            <a:r>
              <a:rPr sz="1200">
                <a:latin typeface="Segoe UI"/>
              </a:rPr>
              <a:t> • addRequirements(drive) é a linha mais importante do arquivo — volta no slide 15.</a:t>
            </a:r>
          </a:p>
          <a:p>
            <a:r>
              <a:rPr sz="1200">
                <a:latin typeface="Segoe UI"/>
              </a:rPr>
              <a:t> • isFinished() mede distância REAL por encoder. Não depende de tempo nem de nível de bateria. Compare com a alternativa ingênua ("ande por 2 segundos"), que muda de resultado com a bateria meia.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PERGUNTE: "Esse comando termina sozinho ou precisa ser cancelado?" (Termina sozinho — tem isFinished de verdade.)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execute(): rampa + correção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Três ideias, uma de cada vez: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1) RAMPA DE FRENAGEM — nos últimos 15 cm a velocidade cai proporcional ao que falta. Sem isso o robô passa do ponto por inércia.</a:t>
            </a:r>
          </a:p>
          <a:p>
            <a:r>
              <a:rPr sz="1200">
                <a:latin typeface="Segoe UI"/>
              </a:rPr>
              <a:t>2) PISO (kMinDriveSpeed) — a rampa levaria a velocidade a zero antes de chegar; abaixo de certo valor o motor não vence o atrito estático e o robô para antes do alvo. O piso resolve.</a:t>
            </a:r>
          </a:p>
          <a:p>
            <a:r>
              <a:rPr sz="1200">
                <a:latin typeface="Segoe UI"/>
              </a:rPr>
              <a:t>3) CORREÇÃO DE RUMO — um controlador P escrito à mão: erro de ângulo × ganho, com teto para não virar rotação.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AVISO PRÁTICO (está no aviso lateral): na primeira vez testem com kHeadingP = 0.0. Se o robô girar em vez de corrigir, o sinal está invertido — usem −0.010. Isso economiza uma tarde.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PERGUNTE: "Por que o teto (kMaxTurnOutput)?" (Um erro grande de rumo geraria uma correção que domina o movimento: o robô giraria em vez de andar.)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4 min  ·  addRequirements()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Pare aqui. Se a turma só levar um conceito da Parte 1, que seja este.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Conte a regra com o diagrama: o subsystem só tem um dono por vez. Quando B é agendado, o scheduler chama A.end(true) e passa a rodar B. Quem chega depois ganha.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O cenário do bug: você esquece addRequirements. Os dois comandos rodam juntos, os dois chamam motor.set(), e o motor obedece ao último que escreveu naquele ciclo. O robô anda "quase certo", de forma intermitente, e você perde horas procurando no lugar errado.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PERGUNTE: "O default command do drive e o SquareAutoCommand podem rodar juntos?" (Não — os dois exigem o drive. E é exatamente por isso que o joystick para de funcionar sozinho durante o autônomo, sem você escrever uma linha para isso.)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Mencione: em grupos, as exigências se somam — o grupo exige tudo que seus filhos exigem.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DEFAULT COMMAND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Aqui você fecha a pergunta que ficou aberta no slide 9: por que teleopPeriodic() está vazio.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O teleop é um comando como qualquer outro — só que é o comando padrão do subsystem. Enquanto ninguém mais exigir o drive, ele roda. Quando o autônomo termina ou é cancelado, ele reassume sozinho. Você não escreve nenhuma linha de "voltar para o controle manual".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Dois detalhes técnicos:</a:t>
            </a:r>
          </a:p>
          <a:p>
            <a:r>
              <a:rPr sz="1200">
                <a:latin typeface="Segoe UI"/>
              </a:rPr>
              <a:t> • RunCommand nunca termina (isFinished sempre false) — é exatamente o que se quer num default.</a:t>
            </a:r>
          </a:p>
          <a:p>
            <a:r>
              <a:rPr sz="1200">
                <a:latin typeface="Segoe UI"/>
              </a:rPr>
              <a:t> • O lambda () -&gt; ... é lido A CADA CICLO. Por isso lê o joystick sempre atualizado. Se fosse um valor calculado uma vez, o robô ficaria preso na primeira leitura.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O MENOS óbvio e mais cobrado: o sinal negativo em −joystick.getY(). O eixo Y do joystick é positivo para BAIXO. Erro clássico de lab — vale escrever no quadro.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2 min  ·  COMANDOS PRONTOS  [OPCIONAL se o tempo apertar]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Slide de referência. Não leia a tabela: aponte a coluna isFinished() e diga que ela é o que distingue as classes.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A mensagem é econômica: a maioria dos comportamentos não precisa de uma classe nova. InstantCommand para uma ação pontual, RunCommand para algo contínuo, WaitCommand para pausa.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Mostre o exemplo de baixo e conecte: o botão de reset do campo neste projeto é literalmente isso — um InstantCommand com uma referência de método.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NOTA DE VERSÃO (leia o aviso): este projeto é WPILib 2020. Hoje .whenPressed virou .onTrue e a geometria mudou de pacote. Avise agora para eles não se perderem lendo a documentação atual — vão achar nomes diferentes.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COMPOSIÇÕES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Os quatro cartões em 60 segundos — o que importa é a diferença entre Race e Deadline (quem decide o fim).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Gaste o tempo no bloco de decorators: você compõe comportamento sem criar classe nova.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INSISTA no withTimeout. É um ParallelRace com um WaitCommand por baixo. Diga a frase: "Todo autônomo sério tem timeout em cada etapa. Sem isso, um robô travado contra a parede fica empurrando até o fim da partida — e o resto da rotina nunca acontece."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PERGUNTE: "Se a etapa 1 trava e tem timeout de 6 s, o que acontece com as etapas 2, 3 e 4?" (Rodam normalmente. O grupo segue em frente. Esse é o ponto.)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2 min  ·  SquareAutoCommand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A sacada do slide: não há nenhuma lógica nova aqui. É DriveDistanceCommand quatro vezes, com pausas, dentro de um SequentialCommandGroup.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Diga: "Isto é o retorno do investimento da Parte 1. Você escreveu um comando bem feito e agora monta trajetos de graça."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Três detalhes:</a:t>
            </a:r>
          </a:p>
          <a:p>
            <a:r>
              <a:rPr sz="1200">
                <a:latin typeface="Segoe UI"/>
              </a:rPr>
              <a:t> • O resetHeading() no início faz o rumo em que o robô foi colocado no tapete virar o 0° daquele trajeto.</a:t>
            </a:r>
          </a:p>
          <a:p>
            <a:r>
              <a:rPr sz="1200">
                <a:latin typeface="Segoe UI"/>
              </a:rPr>
              <a:t> • O robô NÃO gira em nenhum momento — a frente aponta para o mesmo lado o trajeto inteiro. É o ganho concreto de ter 3 rodas omni, e é o gancho para a Parte 2.</a:t>
            </a:r>
          </a:p>
          <a:p>
            <a:r>
              <a:rPr sz="1200">
                <a:latin typeface="Segoe UI"/>
              </a:rPr>
              <a:t> • pause() existe por física: a inércia e a folga da transmissão precisam assentar antes de inverter a direção.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PERGUNTE: "Como você faria um triângulo?" (Trocando os vetores de direção. Nenhuma linha nova de controle.) É o exercício 4 do slide 53.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2 min  ·  RobotContainer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Mostre que o arquivo inteiro é declaração: o que existe, quem responde a qual botão, quais autônomos estão disponíveis.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Pontos:</a:t>
            </a:r>
          </a:p>
          <a:p>
            <a:r>
              <a:rPr sz="1200">
                <a:latin typeface="Segoe UI"/>
              </a:rPr>
              <a:t> • Um único subsystem, instanciado aqui e passado por construtor a quem precisar. Nunca static, nunca singleton improvisado.</a:t>
            </a:r>
          </a:p>
          <a:p>
            <a:r>
              <a:rPr sz="1200">
                <a:latin typeface="Segoe UI"/>
              </a:rPr>
              <a:t> • SendableChooser deixa escolher o autônomo no dashboard, sem recompilar. Na competição isso vale ouro — você troca a estratégia entre partidas.</a:t>
            </a:r>
          </a:p>
          <a:p>
            <a:r>
              <a:rPr sz="1200">
                <a:latin typeface="Segoe UI"/>
              </a:rPr>
              <a:t> • O default "Autonomous None" é um InstantCommand vazio. Robô parado é o padrão seguro: se ninguém escolher nada, nada acontece.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PERGUNTE: "Auto 1 é (1, −1) com 0.2 m. Quanto o robô anda?" (0,2 m — a direção foi normalizada no construtor. Se não fosse, andaria 0,2·√2 ≈ 0,28 m.)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2 min  ·  CONSTANTS  [OPCIONAL se o tempo apertar]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Rápido. Três blocos: DriveConstants (hardware), AutoConstants (trajeto), OIConstants (controle).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Dois hábitos que vale ensinar:</a:t>
            </a:r>
          </a:p>
          <a:p>
            <a:r>
              <a:rPr sz="1200">
                <a:latin typeface="Segoe UI"/>
              </a:rPr>
              <a:t> • Constantes DERIVADAS são calculadas, não digitadas. kEncoderDistancePerTick sai de π·diâmetro/ticks. Se alguém trocar a roda, muda um número e o resto acompanha.</a:t>
            </a:r>
          </a:p>
          <a:p>
            <a:r>
              <a:rPr sz="1200">
                <a:latin typeface="Segoe UI"/>
              </a:rPr>
              <a:t> • O comentário "CONFERIR NO HARDWARE" marca o que depende de medir o robô físico. É uma convenção simples que evita que alguém confie num número que nunca foi verificado.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DESTAQUE o rodapé: kGyroReversed vale para a odometria E para o field-oriented ao mesmo tempo. Uma flag, duas funções — assim as duas nunca divergem de convenção. Se fossem dois sinais separados, um dia alguém corrigiria um e esqueceria o outro, e o robô ficaria com o campo girado só na odometria.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2 min  ·  ZONA MORTA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Comece pelo sintoma, não pela solução: "Você solta o joystick e o robô anda sozinho devagar. Por quê?" — o eixo parado lê 0.01, 0.02, nunca 0.000.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Zona morta simples resolve a deriva mas cria um degrau: ao cruzar os 5%, a saída pula de 0 para 0,05 de uma vez. O piloto sente como um solavanco.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O reescalonamento estica o que sobrou de volta para 0…1 — é o que o gráfico mostra: sem degrau, sem deriva, e o alcance total preservado.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Math.copySign(deadband, value) é o truque que faz funcionar igual nos dois sentidos. Vale mostrar o que aconteceria sem ele (assimetria entre frente e ré).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PERGUNTE: "5% é muito ou pouco?" (Depende do joystick. Se o robô ainda derivar, aumente; se o controle ficar insensível, diminua. É calibração, não dogma.)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2 min  ·  CHECKLIST DA PARTE 1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Não leia os seis. Passe o olho e peça que a turma responda em voz alta "sim" ou "não" para cada um pensando no próprio código da equipe.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É aqui que você mede se a Parte 1 pegou. Se alguém hesitar no item "Todo comando que move declara?", volte 8 slides e refaça o diagrama do addRequirements — vale mais do que seguir em frente.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SUGESTÃO: este é um bom ponto de intervalo de 10 minutos. A Parte 2 começa com geometria e pede a turma descansada.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1 min  ·  DIVISÓRIA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Troque o tom de novo: "Agora tem conta. Não é conta difícil — é projeção de vetor, que vocês já fizeram em física — mas precisa de papel."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Peça que peguem papel e caneta AGORA. Os slides 28 e 29 funcionam muito melhor se eles refizerem as contas junto, em vez de olharem.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HOLONÔMICO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Demonstre em vez de explicar. Pegue qualquer objeto em cima da mesa:</a:t>
            </a:r>
          </a:p>
          <a:p>
            <a:r>
              <a:rPr sz="1200">
                <a:latin typeface="Segoe UI"/>
              </a:rPr>
              <a:t> • Base diferencial (um carrinho): para ir para o lado, tem que girar, andar e desgirar.</a:t>
            </a:r>
          </a:p>
          <a:p>
            <a:r>
              <a:rPr sz="1200">
                <a:latin typeface="Segoe UI"/>
              </a:rPr>
              <a:t> • Base holonômica: vai para o lado direto, sem girar.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A frase precisa: 3 graus de liberdade no plano (x, y, θ). A diferença é quantos deles você consegue ATUAR de forma independente. Diferencial: 2. Omni com 3 rodas: 3.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Conecte com o que eles já viram: é por isso que o SquareAutoCommand faz um quadrado sem nunca girar.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SEJA HONESTO sobre o preço: rolos passivos escorregam. A odometria por roda numa base omni é menos confiável que numa diferencial. Esse é o motivo de a Parte 3 usar a IMU para o ângulo — plante aqui, colha no slide 42.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A RODA OMNI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Se tiver uma roda omni solta, passe pela turma. Vale mais que o slide inteiro. Peça que empurrem no eixo de tração e depois de lado.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A ideia: a roda só tem força numa direção — a do próprio giro. Na perpendicular, os rolos giram e ela escorrega sem resistir.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As duas consequências do slide são as que importam:</a:t>
            </a:r>
          </a:p>
          <a:p>
            <a:r>
              <a:rPr sz="1200">
                <a:latin typeface="Segoe UI"/>
              </a:rPr>
              <a:t> • Para o código: cada roda contribui apenas com a COMPONENTE do movimento do chassi projetada na sua direção de tração. Essa frase é literalmente a cinemática inversa do próximo slide — anuncie isso.</a:t>
            </a:r>
          </a:p>
          <a:p>
            <a:r>
              <a:rPr sz="1200">
                <a:latin typeface="Segoe UI"/>
              </a:rPr>
              <a:t> • Para a odometria: o escorregamento dos rolos é ruído. Distância sai razoável, ângulo sai ruim.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PERGUNTE: "Se as três rodas travassem os rolos, o que aconteceria?" (O robô não conseguiria andar — as três direções de tração brigariam entre si. O deslizamento livre é o que torna a base possível.)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4 min  ·  GEOMETRIA DO CHASSI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Use o diagrama fisicamente: aponte cada roda no slide E no robô real, dizendo o número. Roda 1 traseira, roda 2 frontal direita, roda 3 frontal esquerda. Essa ordem é a ordem dos vetores em TODO o código — se eles trocarem, nada funciona.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Dois fatos geométricos que sustentam a conta do próximo slide:</a:t>
            </a:r>
          </a:p>
          <a:p>
            <a:r>
              <a:rPr sz="1200">
                <a:latin typeface="Segoe UI"/>
              </a:rPr>
              <a:t> • As três direções de tração, separadas por 120°, cobrem o plano inteiro. Qualquer vetor de velocidade pode ser decomposto nelas.</a:t>
            </a:r>
          </a:p>
          <a:p>
            <a:r>
              <a:rPr sz="1200">
                <a:latin typeface="Segoe UI"/>
              </a:rPr>
              <a:t> • Como as três rodas estão no mesmo raio R, um giro puro faz as três andarem o MESMO arco R·Δθ, no mesmo sentido. Guarde isso — é a chave da cinemática direta no slide 40.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As setas brancas são o sentido positivo de cada roda. Diga: "Mudar a montagem física ou um setInverted() muda o sinal das equações. A matemática não sabe como vocês parafusaram o robô."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PERGUNTE: "Por que a roda traseira é a que empurra o robô de lado?" (Porque ela é tangente ao círculo, e no ponto traseiro a tangente é lateral.) Essa resposta é a base do slide 37 — não pule.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 dirty="0">
                <a:latin typeface="Segoe UI"/>
              </a:rPr>
              <a:t>⏱ 5 min  ·  CINEMÁTICA INVERSA</a:t>
            </a:r>
            <a:r>
              <a:rPr lang="en-US" sz="1200" dirty="0">
                <a:latin typeface="Segoe UI"/>
              </a:rPr>
              <a:t> </a:t>
            </a:r>
            <a:r>
              <a:rPr lang="en-US" sz="1200" dirty="0" err="1">
                <a:latin typeface="Segoe UI"/>
              </a:rPr>
              <a:t>chassi</a:t>
            </a:r>
            <a:r>
              <a:rPr lang="en-US" sz="1200" dirty="0">
                <a:latin typeface="Segoe UI"/>
              </a:rPr>
              <a:t> -&gt; </a:t>
            </a:r>
            <a:r>
              <a:rPr lang="en-US" sz="1200" dirty="0" err="1">
                <a:latin typeface="Segoe UI"/>
              </a:rPr>
              <a:t>roda</a:t>
            </a:r>
            <a:r>
              <a:rPr lang="en-US" sz="1200" dirty="0">
                <a:latin typeface="Segoe UI"/>
              </a:rPr>
              <a:t> </a:t>
            </a:r>
            <a:endParaRPr sz="1200" dirty="0">
              <a:latin typeface="Segoe UI"/>
            </a:endParaRPr>
          </a:p>
          <a:p>
            <a:endParaRPr sz="1200" dirty="0">
              <a:latin typeface="Segoe UI"/>
            </a:endParaRPr>
          </a:p>
          <a:p>
            <a:r>
              <a:rPr sz="1200" dirty="0">
                <a:latin typeface="Segoe UI"/>
              </a:rPr>
              <a:t>NÃO </a:t>
            </a:r>
            <a:r>
              <a:rPr sz="1200" dirty="0" err="1">
                <a:latin typeface="Segoe UI"/>
              </a:rPr>
              <a:t>apresente</a:t>
            </a:r>
            <a:r>
              <a:rPr sz="1200" dirty="0">
                <a:latin typeface="Segoe UI"/>
              </a:rPr>
              <a:t> as </a:t>
            </a:r>
            <a:r>
              <a:rPr sz="1200" dirty="0" err="1">
                <a:latin typeface="Segoe UI"/>
              </a:rPr>
              <a:t>equações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como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fórmula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pronta</a:t>
            </a:r>
            <a:r>
              <a:rPr sz="1200" dirty="0">
                <a:latin typeface="Segoe UI"/>
              </a:rPr>
              <a:t>. Derive </a:t>
            </a:r>
            <a:r>
              <a:rPr sz="1200" dirty="0" err="1">
                <a:latin typeface="Segoe UI"/>
              </a:rPr>
              <a:t>uma</a:t>
            </a:r>
            <a:r>
              <a:rPr sz="1200" dirty="0">
                <a:latin typeface="Segoe UI"/>
              </a:rPr>
              <a:t> delas no </a:t>
            </a:r>
            <a:r>
              <a:rPr sz="1200" dirty="0" err="1">
                <a:latin typeface="Segoe UI"/>
              </a:rPr>
              <a:t>quadro</a:t>
            </a:r>
            <a:r>
              <a:rPr sz="1200" dirty="0">
                <a:latin typeface="Segoe UI"/>
              </a:rPr>
              <a:t> com a </a:t>
            </a:r>
            <a:r>
              <a:rPr sz="1200" dirty="0" err="1">
                <a:latin typeface="Segoe UI"/>
              </a:rPr>
              <a:t>turma</a:t>
            </a:r>
            <a:r>
              <a:rPr sz="1200" dirty="0">
                <a:latin typeface="Segoe UI"/>
              </a:rPr>
              <a:t> e </a:t>
            </a:r>
            <a:r>
              <a:rPr sz="1200" dirty="0" err="1">
                <a:latin typeface="Segoe UI"/>
              </a:rPr>
              <a:t>deixe</a:t>
            </a:r>
            <a:r>
              <a:rPr sz="1200" dirty="0">
                <a:latin typeface="Segoe UI"/>
              </a:rPr>
              <a:t> as </a:t>
            </a:r>
            <a:r>
              <a:rPr sz="1200" dirty="0" err="1">
                <a:latin typeface="Segoe UI"/>
              </a:rPr>
              <a:t>outras</a:t>
            </a:r>
            <a:r>
              <a:rPr sz="1200" dirty="0">
                <a:latin typeface="Segoe UI"/>
              </a:rPr>
              <a:t> duas </a:t>
            </a:r>
            <a:r>
              <a:rPr sz="1200" dirty="0" err="1">
                <a:latin typeface="Segoe UI"/>
              </a:rPr>
              <a:t>por</a:t>
            </a:r>
            <a:r>
              <a:rPr sz="1200" dirty="0">
                <a:latin typeface="Segoe UI"/>
              </a:rPr>
              <a:t> analogia.</a:t>
            </a:r>
          </a:p>
          <a:p>
            <a:endParaRPr sz="1200" dirty="0">
              <a:latin typeface="Segoe UI"/>
            </a:endParaRPr>
          </a:p>
          <a:p>
            <a:r>
              <a:rPr sz="1200" dirty="0" err="1">
                <a:latin typeface="Segoe UI"/>
              </a:rPr>
              <a:t>Roteiro</a:t>
            </a:r>
            <a:r>
              <a:rPr sz="1200" dirty="0">
                <a:latin typeface="Segoe UI"/>
              </a:rPr>
              <a:t> da </a:t>
            </a:r>
            <a:r>
              <a:rPr sz="1200" dirty="0" err="1">
                <a:latin typeface="Segoe UI"/>
              </a:rPr>
              <a:t>derivação</a:t>
            </a:r>
            <a:r>
              <a:rPr sz="1200" dirty="0">
                <a:latin typeface="Segoe UI"/>
              </a:rPr>
              <a:t> (</a:t>
            </a:r>
            <a:r>
              <a:rPr sz="1200" dirty="0" err="1">
                <a:latin typeface="Segoe UI"/>
              </a:rPr>
              <a:t>roda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traseira</a:t>
            </a:r>
            <a:r>
              <a:rPr sz="1200" dirty="0">
                <a:latin typeface="Segoe UI"/>
              </a:rPr>
              <a:t>, a </a:t>
            </a:r>
            <a:r>
              <a:rPr sz="1200" dirty="0" err="1">
                <a:latin typeface="Segoe UI"/>
              </a:rPr>
              <a:t>mais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fácil</a:t>
            </a:r>
            <a:r>
              <a:rPr sz="1200" dirty="0">
                <a:latin typeface="Segoe UI"/>
              </a:rPr>
              <a:t>):</a:t>
            </a:r>
          </a:p>
          <a:p>
            <a:r>
              <a:rPr sz="1200" dirty="0">
                <a:latin typeface="Segoe UI"/>
              </a:rPr>
              <a:t> 1) A </a:t>
            </a:r>
            <a:r>
              <a:rPr sz="1200" dirty="0" err="1">
                <a:latin typeface="Segoe UI"/>
              </a:rPr>
              <a:t>roda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só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tem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força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na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direção</a:t>
            </a:r>
            <a:r>
              <a:rPr sz="1200" dirty="0">
                <a:latin typeface="Segoe UI"/>
              </a:rPr>
              <a:t> de </a:t>
            </a:r>
            <a:r>
              <a:rPr sz="1200" dirty="0" err="1">
                <a:latin typeface="Segoe UI"/>
              </a:rPr>
              <a:t>tração</a:t>
            </a:r>
            <a:r>
              <a:rPr sz="1200" dirty="0">
                <a:latin typeface="Segoe UI"/>
              </a:rPr>
              <a:t> dela.</a:t>
            </a:r>
          </a:p>
          <a:p>
            <a:r>
              <a:rPr sz="1200" dirty="0">
                <a:latin typeface="Segoe UI"/>
              </a:rPr>
              <a:t> 2) Logo, o </a:t>
            </a:r>
            <a:r>
              <a:rPr sz="1200" dirty="0" err="1">
                <a:latin typeface="Segoe UI"/>
              </a:rPr>
              <a:t>que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ela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precisa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girar</a:t>
            </a:r>
            <a:r>
              <a:rPr sz="1200" dirty="0">
                <a:latin typeface="Segoe UI"/>
              </a:rPr>
              <a:t> é a </a:t>
            </a:r>
            <a:r>
              <a:rPr sz="1200" dirty="0" err="1">
                <a:latin typeface="Segoe UI"/>
              </a:rPr>
              <a:t>projeção</a:t>
            </a:r>
            <a:r>
              <a:rPr sz="1200" dirty="0">
                <a:latin typeface="Segoe UI"/>
              </a:rPr>
              <a:t> do </a:t>
            </a:r>
            <a:r>
              <a:rPr sz="1200" dirty="0" err="1">
                <a:latin typeface="Segoe UI"/>
              </a:rPr>
              <a:t>movimento</a:t>
            </a:r>
            <a:r>
              <a:rPr sz="1200" dirty="0">
                <a:latin typeface="Segoe UI"/>
              </a:rPr>
              <a:t> do </a:t>
            </a:r>
            <a:r>
              <a:rPr sz="1200" dirty="0" err="1">
                <a:latin typeface="Segoe UI"/>
              </a:rPr>
              <a:t>chassi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nessa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direção</a:t>
            </a:r>
            <a:r>
              <a:rPr sz="1200" dirty="0">
                <a:latin typeface="Segoe UI"/>
              </a:rPr>
              <a:t> — </a:t>
            </a:r>
            <a:r>
              <a:rPr sz="1200" dirty="0" err="1">
                <a:latin typeface="Segoe UI"/>
              </a:rPr>
              <a:t>produto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escalar</a:t>
            </a:r>
            <a:r>
              <a:rPr sz="1200" dirty="0">
                <a:latin typeface="Segoe UI"/>
              </a:rPr>
              <a:t>.</a:t>
            </a:r>
          </a:p>
          <a:p>
            <a:r>
              <a:rPr sz="1200" dirty="0">
                <a:latin typeface="Segoe UI"/>
              </a:rPr>
              <a:t> 3) Some o arco do </a:t>
            </a:r>
            <a:r>
              <a:rPr sz="1200" dirty="0" err="1">
                <a:latin typeface="Segoe UI"/>
              </a:rPr>
              <a:t>giro</a:t>
            </a:r>
            <a:r>
              <a:rPr sz="1200" dirty="0">
                <a:latin typeface="Segoe UI"/>
              </a:rPr>
              <a:t>: </a:t>
            </a:r>
            <a:r>
              <a:rPr sz="1200" dirty="0" err="1">
                <a:latin typeface="Segoe UI"/>
              </a:rPr>
              <a:t>numa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rotação</a:t>
            </a:r>
            <a:r>
              <a:rPr sz="1200" dirty="0">
                <a:latin typeface="Segoe UI"/>
              </a:rPr>
              <a:t> pura de </a:t>
            </a:r>
            <a:r>
              <a:rPr sz="1200" dirty="0" err="1">
                <a:latin typeface="Segoe UI"/>
              </a:rPr>
              <a:t>Δθ</a:t>
            </a:r>
            <a:r>
              <a:rPr sz="1200" dirty="0">
                <a:latin typeface="Segoe UI"/>
              </a:rPr>
              <a:t>, </a:t>
            </a:r>
            <a:r>
              <a:rPr sz="1200" dirty="0" err="1">
                <a:latin typeface="Segoe UI"/>
              </a:rPr>
              <a:t>toda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roda</a:t>
            </a:r>
            <a:r>
              <a:rPr sz="1200" dirty="0">
                <a:latin typeface="Segoe UI"/>
              </a:rPr>
              <a:t> a </a:t>
            </a:r>
            <a:r>
              <a:rPr sz="1200" dirty="0" err="1">
                <a:latin typeface="Segoe UI"/>
              </a:rPr>
              <a:t>raio</a:t>
            </a:r>
            <a:r>
              <a:rPr sz="1200" dirty="0">
                <a:latin typeface="Segoe UI"/>
              </a:rPr>
              <a:t> R </a:t>
            </a:r>
            <a:r>
              <a:rPr sz="1200" dirty="0" err="1">
                <a:latin typeface="Segoe UI"/>
              </a:rPr>
              <a:t>percorre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R·Δθ</a:t>
            </a:r>
            <a:r>
              <a:rPr sz="1200" dirty="0">
                <a:latin typeface="Segoe UI"/>
              </a:rPr>
              <a:t>.</a:t>
            </a:r>
          </a:p>
          <a:p>
            <a:r>
              <a:rPr sz="1200" dirty="0">
                <a:latin typeface="Segoe UI"/>
              </a:rPr>
              <a:t> 4) Pronto: v1 = −</a:t>
            </a:r>
            <a:r>
              <a:rPr sz="1200" dirty="0" err="1">
                <a:latin typeface="Segoe UI"/>
              </a:rPr>
              <a:t>vx</a:t>
            </a:r>
            <a:r>
              <a:rPr sz="1200" dirty="0">
                <a:latin typeface="Segoe UI"/>
              </a:rPr>
              <a:t> + ω.</a:t>
            </a:r>
          </a:p>
          <a:p>
            <a:endParaRPr sz="1200" dirty="0">
              <a:latin typeface="Segoe UI"/>
            </a:endParaRPr>
          </a:p>
          <a:p>
            <a:r>
              <a:rPr sz="1200" dirty="0" err="1">
                <a:latin typeface="Segoe UI"/>
              </a:rPr>
              <a:t>Faça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questão</a:t>
            </a:r>
            <a:r>
              <a:rPr sz="1200" dirty="0">
                <a:latin typeface="Segoe UI"/>
              </a:rPr>
              <a:t> de </a:t>
            </a:r>
            <a:r>
              <a:rPr sz="1200" dirty="0" err="1">
                <a:latin typeface="Segoe UI"/>
              </a:rPr>
              <a:t>dizer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que</a:t>
            </a:r>
            <a:r>
              <a:rPr sz="1200" dirty="0">
                <a:latin typeface="Segoe UI"/>
              </a:rPr>
              <a:t> o </a:t>
            </a:r>
            <a:r>
              <a:rPr sz="1200" dirty="0" err="1">
                <a:latin typeface="Segoe UI"/>
              </a:rPr>
              <a:t>sistema</a:t>
            </a:r>
            <a:r>
              <a:rPr sz="1200" dirty="0">
                <a:latin typeface="Segoe UI"/>
              </a:rPr>
              <a:t> é LINEAR. Por </a:t>
            </a:r>
            <a:r>
              <a:rPr sz="1200" dirty="0" err="1">
                <a:latin typeface="Segoe UI"/>
              </a:rPr>
              <a:t>isso</a:t>
            </a:r>
            <a:r>
              <a:rPr sz="1200" dirty="0">
                <a:latin typeface="Segoe UI"/>
              </a:rPr>
              <a:t> as </a:t>
            </a:r>
            <a:r>
              <a:rPr sz="1200" dirty="0" err="1">
                <a:latin typeface="Segoe UI"/>
              </a:rPr>
              <a:t>mesmas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três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equações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valem</a:t>
            </a:r>
            <a:r>
              <a:rPr sz="1200" dirty="0">
                <a:latin typeface="Segoe UI"/>
              </a:rPr>
              <a:t> para </a:t>
            </a:r>
            <a:r>
              <a:rPr sz="1200" dirty="0" err="1">
                <a:latin typeface="Segoe UI"/>
              </a:rPr>
              <a:t>porcentagem</a:t>
            </a:r>
            <a:r>
              <a:rPr sz="1200" dirty="0">
                <a:latin typeface="Segoe UI"/>
              </a:rPr>
              <a:t>, para m/s e para metros </a:t>
            </a:r>
            <a:r>
              <a:rPr sz="1200" dirty="0" err="1">
                <a:latin typeface="Segoe UI"/>
              </a:rPr>
              <a:t>percorridos</a:t>
            </a:r>
            <a:r>
              <a:rPr sz="1200" dirty="0">
                <a:latin typeface="Segoe UI"/>
              </a:rPr>
              <a:t>. É </a:t>
            </a:r>
            <a:r>
              <a:rPr sz="1200" dirty="0" err="1">
                <a:latin typeface="Segoe UI"/>
              </a:rPr>
              <a:t>isso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que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permite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reusá</a:t>
            </a:r>
            <a:r>
              <a:rPr sz="1200" dirty="0">
                <a:latin typeface="Segoe UI"/>
              </a:rPr>
              <a:t>-las </a:t>
            </a:r>
            <a:r>
              <a:rPr sz="1200" dirty="0" err="1">
                <a:latin typeface="Segoe UI"/>
              </a:rPr>
              <a:t>na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odometria</a:t>
            </a:r>
            <a:r>
              <a:rPr sz="1200" dirty="0">
                <a:latin typeface="Segoe UI"/>
              </a:rPr>
              <a:t> — </a:t>
            </a:r>
            <a:r>
              <a:rPr sz="1200" dirty="0" err="1">
                <a:latin typeface="Segoe UI"/>
              </a:rPr>
              <a:t>anuncie</a:t>
            </a:r>
            <a:r>
              <a:rPr sz="1200" dirty="0">
                <a:latin typeface="Segoe UI"/>
              </a:rPr>
              <a:t>: "Daqui a 12 slides </a:t>
            </a:r>
            <a:r>
              <a:rPr sz="1200" dirty="0" err="1">
                <a:latin typeface="Segoe UI"/>
              </a:rPr>
              <a:t>vamos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ler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essas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mesmas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três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linhas</a:t>
            </a:r>
            <a:r>
              <a:rPr sz="1200" dirty="0">
                <a:latin typeface="Segoe UI"/>
              </a:rPr>
              <a:t> de </a:t>
            </a:r>
            <a:r>
              <a:rPr sz="1200" dirty="0" err="1">
                <a:latin typeface="Segoe UI"/>
              </a:rPr>
              <a:t>trás</a:t>
            </a:r>
            <a:r>
              <a:rPr sz="1200" dirty="0">
                <a:latin typeface="Segoe UI"/>
              </a:rPr>
              <a:t> para </a:t>
            </a:r>
            <a:r>
              <a:rPr sz="1200" dirty="0" err="1">
                <a:latin typeface="Segoe UI"/>
              </a:rPr>
              <a:t>frente</a:t>
            </a:r>
            <a:r>
              <a:rPr sz="1200" dirty="0">
                <a:latin typeface="Segoe UI"/>
              </a:rPr>
              <a:t>."</a:t>
            </a:r>
          </a:p>
          <a:p>
            <a:endParaRPr sz="1200" dirty="0">
              <a:latin typeface="Segoe UI"/>
            </a:endParaRPr>
          </a:p>
          <a:p>
            <a:r>
              <a:rPr sz="1200" dirty="0">
                <a:latin typeface="Segoe UI"/>
              </a:rPr>
              <a:t>O ω </a:t>
            </a:r>
            <a:r>
              <a:rPr sz="1200" dirty="0" err="1">
                <a:latin typeface="Segoe UI"/>
              </a:rPr>
              <a:t>aparece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igual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nas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três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justamente</a:t>
            </a:r>
            <a:r>
              <a:rPr sz="1200" dirty="0">
                <a:latin typeface="Segoe UI"/>
              </a:rPr>
              <a:t> </a:t>
            </a:r>
            <a:r>
              <a:rPr sz="1200" dirty="0" err="1">
                <a:latin typeface="Segoe UI"/>
              </a:rPr>
              <a:t>porque</a:t>
            </a:r>
            <a:r>
              <a:rPr sz="1200" dirty="0">
                <a:latin typeface="Segoe UI"/>
              </a:rPr>
              <a:t> o </a:t>
            </a:r>
            <a:r>
              <a:rPr sz="1200" dirty="0" err="1">
                <a:latin typeface="Segoe UI"/>
              </a:rPr>
              <a:t>raio</a:t>
            </a:r>
            <a:r>
              <a:rPr sz="1200" dirty="0">
                <a:latin typeface="Segoe UI"/>
              </a:rPr>
              <a:t> é o </a:t>
            </a:r>
            <a:r>
              <a:rPr sz="1200" dirty="0" err="1">
                <a:latin typeface="Segoe UI"/>
              </a:rPr>
              <a:t>mesmo</a:t>
            </a:r>
            <a:r>
              <a:rPr sz="1200" dirty="0">
                <a:latin typeface="Segoe UI"/>
              </a:rPr>
              <a:t> para </a:t>
            </a:r>
            <a:r>
              <a:rPr sz="1200" dirty="0" err="1">
                <a:latin typeface="Segoe UI"/>
              </a:rPr>
              <a:t>todas</a:t>
            </a:r>
            <a:r>
              <a:rPr sz="1200" dirty="0">
                <a:latin typeface="Segoe UI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4 min  ·  CONFERINDO NA MÃO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Trabalhe a tabela linha a linha, com a turma fazendo a conta. Não entregue as respostas de imediato — tape a coluna e pergunte.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 • Translação no eixo 1: a roda 1 vai contra, as outras duas a meia força. Pergunte por que "meia": é o cos(60°).</a:t>
            </a:r>
          </a:p>
          <a:p>
            <a:r>
              <a:rPr sz="1200">
                <a:latin typeface="Segoe UI"/>
              </a:rPr>
              <a:t> • Translação no eixo 2: a roda 1 não faz nada (só desliza) e as outras duas vão em sentidos opostos. É a rotação pura do par.</a:t>
            </a:r>
          </a:p>
          <a:p>
            <a:r>
              <a:rPr sz="1200">
                <a:latin typeface="Segoe UI"/>
              </a:rPr>
              <a:t> • GIRO PURO é o caso mais útil da aula. As três recebem o mesmo valor. Leia o aviso em voz alta: se as três recebem o mesmo valor e o robô TRANSLADA em vez de girar, tem roda montada ou invertida errada. Esse é o primeiro teste de bancada do checklist do slide 51.</a:t>
            </a:r>
          </a:p>
          <a:p>
            <a:r>
              <a:rPr sz="1200">
                <a:latin typeface="Segoe UI"/>
              </a:rPr>
              <a:t> • Diagonal: |v2| = 1.37 &gt; 1. Deixe o desconforto no ar e emende direto no próximo slide.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PERGUNTE antes de virar: "O que o motor faz quando você manda 1.37?" (Satura em 1. E a direção do movimento muda — é o problema que a normalização resolve.)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NORMALIZAÇÃO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Use o gráfico: o vetor rosa é o pedido, o verde é o enviado. Mesma direção, módulo menor.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A ideia inteira cabe numa frase: divida as TRÊS pelo mesmo fator. O vetor encurta, mas aponta exatamente para o mesmo lado.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Mostre o contraexemplo, porque é o erro que as pessoas cometem: cortar individualmente (clamp em cada roda). Só a roda que estourou seria reduzida; as outras ficariam no valor original e o robô sairia torto. Vale desenhar os dois vetores no quadro lado a lado.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PERGUNTE: "Por que o robô fica mais lento na diagonal do que na reta?" (Porque a diagonal exige mais de alguma roda, e a normalização reduz tudo. Não é bug — é limite físico. Se eles tentarem "corrigir" isso, vão quebrar a direção.)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MALHA FECHADA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Percorra o pipeline do slide com o dedo — ele resume a Parte 2 inteira. Diga: "Cada etapa é independente. Dá para depurar uma de cada vez."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O contraste que vende a ideia: malha aberta manda % direto no motor. Bateria cheia o robô voa; bateria meia ele arrasta. Mesma rotina, resultados diferentes. Malha fechada mede o RPM real e corrige — o robô anda igual nas duas situações.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Um PID por roda, porque cada roda tem seu próprio atrito, sua própria carga e às vezes um motor um pouco diferente.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ARMADILHA (leia o aviso): a assinatura antiga do WPILib é pid.calculate(medida, setpoint) — a MEDIDA vem primeiro. Trocar a ordem inverte o sinal do erro e o robô foge do alvo em vez de convergir. Vale escrever no quadro.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PID POR RODA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Não dê aula de teoria de controle — dê o modelo mental de cada termo:</a:t>
            </a:r>
          </a:p>
          <a:p>
            <a:r>
              <a:rPr sz="1200">
                <a:latin typeface="Segoe UI"/>
              </a:rPr>
              <a:t> • P reage ao erro de AGORA. Alto demais: oscila, a roda "chia". Baixo demais: nunca chega.</a:t>
            </a:r>
          </a:p>
          <a:p>
            <a:r>
              <a:rPr sz="1200">
                <a:latin typeface="Segoe UI"/>
              </a:rPr>
              <a:t> • I acumula erro pequeno e persistente — é o que vence o atrito que o P sozinho não vence. Alto demais: sobressinal e windup.</a:t>
            </a:r>
          </a:p>
          <a:p>
            <a:r>
              <a:rPr sz="1200">
                <a:latin typeface="Segoe UI"/>
              </a:rPr>
              <a:t> • D reage à VARIAÇÃO do erro. Aqui está desligado de propósito: encoder quantizado gera ruído, e o D amplifica ruído.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Faça a conta do P em voz alta: erro de 100 RPM × 0.005 = saída 0.5. Isso aterra o número para eles.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O RODAPÉ é o detalhe de engenharia que vale a aula: stop() chama pid.reset(). Sem isso, o termo I guarda o erro acumulado da manobra anterior e o próximo comando começa com um empurrão fantasma. Pergunte: "Em que momento do SquareAutoCommand isso apareceria?" (Na troca de lado, depois do pause.)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2 min  ·  SlewRateLimiter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Leia o gráfico: rosa é o degrau que o piloto pede; verde é o que o robô recebe.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A unidade é variação máxima por segundo. 2.0 significa ir de 0 a 1 em meio segundo. Aterre assim.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Por que importa: degrau de potência faz a roda patinar. Patinar estraga duas coisas ao mesmo tempo — a tração e a odometria, porque o encoder conta giro que não virou deslocamento. Conecte explicitamente com o slide 50.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O giro usa 3.0 (mais rápido) porque girar envolve menos inércia do que arrancar o robô inteiro.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Note a ordem: a rampa é aplicada ANTES da rotação campo→robô e antes da cinemática. Volte ao pipeline do slide 31 se alguém se perder.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4 min  ·  FIELD-ORIENTED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Faça a demonstração corporal: fique de frente para a turma, aponte "para frente". Agora gire 90° e aponte "para frente" de novo. Pergunte: "Para frente de quem?"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 • Robot-oriented: frente é do ROBÔ. Se ele girou, o piloto se perde — especialmente quando o robô vem na direção dele.</a:t>
            </a:r>
          </a:p>
          <a:p>
            <a:r>
              <a:rPr sz="1200">
                <a:latin typeface="Segoe UI"/>
              </a:rPr>
              <a:t> • Field-oriented: frente é do CAMPO. O joystick aponta para o fundo da arena, não importa como o robô está girado.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A matemática é uma rotação de −θ: leva o vetor de comando do referencial do campo para o do robô, antes da cinemática. Mostre o diagrama e as duas linhas da fórmula.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PONTO DE PROJETO: θ vem da IMU — a MESMA fonte que a odometria usa. Isso é de propósito, para as duas nunca divergirem de convenção. Volte a mencionar o kGyroReversed do slide 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FIELD-ORIENTED NO CÓDIGO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Mostre que são literalmente seis linhas. A experiência do piloto muda completamente por causa disso.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Ordem das etapas (repita, é a terceira vez e é de propósito): rampa → rotação → cinemática → normalização → PID.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Detalhe que costuma gerar pergunta: ω NÃO é girado. Velocidade angular é a mesma nos dois referenciais — girar o referencial não muda a taxa de giro.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getRotation2d() é a ÚNICA porta de entrada do ângulo no código. Aplica kGyroReversed e entrega na convenção da WPILib (anti-horário positivo). Toda vez que alguém precisar do rumo, chama essa função — nunca ahrs.getAngle() direto. Essa disciplina é o que evita que metade do código use uma convenção e a outra metade outra.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TESTE DE BANCADA (aviso lateral): levante o robô, gire 90° na mão, empurre o joystick para frente. As rodas devem tentar levar o robô na mesma direção do campo de antes. Se der 90° errado, inverta kGyroReversed.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2 min  ·  resetHeading()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O que o piloto sente: aperta o gatilho e o "para frente" do joystick passa a ser a direção em que o robô está agora. É o botão de se reorientar quando se perdeu.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O que o código faz: zera a IMU E zera a pose, juntas.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INSISTA no "juntas", porque é a parte não óbvia. O eixo de referência girou. Se você mantivesse o x,y antigo com um θ novo, a posição estaria num referencial e o ângulo em outro — a pose viraria lixo silenciosamente, sem erro nenhum.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Diferencie de resetPose() (slide 46): resetHeading joga tudo para a origem; resetPose declara uma pose conhecida SEM mexer na IMU.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Conecte: é a primeira linha do SquareAutoCommand. O rumo em que o robô foi colocado no tapete vira o 0° daquele trajeto.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4 min  ·  CONVENÇÃO DE EIXOS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ATENÇÃO: este slide é sobre o projeto REAL, não um exercício hipotético. Trate com seriedade.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O fato: o Javadoc de Odometry.forwardKinematics chama a primeira saída de "para frente"; o de DriveDistanceCommand chama dirX de "componente lateral". São nomes diferentes para a mesma posição do vetor.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Quem decide quem está certo é a montagem física. Pela descrição em Constants (motor 1 = traseira) e pela geometria do slide 27, a roda traseira empurra o robô de LADO — e é ela que aparece sozinha em v1 = −vx. Logo vx é o eixo lateral.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Consequência prática: a pose publicada pode estar girada 90° em relação ao que o nome sugere. O quadrado continua fechando; ele só é percorrido girado. É um bug de NOME, não de fórmula.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DEIXE CLARO: nenhuma equação aqui está errada. O que precisa casar é nome × montagem física. E deixe o método: empurre o robô 1 m para a frente, desabilitado, e veja qual número do dashboard se move. 30 segundos resolvem.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Se a turma for fazer o lab hoje, este é o primeiro item do roteiro deles.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1 min  ·  DIVISÓRIA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Prepare o terreno: "A Parte 2 respondeu 'como faço o robô andar'. A Parte 3 responde 'onde ele está'. E a resposta é: lendo as mesmas três equações ao contrário."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Se o tempo estiver curto, esta é a parte que NÃO se corta. Command-Based e cinemática inversa se aprendem lendo tutorial; odometria bem feita, não.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SUGESTÃO: segundo intervalo de 10 min antes de começar, se a Parte 2 foi longa.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O QUE É POSE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Três números que respondem "onde eu estou": x, y, θ — sempre no referencial do CAMPO, nunca do robô.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Para que serve, concretamente: autônomo que vai até um ponto, retorno a uma posição conhecida, correção por visão, gráfico da trajetória no dashboard para depurar.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De onde vem: encoders (quanto cada roda andou) + IMU (para onde aponta). Sem GPS, sem tempo, sem mágica.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Convenção da WPILib: x para a frente do campo, y para a ESQUERDA, θ anti-horário positivo. Ângulos sempre em Rotation2d, nunca em double solto — Rotation2d cuida do wrap de 360° sozinho, e esse é um bug clássico que vocês não vão ter.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SEJA HONESTO sobre a limitação: é estimativa ACUMULADA. O erro só cresce, nunca diminui sozinho. Boa por metros e segundos; não por uma partida inteira sem correção externa. Isso prepara o slide 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6 min  ·  CINEMÁTICA DIRETA  ·  slide mais importante da Parte 3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Faça no quadro, com a turma. Vale mais que qualquer outra coisa nesta aula.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Partimos das mesmas três equações do slide 28, agora em METROS percorridos (o sistema é linear — relembre).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A MÁGICA: some as três equações.</a:t>
            </a:r>
          </a:p>
          <a:p>
            <a:r>
              <a:rPr sz="1200">
                <a:latin typeface="Segoe UI"/>
              </a:rPr>
              <a:t> • Os coeficientes de dx: −1 + 0.5 + 0.5 = 0. Cancela.</a:t>
            </a:r>
          </a:p>
          <a:p>
            <a:r>
              <a:rPr sz="1200">
                <a:latin typeface="Segoe UI"/>
              </a:rPr>
              <a:t> • Os de dy: 0 + k − k = 0. Cancela.</a:t>
            </a:r>
          </a:p>
          <a:p>
            <a:r>
              <a:rPr sz="1200">
                <a:latin typeface="Segoe UI"/>
              </a:rPr>
              <a:t> • Sobra: d1 + d2 + d3 = 3·R·dθ.</a:t>
            </a:r>
          </a:p>
          <a:p>
            <a:r>
              <a:rPr sz="1200">
                <a:latin typeface="Segoe UI"/>
              </a:rPr>
              <a:t>Ou seja: a soma das três rodas só carrega informação de ROTAÇÃO. Pare, deixe isso assentar, e pergunte por que faz sentido fisicamente. (Resposta: num giro puro as três andam o mesmo arco — é exatamente o que o slide 27 estabeleceu.)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Com o arco isolado, dx e dy saem por substituição direta. Mostre as três linhas do resultado.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Repare na assinatura: forwardKinematics é STATIC. Sem hardware, sem estado, sem relógio. É essa decisão que permite os testes do slide 49 — anuncie.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DO TICK AO METRO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Conta simples, consequências grandes: metros por tick = π·diâmetro / ticks por volta. Aqui dá 0,21 mm.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Diga: "A resolução não é o gargalo. 0,21 mm é muito melhor do que a precisão com que o robô realmente anda. O gargalo é o escorregamento."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O que É o gargalo: o diâmetro. Erro de 5% no diâmetro = erro de 5% em TODA distância medida, sempre no mesmo sentido, acumulando. Não é ruído, é viés.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Note que o Titan já devolve metros, porque recebeu o fator na criação do encoder. Nenhuma conversão espalhada pelo código.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CALIBRAÇÃO PRÁTICA (rodapé): marque 2,00 m no tapete, mande o robô andar 2,00 m, meça o real. Andou 1,90? Multiplique kWheelDiameterMeters por 2,00/1,90. Mande fazer isso hoje, com fita métrica — é a melhoria de maior retorno por minuto investido.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Dica extra: meça o diâmetro com o robô NO CHÃO, com a roda achatada pelo peso. O diâmetro livre é maior que o efetivo.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4 min  ·  θ DAS RODAS × θ DA IMU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Apresente como DECISÃO DE PROJETO, não como detalhe de implementação. É a escolha mais importante desta odometria.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Pelas rodas: dθ = arco / R. Funciona perfeitamente na teoria. Na prática, rolos passivos escorregam e R nunca é exato.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Por que o erro de ÂNGULO é mais grave que o de distância: ele é integrado. Um ângulo errado contamina x e y em todos os ciclos seguintes, e o erro cresce com a distância percorrida depois do desvio. Um erro de distância fica local; um erro de ângulo se espalha.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Pela IMU: deriva lenta (graus por minuto), independente de contato com o chão, sem acoplamento com escorregamento.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A DECISÃO: dx e dy vêm das rodas; θ vem da IMU. Escreva no quadro.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Detalhe fino: forwardKinematics ainda devolve dθ, mas o updateWithTime o ignora para a pose. Ele só serve para estimar velocidade angular. Vale mencionar para quem for ler o código depois e estranhar.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O CICLO DA ODOMETRIA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Percorra o pipeline da esquerda para a direita, com o dedo, uma caixa por vez. Depois mostre a IMU entrando por baixo e a pose anterior realimentando.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Três ideias por trás:</a:t>
            </a:r>
          </a:p>
          <a:p>
            <a:r>
              <a:rPr sz="1200">
                <a:latin typeface="Segoe UI"/>
              </a:rPr>
              <a:t> 1) DELTA, não absoluto. A odometria guarda a leitura anterior de cada encoder e trabalha com a diferença. Assim ela nunca depende do zero do encoder — e é isso que torna o resetWheelBaseline do slide 47 possível.</a:t>
            </a:r>
          </a:p>
          <a:p>
            <a:r>
              <a:rPr sz="1200">
                <a:latin typeface="Segoe UI"/>
              </a:rPr>
              <a:t> 2) RUMO ABSOLUTO: θ = IMU + gyroOffset; dθ = θ − θ_anterior.</a:t>
            </a:r>
          </a:p>
          <a:p>
            <a:r>
              <a:rPr sz="1200">
                <a:latin typeface="Segoe UI"/>
              </a:rPr>
              <a:t> 3) INTEGRAÇÃO: a pose nova sai da pose anterior mais o deslocamento do ciclo. Nada é recalculado do zero.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PERGUNTE: "Isso roda onde?" (No periodic() do subsystem — slide 11. Se alguém não lembrar, volte: é o encadeamento mais importante entre as Partes 1 e 3.)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4 min  ·  pose.exp()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Desenhe no quadro antes de mostrar o slide: um robô que translada E gira ao mesmo tempo durante 20 ms não anda em linha reta. Anda num arco.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Somar o deslocamento como reta corta o canto. Por ciclo o erro é minúsculo; 50 vezes por segundo, numa curva longa, não é.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Twist2d(dx, dy, dθ) descreve esse movimento no referencial do próprio robô: "ande tanto para frente, tanto para o lado, girando tanto". pose.exp(twist) aplica o mapa exponencial e integra o arco de verdade.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TRANQUILIZE a turma: ninguém precisa derivar o mapa exponencial hoje. O que precisa saber é QUANDO importa (translação + rotação simultâneas) e que a WPILib já resolveu.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Detalhe elegante: quando dθ ≈ 0, exp() degenera na soma simples. Você não paga nada em linha reta e ganha precisão nas curvas.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PERGUNTE: "No SquareAutoCommand, em que momento o exp() faz diferença?" (Quase nenhum — o robô não gira. Mas na correção de rumo do execute(), que gira um pouquinho enquanto anda, faz.)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5 min  ·  updateWithTime() LINHA POR LINHA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Leia o método seguindo os números dos comentários. Vá devagar — é o coração do arquivo.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1) Delta de cada roda.</a:t>
            </a:r>
          </a:p>
          <a:p>
            <a:r>
              <a:rPr sz="1200">
                <a:latin typeface="Segoe UI"/>
              </a:rPr>
              <a:t>2) Memoriza a leitura para o próximo ciclo.</a:t>
            </a:r>
          </a:p>
          <a:p>
            <a:r>
              <a:rPr sz="1200">
                <a:latin typeface="Segoe UI"/>
              </a:rPr>
              <a:t>3) forwardKinematics converte rodas → chassi.</a:t>
            </a:r>
          </a:p>
          <a:p>
            <a:r>
              <a:rPr sz="1200">
                <a:latin typeface="Segoe UI"/>
              </a:rPr>
              <a:t>4) Rumo absoluto da IMU + offset; dθ é a diferença para o ciclo anterior.</a:t>
            </a:r>
          </a:p>
          <a:p>
            <a:r>
              <a:rPr sz="1200">
                <a:latin typeface="Segoe UI"/>
              </a:rPr>
              <a:t>5) exp() integra o arco.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O PASSO 5 É A CHAVE e quase sempre passa batido: a TRANSLAÇÃO vem do exp(), mas θ é SOBRESCRITO pela IMU. Mostre a linha:</a:t>
            </a:r>
          </a:p>
          <a:p>
            <a:r>
              <a:rPr sz="1200">
                <a:latin typeface="Segoe UI"/>
              </a:rPr>
              <a:t>    pose = new Pose2d(newPose.getTranslation(), angle);</a:t>
            </a:r>
          </a:p>
          <a:p>
            <a:r>
              <a:rPr sz="1200">
                <a:latin typeface="Segoe UI"/>
              </a:rPr>
              <a:t>Pergunte: "Por que não usar o ângulo que o exp() devolveu?" (Porque esse veio das rodas — e nós decidimos no slide 42 que não confiamos nelas para ângulo.) Se eles responderem essa, a Parte 3 pegou.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previousAngle só existe para extrair o dθ do ciclo.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E repare: updateWithTime recebe o tempo POR FORA. É o que permite testar no PC, sem o relógio da FPGA. Decisão de projeto, não capricho — fecha no slide 49.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resetPose()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Cenário: início do autônomo. Você sabe onde colocou o robô na arena — quer DECLARAR isso, não zerar nada.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O truque é o gyroOffset: em vez de zerar o giroscópio, guarda-se a diferença entre o rumo que você declarou e o rumo cru da IMU. Daí em diante, θ_pose = θ_IMU + gyroOffset.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Por que não zerar a IMU: zerar perde a referência acumulada e, em alguns giroscópios, leva tempo e pode pegar o robô em movimento. O offset é instantâneo e exato.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Mostre o teste ao lado: resetPose declara 90°, a IMU anda 10°, a pose tem que ir para 100°. Esse teste de duas linhas é o que garante que o offset está certo.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Outros usos: correção por visão (uma tag te dá a pose verdadeira), encostar numa parede de posição conhecida, marcação no tapete.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No subsystem: resetPose(pose) repassa getRotation2d() como rumo cru, e resetOdometry() é só resetPose(new Pose2d()).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resetWheelBaseline()  ·  o bug clássico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Conte como história de bug, com a turma tentando adivinhar o final.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"Os encoders leem 1,00 m. O comando chama resetEncoders(). A leitura vai para 0. No próximo ciclo a odometria calcula delta = 0 − 1,00 = −1,00 m." Pare. Pergunte: "O que o robô acha que aconteceu?" (Que pulou 1 metro para trás, instantaneamente.)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E o pior: não dá erro. A pose simplesmente fica errada a partir dali, e você só descobre quando o autônomo termina no lugar errado.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A defesa: quem zera os encoders AVISA a odometria que a nova referência é zero. O delta do próximo ciclo volta a ser o movimento real, e a pose não se move nem um milímetro no reset.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Mostre que resetEncoders() no subsystem já faz isso — as duas coisas andam juntas, por construção. E mostre o teste que trava esse comportamento para sempre.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GENERALIZE: sempre que uma leitura absoluta puder "pular", quem consome deltas precisa ser reancorado. Vale para encoder, para a IMU, para qualquer coisa.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2 min  ·  VELOCIDADE E TELEMETRIA  [OPCIONAL se o tempo apertar]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O mesmo delta que virou pose vira velocidade: basta dividir pelo tempo.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Dois detalhes de implementação que valem comentário:</a:t>
            </a:r>
          </a:p>
          <a:p>
            <a:r>
              <a:rPr sz="1200">
                <a:latin typeface="Segoe UI"/>
              </a:rPr>
              <a:t> • Usa o período REAL (now − lastTimestamp), não 0.02 fixo. O scheduler não é um relógio perfeito; sob carga os ciclos atrasam. Assumir 20 ms exatos introduz erro justamente quando o robô está sob mais esforço.</a:t>
            </a:r>
          </a:p>
          <a:p>
            <a:r>
              <a:rPr sz="1200">
                <a:latin typeface="Segoe UI"/>
              </a:rPr>
              <a:t> • A guarda period &gt; 1e-6 evita divisão por zero no primeiro ciclo.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A telemetria é o osciloscópio deles. Diga: "Velocidade medida é ouro para depurar — compare com o que vocês pediram. Se você mandou 0.35 e está vendo metade, ou a bateria caiu, ou está patinando, ou o PID não está fechando."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E lembre: a telemetria é publicada no periodic(), logo roda mesmo desabilitado.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4 min  ·  TESTES SEM ROBÔ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Aqui fecha a pergunta plantada no slide 4: por que Odometry é uma classe separada sem hardware.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A ideia do teste, em uma frase: simular os encoders. A partir de um movimento conhecido do chassi, calcular quanto cada roda teria girado (cinemática INVERSA) e alimentar a odometria com isso. Se a pose estimada bate com o movimento imposto, a matemática fechou.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É um teste de ida e volta: inversa → direta → compara. Note que a função wheels() do teste é literalmente a mesma equação do driveRobotOriented — se alguém mudar uma e não a outra, o teste quebra. Isso é de propósito.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RODE AO VIVO: ./gradlew test, com o projetor ligado. Ver 11 testes verdes em 3 segundos, sem robô, sem bateria, sem cabo, convence mais que qualquer argumento.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Depois quebre um de propósito — troque o √3 por 2 — e mostre a falha. Essa demonstração costuma ser o momento em que a turma passa a escrever testes.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PERGUNTE: "O que esses testes NÃO pegam?" (Escorregamento, roda invertida no hardware, diâmetro errado. Teste valida matemática, não física.)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FONTES DE ERRO  [OPCIONAL se o tempo apertar]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A lista está em ordem de impacto — diga isso, é a informação mais útil do slide. Quando a pose estiver errada, eles devem investigar nessa ordem.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 1) ESCORREGAMENTO é o campeão. Mitigação: o SlewRateLimiter do slide 33 e velocidade moderada. Acelerar devagar literalmente melhora a odometria.</a:t>
            </a:r>
          </a:p>
          <a:p>
            <a:r>
              <a:rPr sz="1200">
                <a:latin typeface="Segoe UI"/>
              </a:rPr>
              <a:t> 2) DIÂMETRO: erro proporcional em toda distância. Calibração do slide 41.</a:t>
            </a:r>
          </a:p>
          <a:p>
            <a:r>
              <a:rPr sz="1200">
                <a:latin typeface="Segoe UI"/>
              </a:rPr>
              <a:t> 3) RAIO DO CHASSI: aqui afeta pouco, porque θ vem da IMU. Numa odometria que confiasse nas rodas, seria crítico.</a:t>
            </a:r>
          </a:p>
          <a:p>
            <a:r>
              <a:rPr sz="1200">
                <a:latin typeface="Segoe UI"/>
              </a:rPr>
              <a:t> 4) DERIVA DA IMU: lenta. resetHeading entre manobras ou correção por referência externa.</a:t>
            </a:r>
          </a:p>
          <a:p>
            <a:r>
              <a:rPr sz="1200">
                <a:latin typeface="Segoe UI"/>
              </a:rPr>
              <a:t> 5) CICLOS PERDIDOS: código bloqueante no periodic. Volte ao slide 8 se precisar.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PERGUNTE: "Qual desses o teste unitário pega?" (Nenhum. Todos são físicos. Por isso o checklist do próximo slide existe.)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4 min  ·  CHECKLIST NO TAPETE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Este é o slide que eles vão fotografar. Avise: "Tirem foto deste. É o roteiro da próxima vez que vocês montarem um robô."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A ORDEM IMPORTA e vale explicar por quê: cada passo depende do anterior estar certo. Não adianta calibrar escala se uma roda está invertida; não adianta testar field-oriented se o sinal da IMU está trocado.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 1) Rodas no sentido certo — giro puro, as três no mesmo sentido (slide 29).</a:t>
            </a:r>
          </a:p>
          <a:p>
            <a:r>
              <a:rPr sz="1200">
                <a:latin typeface="Segoe UI"/>
              </a:rPr>
              <a:t> 2) IMU no sentido certo — girar anti-horário deve AUMENTAR o θ.</a:t>
            </a:r>
          </a:p>
          <a:p>
            <a:r>
              <a:rPr sz="1200">
                <a:latin typeface="Segoe UI"/>
              </a:rPr>
              <a:t> 3) Eixos da odometria — empurrar 1 m e ver qual número se move (slide 37).</a:t>
            </a:r>
          </a:p>
          <a:p>
            <a:r>
              <a:rPr sz="1200">
                <a:latin typeface="Segoe UI"/>
              </a:rPr>
              <a:t> 4) Escala da distância — 2,00 m medidos (slide 41).</a:t>
            </a:r>
          </a:p>
          <a:p>
            <a:r>
              <a:rPr sz="1200">
                <a:latin typeface="Segoe UI"/>
              </a:rPr>
              <a:t> 5) Field-oriented — girar 90° e empurrar o joystick (slide 35).</a:t>
            </a:r>
          </a:p>
          <a:p>
            <a:r>
              <a:rPr sz="1200">
                <a:latin typeface="Segoe UI"/>
              </a:rPr>
              <a:t> 6) Fechamento do quadrado — rode o Auto 2, marque a partida com fita, meça o erro de volta.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O passo 6 é a métrica final de qualidade. Peça que anotem o número hoje e tentem melhorá-lo. Vira competição saudável dentro da turma.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FECHANDO O CICLO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Slide de síntese. Percorra de cima para baixo, devagar, sem acrescentar informação nova.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Comando desce: joystick → deadband → rampa → rotação → cinemática inversa → normalização → PID.</a:t>
            </a:r>
          </a:p>
          <a:p>
            <a:r>
              <a:rPr sz="1200">
                <a:latin typeface="Segoe UI"/>
              </a:rPr>
              <a:t>Robô físico no meio: as rodas giram no tapete.</a:t>
            </a:r>
          </a:p>
          <a:p>
            <a:r>
              <a:rPr sz="1200">
                <a:latin typeface="Segoe UI"/>
              </a:rPr>
              <a:t>Estimativa sobe: encoders → delta → cinemática direta → Twist2d + θ da IMU → exp() → pose no campo.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A FRASE DE FECHO, que é o argumento da aula inteira: a cinemática inversa e a direta são a MESMA matemática, lida nos dois sentidos. Um lado diz ao robô o que fazer; o outro pergunta ao robô o que ele fez.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Se alguém só entendeu metade da aula, este slide costuma ser onde a outra metade encaixa. Dê 20 segundos de silêncio depois de falar.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EXERCÍCIOS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Não leia os seis. Aponte os níveis e diga o critério: os fáceis são para hoje, os médios para a semana, os difíceis para quem quer puxar.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Comentários rápidos:</a:t>
            </a:r>
          </a:p>
          <a:p>
            <a:r>
              <a:rPr sz="1200">
                <a:latin typeface="Segoe UI"/>
              </a:rPr>
              <a:t> • Fácil 1 e 2 são de leitura e verificação — garantem que a convenção de eixos ficou clara.</a:t>
            </a:r>
          </a:p>
          <a:p>
            <a:r>
              <a:rPr sz="1200">
                <a:latin typeface="Segoe UI"/>
              </a:rPr>
              <a:t> • Médio 3 (TurnToAngleCommand) junta a Parte 1 com a Parte 3: é o primeiro comando deles que usa getPose() para decidir quando parar.</a:t>
            </a:r>
          </a:p>
          <a:p>
            <a:r>
              <a:rPr sz="1200">
                <a:latin typeface="Segoe UI"/>
              </a:rPr>
              <a:t> • Médio 4 (triângulo) prova que a composição funciona: se eles precisarem tocar no DriveDistanceCommand, a Parte 1 não pegou.</a:t>
            </a:r>
          </a:p>
          <a:p>
            <a:r>
              <a:rPr sz="1200">
                <a:latin typeface="Segoe UI"/>
              </a:rPr>
              <a:t> • Difícil 5 (DriveToPoseCommand) é o salto conceitual: sair de deslocamento RELATIVO para posição ABSOLUTA no campo. É o que times competitivos usam.</a:t>
            </a:r>
          </a:p>
          <a:p>
            <a:r>
              <a:rPr sz="1200">
                <a:latin typeface="Segoe UI"/>
              </a:rPr>
              <a:t> • Difícil 6 (simular escorregamento no teste) é o mais formativo: eles vão medir o impacto do problema nº 1 do slide 50 sem precisar do robô.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Se houver tempo de lab hoje, comece pelo checklist do slide 51 e só depois pelos exercícios.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200">
                <a:latin typeface="Segoe UI"/>
              </a:rPr>
              <a:t>⏱ 3 min  ·  RESUMO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Não leia as dez. Peça que a turma leia em silêncio por 30 segundos e escolha a que foi mais surpreendente para ela. Ouça três ou quatro respostas — isso te diz o que pegou e o que não pegou, e vale como avaliação informal.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Se você só tiver fôlego para repetir três:</a:t>
            </a:r>
          </a:p>
          <a:p>
            <a:r>
              <a:rPr sz="1200">
                <a:latin typeface="Segoe UI"/>
              </a:rPr>
              <a:t> • addRequirements() — a linha que impede dois donos no mesmo motor.</a:t>
            </a:r>
          </a:p>
          <a:p>
            <a:r>
              <a:rPr sz="1200">
                <a:latin typeface="Segoe UI"/>
              </a:rPr>
              <a:t> • Normalize dividindo as três pelo mesmo fator, nunca corte uma só.</a:t>
            </a:r>
          </a:p>
          <a:p>
            <a:r>
              <a:rPr sz="1200">
                <a:latin typeface="Segoe UI"/>
              </a:rPr>
              <a:t> • dx e dy das rodas, θ da IMU. Nunca confie no ângulo das rodas omni.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FECHE COM AÇÃO, não com resumo: "Rodem ./gradlew test hoje. Façam o checklist do tapete amanhã. Me tragam o erro de fechamento do quadrado na próxima aula."</a:t>
            </a:r>
          </a:p>
          <a:p>
            <a:endParaRPr sz="1200">
              <a:latin typeface="Segoe UI"/>
            </a:endParaRPr>
          </a:p>
          <a:p>
            <a:r>
              <a:rPr sz="1200">
                <a:latin typeface="Segoe UI"/>
              </a:rPr>
              <a:t>Deixe os slides disponíveis e lembre que o PPTX está em docs/ no repositório, junto com os scripts que o geraram.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83880" y="2331719"/>
            <a:ext cx="2834640" cy="2834640"/>
          </a:xfrm>
          <a:prstGeom prst="ellipse">
            <a:avLst/>
          </a:prstGeom>
          <a:solidFill>
            <a:srgbClr val="162238"/>
          </a:solidFill>
          <a:ln w="1778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46336" y="369417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244584" y="4967478"/>
            <a:ext cx="713232" cy="214884"/>
          </a:xfrm>
          <a:prstGeom prst="roundRect">
            <a:avLst>
              <a:gd name="adj" fmla="val 45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 rot="14400000">
            <a:off x="10392829" y="2978657"/>
            <a:ext cx="713232" cy="214884"/>
          </a:xfrm>
          <a:prstGeom prst="roundRect">
            <a:avLst>
              <a:gd name="adj" fmla="val 45000"/>
            </a:avLst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 rot="7200000">
            <a:off x="8096338" y="2978657"/>
            <a:ext cx="713232" cy="214884"/>
          </a:xfrm>
          <a:prstGeom prst="roundRect">
            <a:avLst>
              <a:gd name="adj" fmla="val 45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8D9F0"/>
                </a:solidFill>
                <a:latin typeface="Segoe UI"/>
              </a:rPr>
              <a:t>ROBÓTICA MÓVEL  ·  WORLDSKILLS  ·  LAB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8229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1" i="0">
                <a:solidFill>
                  <a:srgbClr val="FFFFFF"/>
                </a:solidFill>
                <a:latin typeface="Segoe UI"/>
              </a:rPr>
              <a:t>OmniDrive,</a:t>
            </a:r>
          </a:p>
          <a:p>
            <a:pPr algn="l">
              <a:lnSpc>
                <a:spcPct val="105000"/>
              </a:lnSpc>
            </a:pPr>
            <a:r>
              <a:rPr sz="5000" b="1" i="0">
                <a:solidFill>
                  <a:srgbClr val="FFFFFF"/>
                </a:solidFill>
                <a:latin typeface="Segoe UI"/>
              </a:rPr>
              <a:t>Command-Based</a:t>
            </a:r>
          </a:p>
          <a:p>
            <a:pPr algn="l">
              <a:lnSpc>
                <a:spcPct val="105000"/>
              </a:lnSpc>
            </a:pPr>
            <a:r>
              <a:rPr sz="5000" b="1" i="0">
                <a:solidFill>
                  <a:srgbClr val="FFFFFF"/>
                </a:solidFill>
                <a:latin typeface="Segoe UI"/>
              </a:rPr>
              <a:t>e Odometria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315968"/>
            <a:ext cx="173736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645152"/>
            <a:ext cx="749807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3A6C4"/>
                </a:solidFill>
                <a:latin typeface="Segoe UI"/>
              </a:rPr>
              <a:t>Da estrutura do framework à matemática que diz</a:t>
            </a:r>
          </a:p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3A6C4"/>
                </a:solidFill>
                <a:latin typeface="Segoe UI"/>
              </a:rPr>
              <a:t>onde o robô está no campo.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6072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A6C8A"/>
                </a:solidFill>
                <a:latin typeface="Segoe UI"/>
              </a:rPr>
              <a:t>Base holonômica de 3 rodas a 120°  ·  TitanQuad + navX  ·  WPILib / Java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ROTEIRO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que vamos construir na sua cabeça hoje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Lab 9 — 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57400"/>
            <a:ext cx="10469880" cy="1097280"/>
          </a:xfrm>
          <a:prstGeom prst="roundRect">
            <a:avLst>
              <a:gd name="adj" fmla="val 9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78992" y="2267712"/>
            <a:ext cx="676656" cy="676656"/>
          </a:xfrm>
          <a:prstGeom prst="roundRect">
            <a:avLst>
              <a:gd name="adj" fmla="val 30000"/>
            </a:avLst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2500" b="1">
                <a:solidFill>
                  <a:srgbClr val="0B1220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25856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 i="0">
                <a:solidFill>
                  <a:srgbClr val="38D9F0"/>
                </a:solidFill>
                <a:latin typeface="Segoe UI"/>
              </a:rPr>
              <a:t>Command-Based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276856"/>
            <a:ext cx="6217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93A6C4"/>
                </a:solidFill>
                <a:latin typeface="Segoe UI"/>
              </a:rPr>
              <a:t>Como o framework organiza o robô: subsystems,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93A6C4"/>
                </a:solidFill>
                <a:latin typeface="Segoe UI"/>
              </a:rPr>
              <a:t>commands, scheduler e o loop de 20 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319272"/>
            <a:ext cx="10469880" cy="1097280"/>
          </a:xfrm>
          <a:prstGeom prst="roundRect">
            <a:avLst>
              <a:gd name="adj" fmla="val 9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78992" y="3529584"/>
            <a:ext cx="676656" cy="676656"/>
          </a:xfrm>
          <a:prstGeom prst="roundRect">
            <a:avLst>
              <a:gd name="adj" fmla="val 3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2500" b="1">
                <a:solidFill>
                  <a:srgbClr val="0B1220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520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 i="0">
                <a:solidFill>
                  <a:srgbClr val="FBBF24"/>
                </a:solidFill>
                <a:latin typeface="Segoe UI"/>
              </a:rPr>
              <a:t>OmniDrive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538728"/>
            <a:ext cx="6217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93A6C4"/>
                </a:solidFill>
                <a:latin typeface="Segoe UI"/>
              </a:rPr>
              <a:t>Por que 3 rodas a 120° andam para qualquer lado,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93A6C4"/>
                </a:solidFill>
                <a:latin typeface="Segoe UI"/>
              </a:rPr>
              <a:t>a cinemática inversa, PID e field-oriented.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581144"/>
            <a:ext cx="10469880" cy="1097280"/>
          </a:xfrm>
          <a:prstGeom prst="roundRect">
            <a:avLst>
              <a:gd name="adj" fmla="val 9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78992" y="4791456"/>
            <a:ext cx="676656" cy="676656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2500" b="1">
                <a:solidFill>
                  <a:srgbClr val="0B1220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78231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50" b="1" i="0">
                <a:solidFill>
                  <a:srgbClr val="34D399"/>
                </a:solidFill>
                <a:latin typeface="Segoe UI"/>
              </a:rPr>
              <a:t>Odometria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800600"/>
            <a:ext cx="6217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93A6C4"/>
                </a:solidFill>
                <a:latin typeface="Segoe UI"/>
              </a:rPr>
              <a:t>Invertendo a cinemática para estimar a pose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93A6C4"/>
                </a:solidFill>
                <a:latin typeface="Segoe UI"/>
              </a:rPr>
              <a:t>(x, y, θ) do robô no campo, ciclo a ciclo.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5559552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" y="579729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72184" y="5650992"/>
            <a:ext cx="964691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Fio condutor: tudo que está nos slides existe no projeto lab9OmniDrive. Abra o código ao lado — os nomes são os mesmos.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O ROBÔ DESTE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hardware que o software precisa conhecer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Lab 9 — 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3291840" cy="1572768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2139696"/>
            <a:ext cx="50292" cy="1316736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2194560"/>
            <a:ext cx="2816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8D9F0"/>
                </a:solidFill>
                <a:latin typeface="Segoe UI"/>
              </a:rPr>
              <a:t>TitanQuad (CAN id 42)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42032"/>
            <a:ext cx="28163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Controladora Studica. Dá os 3 motores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(canais 0, 1, 2) e os 3 encoders nos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mesmos índices.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2011680"/>
            <a:ext cx="3291840" cy="1572768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16552" y="2139696"/>
            <a:ext cx="50292" cy="131673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90872" y="2194560"/>
            <a:ext cx="2816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78BFA"/>
                </a:solidFill>
                <a:latin typeface="Segoe UI"/>
              </a:rPr>
              <a:t>3 motores Maverick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542032"/>
            <a:ext cx="28163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Com caixa de redução. Limite nominal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kMaxRPM = 150 RPM — é a escala que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converte “%” em RPM alvo.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64423" y="2011680"/>
            <a:ext cx="3291840" cy="1572768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64423" y="2139696"/>
            <a:ext cx="50292" cy="131673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38744" y="2194560"/>
            <a:ext cx="2816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4D399"/>
                </a:solidFill>
                <a:latin typeface="Segoe UI"/>
              </a:rPr>
              <a:t>3 encoders em quadratura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542032"/>
            <a:ext cx="28163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1464 ticks por volta da roda.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Roda omni de 100 mm de diâmetro.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794760"/>
            <a:ext cx="3291840" cy="1572768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68680" y="3922776"/>
            <a:ext cx="50292" cy="131673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3977640"/>
            <a:ext cx="2816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BF24"/>
                </a:solidFill>
                <a:latin typeface="Segoe UI"/>
              </a:rPr>
              <a:t>navX IMU (SPI / MXP)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325112"/>
            <a:ext cx="28163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Dá o rumo acumulado (yaw).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É a fonte de θ para o field-oriented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E para a odometria.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16552" y="3794760"/>
            <a:ext cx="3291840" cy="1572768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16552" y="3922776"/>
            <a:ext cx="50292" cy="1316736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90872" y="3977640"/>
            <a:ext cx="2816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472B6"/>
                </a:solidFill>
                <a:latin typeface="Segoe UI"/>
              </a:rPr>
              <a:t>Joystick (porta 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0872" y="4325112"/>
            <a:ext cx="28163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Eixos X, Y, Z = andar de lado, andar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para frente e girar. Trigger zera o campo.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64423" y="3794760"/>
            <a:ext cx="3291840" cy="1572768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964423" y="3922776"/>
            <a:ext cx="50292" cy="1316736"/>
          </a:xfrm>
          <a:prstGeom prst="rect">
            <a:avLst/>
          </a:prstGeom>
          <a:solidFill>
            <a:srgbClr val="FB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38744" y="3977640"/>
            <a:ext cx="281635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8E3C"/>
                </a:solidFill>
                <a:latin typeface="Segoe UI"/>
              </a:rPr>
              <a:t>VMX-pi / SmartDashboard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8744" y="4325112"/>
            <a:ext cx="28163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Roda o código e publica a telemetria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(pose, velocidade) para você conferir.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5559552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69848" y="579729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72184" y="5650992"/>
            <a:ext cx="964691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Três números vêm do hardware e TÊM de ser medidos: ticks por volta, diâmetro da roda e raio do chassi (centro → centro da roda). Erro em qualquer um deles aparece como erro de odometria.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MAPA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Onde cada responsabilidade mora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Lab 9 — 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6675120" cy="388620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1135">
                <a:solidFill>
                  <a:srgbClr val="E6EDF8"/>
                </a:solidFill>
                <a:latin typeface="Consolas"/>
              </a:rPr>
              <a:t>src/main/java/frc/robot/</a:t>
            </a:r>
          </a:p>
          <a:p>
            <a:pPr algn="l">
              <a:lnSpc>
                <a:spcPct val="120000"/>
              </a:lnSpc>
            </a:pPr>
            <a:r>
              <a:rPr sz="1135">
                <a:solidFill>
                  <a:srgbClr val="E6EDF8"/>
                </a:solidFill>
                <a:latin typeface="Consolas"/>
              </a:rPr>
              <a:t>│</a:t>
            </a:r>
          </a:p>
          <a:p>
            <a:pPr algn="l">
              <a:lnSpc>
                <a:spcPct val="120000"/>
              </a:lnSpc>
            </a:pPr>
            <a:r>
              <a:rPr sz="1135">
                <a:solidFill>
                  <a:srgbClr val="E6EDF8"/>
                </a:solidFill>
                <a:latin typeface="Consolas"/>
              </a:rPr>
              <a:t>├── </a:t>
            </a:r>
            <a:r>
              <a:rPr sz="1135">
                <a:solidFill>
                  <a:srgbClr val="34D399"/>
                </a:solidFill>
                <a:latin typeface="Consolas"/>
              </a:rPr>
              <a:t>Main</a:t>
            </a:r>
            <a:r>
              <a:rPr sz="1135">
                <a:solidFill>
                  <a:srgbClr val="E6EDF8"/>
                </a:solidFill>
                <a:latin typeface="Consolas"/>
              </a:rPr>
              <a:t>.java                   </a:t>
            </a:r>
            <a:r>
              <a:rPr sz="1135" i="1">
                <a:solidFill>
                  <a:srgbClr val="6B82A6"/>
                </a:solidFill>
                <a:latin typeface="Consolas"/>
              </a:rPr>
              <a:t>// ponto de entrada da JVM — nao mexer</a:t>
            </a:r>
          </a:p>
          <a:p>
            <a:pPr algn="l">
              <a:lnSpc>
                <a:spcPct val="120000"/>
              </a:lnSpc>
            </a:pPr>
            <a:r>
              <a:rPr sz="1135">
                <a:solidFill>
                  <a:srgbClr val="E6EDF8"/>
                </a:solidFill>
                <a:latin typeface="Consolas"/>
              </a:rPr>
              <a:t>├── </a:t>
            </a:r>
            <a:r>
              <a:rPr sz="1135">
                <a:solidFill>
                  <a:srgbClr val="34D399"/>
                </a:solidFill>
                <a:latin typeface="Consolas"/>
              </a:rPr>
              <a:t>Robot</a:t>
            </a:r>
            <a:r>
              <a:rPr sz="1135">
                <a:solidFill>
                  <a:srgbClr val="E6EDF8"/>
                </a:solidFill>
                <a:latin typeface="Consolas"/>
              </a:rPr>
              <a:t>.java                  </a:t>
            </a:r>
            <a:r>
              <a:rPr sz="1135" i="1">
                <a:solidFill>
                  <a:srgbClr val="6B82A6"/>
                </a:solidFill>
                <a:latin typeface="Consolas"/>
              </a:rPr>
              <a:t>// TimedRobot: so chama o scheduler</a:t>
            </a:r>
          </a:p>
          <a:p>
            <a:pPr algn="l">
              <a:lnSpc>
                <a:spcPct val="120000"/>
              </a:lnSpc>
            </a:pPr>
            <a:r>
              <a:rPr sz="1135">
                <a:solidFill>
                  <a:srgbClr val="E6EDF8"/>
                </a:solidFill>
                <a:latin typeface="Consolas"/>
              </a:rPr>
              <a:t>├── </a:t>
            </a:r>
            <a:r>
              <a:rPr sz="1135">
                <a:solidFill>
                  <a:srgbClr val="34D399"/>
                </a:solidFill>
                <a:latin typeface="Consolas"/>
              </a:rPr>
              <a:t>RobotContainer</a:t>
            </a:r>
            <a:r>
              <a:rPr sz="1135">
                <a:solidFill>
                  <a:srgbClr val="E6EDF8"/>
                </a:solidFill>
                <a:latin typeface="Consolas"/>
              </a:rPr>
              <a:t>.java         </a:t>
            </a:r>
            <a:r>
              <a:rPr sz="1135" i="1">
                <a:solidFill>
                  <a:srgbClr val="6B82A6"/>
                </a:solidFill>
                <a:latin typeface="Consolas"/>
              </a:rPr>
              <a:t>// declara TUDO: subsystems, commands, botoes</a:t>
            </a:r>
          </a:p>
          <a:p>
            <a:pPr algn="l">
              <a:lnSpc>
                <a:spcPct val="120000"/>
              </a:lnSpc>
            </a:pPr>
            <a:r>
              <a:rPr sz="1135">
                <a:solidFill>
                  <a:srgbClr val="E6EDF8"/>
                </a:solidFill>
                <a:latin typeface="Consolas"/>
              </a:rPr>
              <a:t>├── </a:t>
            </a:r>
            <a:r>
              <a:rPr sz="1135">
                <a:solidFill>
                  <a:srgbClr val="34D399"/>
                </a:solidFill>
                <a:latin typeface="Consolas"/>
              </a:rPr>
              <a:t>Constants</a:t>
            </a:r>
            <a:r>
              <a:rPr sz="1135">
                <a:solidFill>
                  <a:srgbClr val="E6EDF8"/>
                </a:solidFill>
                <a:latin typeface="Consolas"/>
              </a:rPr>
              <a:t>.java              </a:t>
            </a:r>
            <a:r>
              <a:rPr sz="1135" i="1">
                <a:solidFill>
                  <a:srgbClr val="6B82A6"/>
                </a:solidFill>
                <a:latin typeface="Consolas"/>
              </a:rPr>
              <a:t>// numeros do robo, em um lugar so</a:t>
            </a:r>
          </a:p>
          <a:p>
            <a:pPr algn="l">
              <a:lnSpc>
                <a:spcPct val="120000"/>
              </a:lnSpc>
            </a:pPr>
            <a:r>
              <a:rPr sz="1135">
                <a:solidFill>
                  <a:srgbClr val="E6EDF8"/>
                </a:solidFill>
                <a:latin typeface="Consolas"/>
              </a:rPr>
              <a:t>│</a:t>
            </a:r>
          </a:p>
          <a:p>
            <a:pPr algn="l">
              <a:lnSpc>
                <a:spcPct val="120000"/>
              </a:lnSpc>
            </a:pPr>
            <a:r>
              <a:rPr sz="1135">
                <a:solidFill>
                  <a:srgbClr val="E6EDF8"/>
                </a:solidFill>
                <a:latin typeface="Consolas"/>
              </a:rPr>
              <a:t>├── subsystems/</a:t>
            </a:r>
          </a:p>
          <a:p>
            <a:pPr algn="l">
              <a:lnSpc>
                <a:spcPct val="120000"/>
              </a:lnSpc>
            </a:pPr>
            <a:r>
              <a:rPr sz="1135">
                <a:solidFill>
                  <a:srgbClr val="E6EDF8"/>
                </a:solidFill>
                <a:latin typeface="Consolas"/>
              </a:rPr>
              <a:t>│   ├── </a:t>
            </a:r>
            <a:r>
              <a:rPr sz="1135">
                <a:solidFill>
                  <a:srgbClr val="34D399"/>
                </a:solidFill>
                <a:latin typeface="Consolas"/>
              </a:rPr>
              <a:t>OmnidriveSubsystem</a:t>
            </a:r>
            <a:r>
              <a:rPr sz="1135">
                <a:solidFill>
                  <a:srgbClr val="E6EDF8"/>
                </a:solidFill>
                <a:latin typeface="Consolas"/>
              </a:rPr>
              <a:t>.java </a:t>
            </a:r>
            <a:r>
              <a:rPr sz="1135" i="1">
                <a:solidFill>
                  <a:srgbClr val="6B82A6"/>
                </a:solidFill>
                <a:latin typeface="Consolas"/>
              </a:rPr>
              <a:t>// hardware + cinematica + PID + field-oriented</a:t>
            </a:r>
          </a:p>
          <a:p>
            <a:pPr algn="l">
              <a:lnSpc>
                <a:spcPct val="120000"/>
              </a:lnSpc>
            </a:pPr>
            <a:r>
              <a:rPr sz="1135">
                <a:solidFill>
                  <a:srgbClr val="E6EDF8"/>
                </a:solidFill>
                <a:latin typeface="Consolas"/>
              </a:rPr>
              <a:t>│   └── </a:t>
            </a:r>
            <a:r>
              <a:rPr sz="1135">
                <a:solidFill>
                  <a:srgbClr val="34D399"/>
                </a:solidFill>
                <a:latin typeface="Consolas"/>
              </a:rPr>
              <a:t>Odometry</a:t>
            </a:r>
            <a:r>
              <a:rPr sz="1135">
                <a:solidFill>
                  <a:srgbClr val="E6EDF8"/>
                </a:solidFill>
                <a:latin typeface="Consolas"/>
              </a:rPr>
              <a:t>.java           </a:t>
            </a:r>
            <a:r>
              <a:rPr sz="1135" i="1">
                <a:solidFill>
                  <a:srgbClr val="6B82A6"/>
                </a:solidFill>
                <a:latin typeface="Consolas"/>
              </a:rPr>
              <a:t>// matematica pura da pose (sem hardware)</a:t>
            </a:r>
          </a:p>
          <a:p>
            <a:pPr algn="l">
              <a:lnSpc>
                <a:spcPct val="120000"/>
              </a:lnSpc>
            </a:pPr>
            <a:r>
              <a:rPr sz="1135">
                <a:solidFill>
                  <a:srgbClr val="E6EDF8"/>
                </a:solidFill>
                <a:latin typeface="Consolas"/>
              </a:rPr>
              <a:t>│</a:t>
            </a:r>
          </a:p>
          <a:p>
            <a:pPr algn="l">
              <a:lnSpc>
                <a:spcPct val="120000"/>
              </a:lnSpc>
            </a:pPr>
            <a:r>
              <a:rPr sz="1135">
                <a:solidFill>
                  <a:srgbClr val="E6EDF8"/>
                </a:solidFill>
                <a:latin typeface="Consolas"/>
              </a:rPr>
              <a:t>└── commands/</a:t>
            </a:r>
          </a:p>
          <a:p>
            <a:pPr algn="l">
              <a:lnSpc>
                <a:spcPct val="120000"/>
              </a:lnSpc>
            </a:pPr>
            <a:r>
              <a:rPr sz="1135">
                <a:solidFill>
                  <a:srgbClr val="E6EDF8"/>
                </a:solidFill>
                <a:latin typeface="Consolas"/>
              </a:rPr>
              <a:t>    ├── </a:t>
            </a:r>
            <a:r>
              <a:rPr sz="1135">
                <a:solidFill>
                  <a:srgbClr val="34D399"/>
                </a:solidFill>
                <a:latin typeface="Consolas"/>
              </a:rPr>
              <a:t>DriveDistanceCommand</a:t>
            </a:r>
            <a:r>
              <a:rPr sz="1135">
                <a:solidFill>
                  <a:srgbClr val="E6EDF8"/>
                </a:solidFill>
                <a:latin typeface="Consolas"/>
              </a:rPr>
              <a:t>.java  </a:t>
            </a:r>
            <a:r>
              <a:rPr sz="1135" i="1">
                <a:solidFill>
                  <a:srgbClr val="6B82A6"/>
                </a:solidFill>
                <a:latin typeface="Consolas"/>
              </a:rPr>
              <a:t>// anda N metros numa direcao</a:t>
            </a:r>
          </a:p>
          <a:p>
            <a:pPr algn="l">
              <a:lnSpc>
                <a:spcPct val="120000"/>
              </a:lnSpc>
            </a:pPr>
            <a:r>
              <a:rPr sz="1135">
                <a:solidFill>
                  <a:srgbClr val="E6EDF8"/>
                </a:solidFill>
                <a:latin typeface="Consolas"/>
              </a:rPr>
              <a:t>    └── </a:t>
            </a:r>
            <a:r>
              <a:rPr sz="1135">
                <a:solidFill>
                  <a:srgbClr val="34D399"/>
                </a:solidFill>
                <a:latin typeface="Consolas"/>
              </a:rPr>
              <a:t>SquareAutoCommand</a:t>
            </a:r>
            <a:r>
              <a:rPr sz="1135">
                <a:solidFill>
                  <a:srgbClr val="E6EDF8"/>
                </a:solidFill>
                <a:latin typeface="Consolas"/>
              </a:rPr>
              <a:t>.java     </a:t>
            </a:r>
            <a:r>
              <a:rPr sz="1135" i="1">
                <a:solidFill>
                  <a:srgbClr val="6B82A6"/>
                </a:solidFill>
                <a:latin typeface="Consolas"/>
              </a:rPr>
              <a:t>// compoe 4 lados = quadrado</a:t>
            </a:r>
          </a:p>
          <a:p>
            <a:pPr algn="l">
              <a:lnSpc>
                <a:spcPct val="120000"/>
              </a:lnSpc>
            </a:pPr>
            <a:endParaRPr sz="1135" i="1">
              <a:solidFill>
                <a:srgbClr val="6B82A6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1135">
                <a:solidFill>
                  <a:srgbClr val="E6EDF8"/>
                </a:solidFill>
                <a:latin typeface="Consolas"/>
              </a:rPr>
              <a:t>src/test/java/frc/robot/subsystems/</a:t>
            </a:r>
          </a:p>
          <a:p>
            <a:pPr algn="l">
              <a:lnSpc>
                <a:spcPct val="120000"/>
              </a:lnSpc>
            </a:pPr>
            <a:r>
              <a:rPr sz="1135">
                <a:solidFill>
                  <a:srgbClr val="E6EDF8"/>
                </a:solidFill>
                <a:latin typeface="Consolas"/>
              </a:rPr>
              <a:t>└── </a:t>
            </a:r>
            <a:r>
              <a:rPr sz="1135">
                <a:solidFill>
                  <a:srgbClr val="34D399"/>
                </a:solidFill>
                <a:latin typeface="Consolas"/>
              </a:rPr>
              <a:t>OdometryTest</a:t>
            </a:r>
            <a:r>
              <a:rPr sz="1135">
                <a:solidFill>
                  <a:srgbClr val="E6EDF8"/>
                </a:solidFill>
                <a:latin typeface="Consolas"/>
              </a:rPr>
              <a:t>.java           </a:t>
            </a:r>
            <a:r>
              <a:rPr sz="1135" i="1">
                <a:solidFill>
                  <a:srgbClr val="6B82A6"/>
                </a:solidFill>
                <a:latin typeface="Consolas"/>
              </a:rPr>
              <a:t>// roda no PC: ./gradlew 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957376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estrutura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011680"/>
            <a:ext cx="3456432" cy="11430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63840" y="2139696"/>
            <a:ext cx="50292" cy="886968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2194560"/>
            <a:ext cx="29809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38D9F0"/>
                </a:solidFill>
                <a:latin typeface="Segoe UI"/>
              </a:rPr>
              <a:t>Robot.java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542032"/>
            <a:ext cx="2980944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6EDF8"/>
                </a:solidFill>
                <a:latin typeface="Segoe UI"/>
              </a:rPr>
              <a:t>Nunca cresce. Em Command-Based ele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6EDF8"/>
                </a:solidFill>
                <a:latin typeface="Segoe UI"/>
              </a:rPr>
              <a:t>quase não tem lógica.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337560"/>
            <a:ext cx="3456432" cy="11430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0" y="3465576"/>
            <a:ext cx="50292" cy="8869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3520440"/>
            <a:ext cx="29809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BBF24"/>
                </a:solidFill>
                <a:latin typeface="Segoe UI"/>
              </a:rPr>
              <a:t>RobotContainer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867912"/>
            <a:ext cx="2980944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6EDF8"/>
                </a:solidFill>
                <a:latin typeface="Segoe UI"/>
              </a:rPr>
              <a:t>O “mapa” do robô. É aqui que você liga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6EDF8"/>
                </a:solidFill>
                <a:latin typeface="Segoe UI"/>
              </a:rPr>
              <a:t>botão → comando.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4663440"/>
            <a:ext cx="3456432" cy="11430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863840" y="4791455"/>
            <a:ext cx="50292" cy="88696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60" y="4846320"/>
            <a:ext cx="29809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34D399"/>
                </a:solidFill>
                <a:latin typeface="Segoe UI"/>
              </a:rPr>
              <a:t>Odometry.java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5193792"/>
            <a:ext cx="2980944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6EDF8"/>
                </a:solidFill>
                <a:latin typeface="Segoe UI"/>
              </a:rPr>
              <a:t>Sem hardware dentro → dá para testar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6EDF8"/>
                </a:solidFill>
                <a:latin typeface="Segoe UI"/>
              </a:rPr>
              <a:t>no PC, sem robô.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0" y="1325880"/>
            <a:ext cx="292608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0" b="1" i="0">
                <a:solidFill>
                  <a:srgbClr val="1E2E4A"/>
                </a:solidFill>
                <a:latin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39572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8D9F0"/>
                </a:solidFill>
                <a:latin typeface="Segoe UI"/>
              </a:rPr>
              <a:t>PARTE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0"/>
            <a:ext cx="95097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703320"/>
            <a:ext cx="8961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93A6C4"/>
                </a:solidFill>
                <a:latin typeface="Segoe UI"/>
              </a:rPr>
              <a:t>Como o framework organiza o robô — e por que isso evita bagunça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4526280"/>
            <a:ext cx="1145743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Subsystem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99639" y="4526280"/>
            <a:ext cx="968349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Command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96004" y="4526280"/>
            <a:ext cx="1145743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Scheduler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69764" y="4526280"/>
            <a:ext cx="968349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Trigger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66129" y="4526280"/>
            <a:ext cx="1677924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Default command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72069" y="4526280"/>
            <a:ext cx="1323136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Composições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MOTIVAÇÃO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problema que o Command-Based resolve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5074920" cy="3108960"/>
          </a:xfrm>
          <a:prstGeom prst="roundRect">
            <a:avLst>
              <a:gd name="adj" fmla="val 6000"/>
            </a:avLst>
          </a:prstGeom>
          <a:solidFill>
            <a:srgbClr val="162238"/>
          </a:solidFill>
          <a:ln w="1524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176272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472B6"/>
                </a:solidFill>
                <a:latin typeface="Segoe UI"/>
              </a:rPr>
              <a:t>Sem framework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606040"/>
            <a:ext cx="4617720" cy="224028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1047">
                <a:solidFill>
                  <a:srgbClr val="A78BFA"/>
                </a:solidFill>
                <a:latin typeface="Consolas"/>
              </a:rPr>
              <a:t>public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A78BFA"/>
                </a:solidFill>
                <a:latin typeface="Consolas"/>
              </a:rPr>
              <a:t>void</a:t>
            </a:r>
            <a:r>
              <a:rPr sz="1047">
                <a:solidFill>
                  <a:srgbClr val="E6EDF8"/>
                </a:solidFill>
                <a:latin typeface="Consolas"/>
              </a:rPr>
              <a:t> teleopPeriodic() {</a:t>
            </a: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  </a:t>
            </a:r>
            <a:r>
              <a:rPr sz="1047" i="1">
                <a:solidFill>
                  <a:srgbClr val="6B82A6"/>
                </a:solidFill>
                <a:latin typeface="Consolas"/>
              </a:rPr>
              <a:t>// joystick</a:t>
            </a: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  </a:t>
            </a:r>
            <a:r>
              <a:rPr sz="1047" i="1">
                <a:solidFill>
                  <a:srgbClr val="6B82A6"/>
                </a:solidFill>
                <a:latin typeface="Consolas"/>
              </a:rPr>
              <a:t>// ... e o autonomo?</a:t>
            </a: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  </a:t>
            </a:r>
            <a:r>
              <a:rPr sz="1047" i="1">
                <a:solidFill>
                  <a:srgbClr val="6B82A6"/>
                </a:solidFill>
                <a:latin typeface="Consolas"/>
              </a:rPr>
              <a:t>// ... e se dois trechos mandarem</a:t>
            </a: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  </a:t>
            </a:r>
            <a:r>
              <a:rPr sz="1047" i="1">
                <a:solidFill>
                  <a:srgbClr val="6B82A6"/>
                </a:solidFill>
                <a:latin typeface="Consolas"/>
              </a:rPr>
              <a:t>//     potencia pro mesmo motor?</a:t>
            </a: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  </a:t>
            </a:r>
            <a:r>
              <a:rPr sz="1047" i="1">
                <a:solidFill>
                  <a:srgbClr val="6B82A6"/>
                </a:solidFill>
                <a:latin typeface="Consolas"/>
              </a:rPr>
              <a:t>// ... e timer, flags, estados...</a:t>
            </a: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  </a:t>
            </a:r>
            <a:r>
              <a:rPr sz="1047">
                <a:solidFill>
                  <a:srgbClr val="A78BFA"/>
                </a:solidFill>
                <a:latin typeface="Consolas"/>
              </a:rPr>
              <a:t>if</a:t>
            </a:r>
            <a:r>
              <a:rPr sz="1047">
                <a:solidFill>
                  <a:srgbClr val="E6EDF8"/>
                </a:solidFill>
                <a:latin typeface="Consolas"/>
              </a:rPr>
              <a:t> (etapa == </a:t>
            </a:r>
            <a:r>
              <a:rPr sz="1047">
                <a:solidFill>
                  <a:srgbClr val="F472B6"/>
                </a:solidFill>
                <a:latin typeface="Consolas"/>
              </a:rPr>
              <a:t>2</a:t>
            </a:r>
            <a:r>
              <a:rPr sz="1047">
                <a:solidFill>
                  <a:srgbClr val="E6EDF8"/>
                </a:solidFill>
                <a:latin typeface="Consolas"/>
              </a:rPr>
              <a:t> &amp;&amp; !travado) {</a:t>
            </a: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     ...</a:t>
            </a: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  }</a:t>
            </a: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047488"/>
            <a:ext cx="4617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6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>
                <a:solidFill>
                  <a:srgbClr val="E6EDF8"/>
                </a:solidFill>
                <a:latin typeface="Segoe UI"/>
              </a:rPr>
              <a:t>Um método gigante que faz tudo</a:t>
            </a:r>
          </a:p>
          <a:p>
            <a:pPr>
              <a:lnSpc>
                <a:spcPct val="118000"/>
              </a:lnSpc>
              <a:spcAft>
                <a:spcPts val="36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>
                <a:solidFill>
                  <a:srgbClr val="E6EDF8"/>
                </a:solidFill>
                <a:latin typeface="Segoe UI"/>
              </a:rPr>
              <a:t>Ninguém sabe quem controla o motor</a:t>
            </a:r>
          </a:p>
          <a:p>
            <a:pPr>
              <a:lnSpc>
                <a:spcPct val="118000"/>
              </a:lnSpc>
              <a:spcAft>
                <a:spcPts val="36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>
                <a:solidFill>
                  <a:srgbClr val="E6EDF8"/>
                </a:solidFill>
                <a:latin typeface="Segoe UI"/>
              </a:rPr>
              <a:t>Autônomo e teleop viram cópias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011680"/>
            <a:ext cx="5074920" cy="3108960"/>
          </a:xfrm>
          <a:prstGeom prst="roundRect">
            <a:avLst>
              <a:gd name="adj" fmla="val 6000"/>
            </a:avLst>
          </a:prstGeom>
          <a:solidFill>
            <a:srgbClr val="162238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4D399"/>
                </a:solidFill>
                <a:latin typeface="Segoe UI"/>
              </a:rPr>
              <a:t>Com Command-Based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606040"/>
            <a:ext cx="4617720" cy="224028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1150" i="1">
                <a:solidFill>
                  <a:srgbClr val="6B82A6"/>
                </a:solidFill>
                <a:latin typeface="Consolas"/>
              </a:rPr>
              <a:t>// RobotContainer: so declara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E6EDF8"/>
                </a:solidFill>
                <a:latin typeface="Consolas"/>
              </a:rPr>
              <a:t>drive.setDefaultCommand(teleop);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E6EDF8"/>
                </a:solidFill>
                <a:latin typeface="Consolas"/>
              </a:rPr>
              <a:t>autoChooser.addOption(</a:t>
            </a:r>
            <a:r>
              <a:rPr sz="1150">
                <a:solidFill>
                  <a:srgbClr val="FBBF24"/>
                </a:solidFill>
                <a:latin typeface="Consolas"/>
              </a:rPr>
              <a:t>"Auto 2"</a:t>
            </a:r>
            <a:r>
              <a:rPr sz="1150">
                <a:solidFill>
                  <a:srgbClr val="E6EDF8"/>
                </a:solidFill>
                <a:latin typeface="Consolas"/>
              </a:rPr>
              <a:t>,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E6EDF8"/>
                </a:solidFill>
                <a:latin typeface="Consolas"/>
              </a:rPr>
              <a:t>    </a:t>
            </a:r>
            <a:r>
              <a:rPr sz="1150">
                <a:solidFill>
                  <a:srgbClr val="A78BFA"/>
                </a:solidFill>
                <a:latin typeface="Consolas"/>
              </a:rPr>
              <a:t>new</a:t>
            </a:r>
            <a:r>
              <a:rPr sz="1150">
                <a:solidFill>
                  <a:srgbClr val="E6EDF8"/>
                </a:solidFill>
                <a:latin typeface="Consolas"/>
              </a:rPr>
              <a:t> </a:t>
            </a:r>
            <a:r>
              <a:rPr sz="1150">
                <a:solidFill>
                  <a:srgbClr val="34D399"/>
                </a:solidFill>
                <a:latin typeface="Consolas"/>
              </a:rPr>
              <a:t>SquareAutoCommand</a:t>
            </a:r>
            <a:r>
              <a:rPr sz="1150">
                <a:solidFill>
                  <a:srgbClr val="E6EDF8"/>
                </a:solidFill>
                <a:latin typeface="Consolas"/>
              </a:rPr>
              <a:t>(drive));</a:t>
            </a:r>
          </a:p>
          <a:p>
            <a:pPr algn="l">
              <a:lnSpc>
                <a:spcPct val="120000"/>
              </a:lnSpc>
            </a:pPr>
            <a:endParaRPr sz="1150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1150" i="1">
                <a:solidFill>
                  <a:srgbClr val="6B82A6"/>
                </a:solidFill>
                <a:latin typeface="Consolas"/>
              </a:rPr>
              <a:t>// Robot: so roda o scheduler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34D399"/>
                </a:solidFill>
                <a:latin typeface="Consolas"/>
              </a:rPr>
              <a:t>CommandScheduler</a:t>
            </a:r>
            <a:r>
              <a:rPr sz="1150">
                <a:solidFill>
                  <a:srgbClr val="E6EDF8"/>
                </a:solidFill>
                <a:latin typeface="Consolas"/>
              </a:rPr>
              <a:t>.getInstance().run();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047488"/>
            <a:ext cx="4617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36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>
                <a:solidFill>
                  <a:srgbClr val="E6EDF8"/>
                </a:solidFill>
                <a:latin typeface="Segoe UI"/>
              </a:rPr>
              <a:t>Cada recurso tem um dono (subsystem)</a:t>
            </a:r>
          </a:p>
          <a:p>
            <a:pPr>
              <a:lnSpc>
                <a:spcPct val="118000"/>
              </a:lnSpc>
              <a:spcAft>
                <a:spcPts val="36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>
                <a:solidFill>
                  <a:srgbClr val="E6EDF8"/>
                </a:solidFill>
                <a:latin typeface="Segoe UI"/>
              </a:rPr>
              <a:t>Cada comportamento é um objeto reusável</a:t>
            </a:r>
          </a:p>
          <a:p>
            <a:pPr>
              <a:lnSpc>
                <a:spcPct val="118000"/>
              </a:lnSpc>
              <a:spcAft>
                <a:spcPts val="36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>
                <a:solidFill>
                  <a:srgbClr val="E6EDF8"/>
                </a:solidFill>
                <a:latin typeface="Segoe UI"/>
              </a:rPr>
              <a:t>O scheduler resolve os conflitos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779008"/>
            <a:ext cx="10469880" cy="530352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" y="590702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2184" y="5870448"/>
            <a:ext cx="964691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Command-Based é declarativo: você descreve o robô e as regras; quem executa é o CommandScheduler.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CONCEITOS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As quatro peças — e só essas quatro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2450592" cy="324612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2011680"/>
            <a:ext cx="2450592" cy="91440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" y="226771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8D9F0"/>
                </a:solidFill>
                <a:latin typeface="Segoe UI"/>
              </a:rPr>
              <a:t>SUBSYSTEM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54203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FFFFFF"/>
                </a:solidFill>
                <a:latin typeface="Segoe UI"/>
              </a:rPr>
              <a:t>Subsystem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017520"/>
            <a:ext cx="2103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93A6C4"/>
                </a:solidFill>
                <a:latin typeface="Segoe UI"/>
              </a:rPr>
              <a:t>Um recurso físico do robô. Dono exclusivo de um conjunto de motores e sensores.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4526280"/>
            <a:ext cx="2103120" cy="566928"/>
          </a:xfrm>
          <a:prstGeom prst="roundRect">
            <a:avLst>
              <a:gd name="adj" fmla="val 2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461772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8D9F0"/>
                </a:solidFill>
                <a:latin typeface="Consolas"/>
              </a:rPr>
              <a:t>no lab: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8D9F0"/>
                </a:solidFill>
                <a:latin typeface="Consolas"/>
              </a:rPr>
              <a:t>OmnidriveSubsystem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2011680"/>
            <a:ext cx="2450592" cy="324612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47872" y="2011680"/>
            <a:ext cx="2450592" cy="914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49039" y="226771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BBF24"/>
                </a:solidFill>
                <a:latin typeface="Segoe UI"/>
              </a:rPr>
              <a:t>COMMAND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54203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FFFFFF"/>
                </a:solidFill>
                <a:latin typeface="Segoe UI"/>
              </a:rPr>
              <a:t>Command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017520"/>
            <a:ext cx="2103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93A6C4"/>
                </a:solidFill>
                <a:latin typeface="Segoe UI"/>
              </a:rPr>
              <a:t>Um comportamento com começo, meio e fim. Pede os subsystems que vai usar.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30752" y="4526280"/>
            <a:ext cx="2103120" cy="566928"/>
          </a:xfrm>
          <a:prstGeom prst="roundRect">
            <a:avLst>
              <a:gd name="adj" fmla="val 2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22191" y="461772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BBF24"/>
                </a:solidFill>
                <a:latin typeface="Consolas"/>
              </a:rPr>
              <a:t>no lab: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BBF24"/>
                </a:solidFill>
                <a:latin typeface="Consolas"/>
              </a:rPr>
              <a:t>DriveDistanceCommand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7064" y="2011680"/>
            <a:ext cx="2450592" cy="324612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27064" y="2011680"/>
            <a:ext cx="2450592" cy="914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226771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A78BFA"/>
                </a:solidFill>
                <a:latin typeface="Segoe UI"/>
              </a:rPr>
              <a:t>SCHEDULER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254203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FFFFFF"/>
                </a:solidFill>
                <a:latin typeface="Segoe UI"/>
              </a:rPr>
              <a:t>CommandScheduler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3017520"/>
            <a:ext cx="2103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93A6C4"/>
                </a:solidFill>
                <a:latin typeface="Segoe UI"/>
              </a:rPr>
              <a:t>O único executor. Roda os comandos, resolve conflitos e chama os periodic().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9944" y="4526280"/>
            <a:ext cx="2103120" cy="566928"/>
          </a:xfrm>
          <a:prstGeom prst="roundRect">
            <a:avLst>
              <a:gd name="adj" fmla="val 2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01384" y="461772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A78BFA"/>
                </a:solidFill>
                <a:latin typeface="Consolas"/>
              </a:rPr>
              <a:t>no lab: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A78BFA"/>
                </a:solidFill>
                <a:latin typeface="Consolas"/>
              </a:rPr>
              <a:t>CommandScheduler.run()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06256" y="2011680"/>
            <a:ext cx="2450592" cy="324612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906256" y="2011680"/>
            <a:ext cx="2450592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07424" y="226771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4D399"/>
                </a:solidFill>
                <a:latin typeface="Segoe UI"/>
              </a:rPr>
              <a:t>TRIGGER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07424" y="254203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 i="0">
                <a:solidFill>
                  <a:srgbClr val="FFFFFF"/>
                </a:solidFill>
                <a:latin typeface="Segoe UI"/>
              </a:rPr>
              <a:t>Trigger / Button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07424" y="3017520"/>
            <a:ext cx="2103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93A6C4"/>
                </a:solidFill>
                <a:latin typeface="Segoe UI"/>
              </a:rPr>
              <a:t>A condição que agenda um comando: botão, sensor, combinação lógica.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89136" y="4526280"/>
            <a:ext cx="2103120" cy="566928"/>
          </a:xfrm>
          <a:prstGeom prst="roundRect">
            <a:avLst>
              <a:gd name="adj" fmla="val 2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80576" y="4617720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4D399"/>
                </a:solidFill>
                <a:latin typeface="Consolas"/>
              </a:rPr>
              <a:t>no lab: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4D399"/>
                </a:solidFill>
                <a:latin typeface="Consolas"/>
              </a:rPr>
              <a:t>new JoystickButton(...)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5340096"/>
            <a:ext cx="10469880" cy="969264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69848" y="568756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72184" y="5431536"/>
            <a:ext cx="9646919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Regra de ouro: um recurso = um subsystem. Dois comandos nunca usam o mesmo subsystem ao mesmo tempo — o scheduler garante isso, e é esse detalhe que elimina a classe de bug “dois trechos brigando pelo mesmo motor”.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O CORAÇÃO DO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que acontece a cada 20 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57400"/>
            <a:ext cx="1845259" cy="1024128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6510">
            <a:solidFill>
              <a:srgbClr val="38D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7" y="2240280"/>
            <a:ext cx="16258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38D9F0"/>
                </a:solidFill>
                <a:latin typeface="Segoe UI"/>
              </a:rPr>
              <a:t>1. Lê triggers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569464"/>
            <a:ext cx="16258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botões / condições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755087" y="2487168"/>
            <a:ext cx="228600" cy="201168"/>
          </a:xfrm>
          <a:prstGeom prst="rightArrow">
            <a:avLst/>
          </a:prstGeom>
          <a:solidFill>
            <a:srgbClr val="5A6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024835" y="2057400"/>
            <a:ext cx="1845259" cy="1024128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651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34563" y="2240280"/>
            <a:ext cx="16258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A78BFA"/>
                </a:solidFill>
                <a:latin typeface="Segoe UI"/>
              </a:rPr>
              <a:t>2. Agenda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4563" y="2569464"/>
            <a:ext cx="16258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comandos novos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911242" y="2487168"/>
            <a:ext cx="228600" cy="201168"/>
          </a:xfrm>
          <a:prstGeom prst="rightArrow">
            <a:avLst/>
          </a:prstGeom>
          <a:solidFill>
            <a:srgbClr val="5A6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180990" y="2057400"/>
            <a:ext cx="1845259" cy="1024128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651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90718" y="2240280"/>
            <a:ext cx="16258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FBBF24"/>
                </a:solidFill>
                <a:latin typeface="Segoe UI"/>
              </a:rPr>
              <a:t>3. execute()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0718" y="2569464"/>
            <a:ext cx="16258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dos comandos ativos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67397" y="2487168"/>
            <a:ext cx="228600" cy="201168"/>
          </a:xfrm>
          <a:prstGeom prst="rightArrow">
            <a:avLst/>
          </a:prstGeom>
          <a:solidFill>
            <a:srgbClr val="5A6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337145" y="2057400"/>
            <a:ext cx="1845259" cy="1024128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651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46873" y="2240280"/>
            <a:ext cx="16258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34D399"/>
                </a:solidFill>
                <a:latin typeface="Segoe UI"/>
              </a:rPr>
              <a:t>4. isFinished()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6873" y="2569464"/>
            <a:ext cx="16258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terminou? end(false)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223552" y="2487168"/>
            <a:ext cx="228600" cy="201168"/>
          </a:xfrm>
          <a:prstGeom prst="rightArrow">
            <a:avLst/>
          </a:prstGeom>
          <a:solidFill>
            <a:srgbClr val="5A6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493300" y="2057400"/>
            <a:ext cx="1845259" cy="1024128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651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3028" y="2240280"/>
            <a:ext cx="16258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F472B6"/>
                </a:solidFill>
                <a:latin typeface="Segoe UI"/>
              </a:rPr>
              <a:t>5. periodic()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3028" y="2569464"/>
            <a:ext cx="162580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de cada subsystem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415930" y="3081528"/>
            <a:ext cx="0" cy="420624"/>
          </a:xfrm>
          <a:prstGeom prst="line">
            <a:avLst/>
          </a:prstGeom>
          <a:ln w="15875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1791309" y="3502152"/>
            <a:ext cx="8624621" cy="0"/>
          </a:xfrm>
          <a:prstGeom prst="line">
            <a:avLst/>
          </a:prstGeom>
          <a:ln w="15875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791309" y="3255264"/>
            <a:ext cx="0" cy="246888"/>
          </a:xfrm>
          <a:prstGeom prst="line">
            <a:avLst/>
          </a:prstGeom>
          <a:ln w="15875">
            <a:solidFill>
              <a:srgbClr val="5A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>
            <a:off x="1699869" y="3035808"/>
            <a:ext cx="182880" cy="182880"/>
          </a:xfrm>
          <a:prstGeom prst="triangle">
            <a:avLst/>
          </a:prstGeom>
          <a:solidFill>
            <a:srgbClr val="5A6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097779" y="3346704"/>
            <a:ext cx="2011680" cy="329184"/>
          </a:xfrm>
          <a:prstGeom prst="roundRect">
            <a:avLst>
              <a:gd name="adj" fmla="val 45000"/>
            </a:avLst>
          </a:prstGeom>
          <a:solidFill>
            <a:srgbClr val="0B1220"/>
          </a:solidFill>
          <a:ln w="12700">
            <a:solidFill>
              <a:srgbClr val="5A6C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repete a cada 20 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041648"/>
            <a:ext cx="10469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500">
                <a:solidFill>
                  <a:srgbClr val="38D9F0"/>
                </a:solidFill>
                <a:latin typeface="Segoe UI"/>
              </a:rPr>
              <a:t>▸  </a:t>
            </a:r>
            <a:r>
              <a:rPr sz="1500" b="1">
                <a:solidFill>
                  <a:srgbClr val="FBBF24"/>
                </a:solidFill>
                <a:latin typeface="Segoe UI"/>
              </a:rPr>
              <a:t>20 ms = 50 Hz. </a:t>
            </a:r>
            <a:r>
              <a:rPr sz="1500">
                <a:solidFill>
                  <a:srgbClr val="E6EDF8"/>
                </a:solidFill>
                <a:latin typeface="Segoe UI"/>
              </a:rPr>
              <a:t>É o período do TimedRobot. Todo execute() e todo periodic() roda nesse ritmo.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500">
                <a:solidFill>
                  <a:srgbClr val="38D9F0"/>
                </a:solidFill>
                <a:latin typeface="Segoe UI"/>
              </a:rPr>
              <a:t>▸  </a:t>
            </a:r>
            <a:r>
              <a:rPr sz="1500" b="1">
                <a:solidFill>
                  <a:srgbClr val="FBBF24"/>
                </a:solidFill>
                <a:latin typeface="Segoe UI"/>
              </a:rPr>
              <a:t>Ordem importa: </a:t>
            </a:r>
            <a:r>
              <a:rPr sz="1500">
                <a:solidFill>
                  <a:srgbClr val="E6EDF8"/>
                </a:solidFill>
                <a:latin typeface="Segoe UI"/>
              </a:rPr>
              <a:t>os commands rodam ANTES dos periodic() dos subsystems. Logo, o periodic() já vê o efeito do comando deste ciclo.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500">
                <a:solidFill>
                  <a:srgbClr val="38D9F0"/>
                </a:solidFill>
                <a:latin typeface="Segoe UI"/>
              </a:rPr>
              <a:t>▸  </a:t>
            </a:r>
            <a:r>
              <a:rPr sz="1500" b="1">
                <a:solidFill>
                  <a:srgbClr val="FBBF24"/>
                </a:solidFill>
                <a:latin typeface="Segoe UI"/>
              </a:rPr>
              <a:t>Nada bloqueia: </a:t>
            </a:r>
            <a:r>
              <a:rPr sz="1500">
                <a:solidFill>
                  <a:srgbClr val="E6EDF8"/>
                </a:solidFill>
                <a:latin typeface="Segoe UI"/>
              </a:rPr>
              <a:t>nunca use sleep, while(true) ou espera ocupada dentro de um comando — você travaria o robô inteiro, inclusive a odometria.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5559552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69848" y="579729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72184" y="5650992"/>
            <a:ext cx="964691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Se CommandScheduler.getInstance().run() não for chamado, NADA do Command-Based funciona: nenhum comando roda, nenhum periodic() é chamado, a odometria congela.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ROBOT.JAVA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arquivo que você quase não edita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7406640" cy="416052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995">
                <a:solidFill>
                  <a:srgbClr val="A78BFA"/>
                </a:solidFill>
                <a:latin typeface="Consolas"/>
              </a:rPr>
              <a:t>public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A78BFA"/>
                </a:solidFill>
                <a:latin typeface="Consolas"/>
              </a:rPr>
              <a:t>class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34D399"/>
                </a:solidFill>
                <a:latin typeface="Consolas"/>
              </a:rPr>
              <a:t>Robot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A78BFA"/>
                </a:solidFill>
                <a:latin typeface="Consolas"/>
              </a:rPr>
              <a:t>extends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34D399"/>
                </a:solidFill>
                <a:latin typeface="Consolas"/>
              </a:rPr>
              <a:t>TimedRobot</a:t>
            </a:r>
            <a:r>
              <a:rPr sz="995">
                <a:solidFill>
                  <a:srgbClr val="E6EDF8"/>
                </a:solidFill>
                <a:latin typeface="Consolas"/>
              </a:rPr>
              <a:t> {</a:t>
            </a:r>
          </a:p>
          <a:p>
            <a:pPr algn="l">
              <a:lnSpc>
                <a:spcPct val="120000"/>
              </a:lnSpc>
            </a:pPr>
            <a:r>
              <a:rPr sz="995">
                <a:solidFill>
                  <a:srgbClr val="E6EDF8"/>
                </a:solidFill>
                <a:latin typeface="Consolas"/>
              </a:rPr>
              <a:t>  </a:t>
            </a:r>
            <a:r>
              <a:rPr sz="995">
                <a:solidFill>
                  <a:srgbClr val="A78BFA"/>
                </a:solidFill>
                <a:latin typeface="Consolas"/>
              </a:rPr>
              <a:t>private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34D399"/>
                </a:solidFill>
                <a:latin typeface="Consolas"/>
              </a:rPr>
              <a:t>Command</a:t>
            </a:r>
            <a:r>
              <a:rPr sz="995">
                <a:solidFill>
                  <a:srgbClr val="E6EDF8"/>
                </a:solidFill>
                <a:latin typeface="Consolas"/>
              </a:rPr>
              <a:t> m_autonomousCommand;</a:t>
            </a:r>
          </a:p>
          <a:p>
            <a:pPr algn="l">
              <a:lnSpc>
                <a:spcPct val="120000"/>
              </a:lnSpc>
            </a:pPr>
            <a:r>
              <a:rPr sz="995">
                <a:solidFill>
                  <a:srgbClr val="E6EDF8"/>
                </a:solidFill>
                <a:latin typeface="Consolas"/>
              </a:rPr>
              <a:t>  </a:t>
            </a:r>
            <a:r>
              <a:rPr sz="995">
                <a:solidFill>
                  <a:srgbClr val="A78BFA"/>
                </a:solidFill>
                <a:latin typeface="Consolas"/>
              </a:rPr>
              <a:t>private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34D399"/>
                </a:solidFill>
                <a:latin typeface="Consolas"/>
              </a:rPr>
              <a:t>RobotContainer</a:t>
            </a:r>
            <a:r>
              <a:rPr sz="995">
                <a:solidFill>
                  <a:srgbClr val="E6EDF8"/>
                </a:solidFill>
                <a:latin typeface="Consolas"/>
              </a:rPr>
              <a:t> m_robotContainer;</a:t>
            </a:r>
          </a:p>
          <a:p>
            <a:pPr algn="l">
              <a:lnSpc>
                <a:spcPct val="120000"/>
              </a:lnSpc>
            </a:pPr>
            <a:endParaRPr sz="995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995">
                <a:solidFill>
                  <a:srgbClr val="E6EDF8"/>
                </a:solidFill>
                <a:latin typeface="Consolas"/>
              </a:rPr>
              <a:t>  </a:t>
            </a:r>
            <a:r>
              <a:rPr sz="995">
                <a:solidFill>
                  <a:srgbClr val="FB8E3C"/>
                </a:solidFill>
                <a:latin typeface="Consolas"/>
              </a:rPr>
              <a:t>@Override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A78BFA"/>
                </a:solidFill>
                <a:latin typeface="Consolas"/>
              </a:rPr>
              <a:t>public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A78BFA"/>
                </a:solidFill>
                <a:latin typeface="Consolas"/>
              </a:rPr>
              <a:t>void</a:t>
            </a:r>
            <a:r>
              <a:rPr sz="995">
                <a:solidFill>
                  <a:srgbClr val="E6EDF8"/>
                </a:solidFill>
                <a:latin typeface="Consolas"/>
              </a:rPr>
              <a:t> robotInit() {</a:t>
            </a:r>
          </a:p>
          <a:p>
            <a:pPr algn="l">
              <a:lnSpc>
                <a:spcPct val="120000"/>
              </a:lnSpc>
            </a:pPr>
            <a:r>
              <a:rPr sz="995">
                <a:solidFill>
                  <a:srgbClr val="E6EDF8"/>
                </a:solidFill>
                <a:latin typeface="Consolas"/>
              </a:rPr>
              <a:t>    m_robotContainer = </a:t>
            </a:r>
            <a:r>
              <a:rPr sz="995">
                <a:solidFill>
                  <a:srgbClr val="A78BFA"/>
                </a:solidFill>
                <a:latin typeface="Consolas"/>
              </a:rPr>
              <a:t>new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34D399"/>
                </a:solidFill>
                <a:latin typeface="Consolas"/>
              </a:rPr>
              <a:t>RobotContainer</a:t>
            </a:r>
            <a:r>
              <a:rPr sz="995">
                <a:solidFill>
                  <a:srgbClr val="E6EDF8"/>
                </a:solidFill>
                <a:latin typeface="Consolas"/>
              </a:rPr>
              <a:t>();     </a:t>
            </a:r>
            <a:r>
              <a:rPr sz="995" i="1">
                <a:solidFill>
                  <a:srgbClr val="6B82A6"/>
                </a:solidFill>
                <a:latin typeface="Consolas"/>
              </a:rPr>
              <a:t>// cria tudo e liga os botoes</a:t>
            </a:r>
          </a:p>
          <a:p>
            <a:pPr algn="l">
              <a:lnSpc>
                <a:spcPct val="120000"/>
              </a:lnSpc>
            </a:pPr>
            <a:r>
              <a:rPr sz="995">
                <a:solidFill>
                  <a:srgbClr val="E6EDF8"/>
                </a:solidFill>
                <a:latin typeface="Consolas"/>
              </a:rPr>
              <a:t>  }</a:t>
            </a:r>
          </a:p>
          <a:p>
            <a:pPr algn="l">
              <a:lnSpc>
                <a:spcPct val="120000"/>
              </a:lnSpc>
            </a:pPr>
            <a:endParaRPr sz="995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995">
                <a:solidFill>
                  <a:srgbClr val="E6EDF8"/>
                </a:solidFill>
                <a:latin typeface="Consolas"/>
              </a:rPr>
              <a:t>  </a:t>
            </a:r>
            <a:r>
              <a:rPr sz="995">
                <a:solidFill>
                  <a:srgbClr val="FB8E3C"/>
                </a:solidFill>
                <a:latin typeface="Consolas"/>
              </a:rPr>
              <a:t>@Override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A78BFA"/>
                </a:solidFill>
                <a:latin typeface="Consolas"/>
              </a:rPr>
              <a:t>public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A78BFA"/>
                </a:solidFill>
                <a:latin typeface="Consolas"/>
              </a:rPr>
              <a:t>void</a:t>
            </a:r>
            <a:r>
              <a:rPr sz="995">
                <a:solidFill>
                  <a:srgbClr val="E6EDF8"/>
                </a:solidFill>
                <a:latin typeface="Consolas"/>
              </a:rPr>
              <a:t> robotPeriodic() {</a:t>
            </a:r>
          </a:p>
          <a:p>
            <a:pPr algn="l">
              <a:lnSpc>
                <a:spcPct val="120000"/>
              </a:lnSpc>
            </a:pPr>
            <a:r>
              <a:rPr sz="995">
                <a:solidFill>
                  <a:srgbClr val="E6EDF8"/>
                </a:solidFill>
                <a:latin typeface="Consolas"/>
              </a:rPr>
              <a:t>    </a:t>
            </a:r>
            <a:r>
              <a:rPr sz="995">
                <a:solidFill>
                  <a:srgbClr val="34D399"/>
                </a:solidFill>
                <a:latin typeface="Consolas"/>
              </a:rPr>
              <a:t>CommandScheduler</a:t>
            </a:r>
            <a:r>
              <a:rPr sz="995">
                <a:solidFill>
                  <a:srgbClr val="E6EDF8"/>
                </a:solidFill>
                <a:latin typeface="Consolas"/>
              </a:rPr>
              <a:t>.getInstance().run();        </a:t>
            </a:r>
            <a:r>
              <a:rPr sz="995" i="1">
                <a:solidFill>
                  <a:srgbClr val="6B82A6"/>
                </a:solidFill>
                <a:latin typeface="Consolas"/>
              </a:rPr>
              <a:t>// &lt;&lt;&lt; roda em TODOS os modos</a:t>
            </a:r>
          </a:p>
          <a:p>
            <a:pPr algn="l">
              <a:lnSpc>
                <a:spcPct val="120000"/>
              </a:lnSpc>
            </a:pPr>
            <a:r>
              <a:rPr sz="995">
                <a:solidFill>
                  <a:srgbClr val="E6EDF8"/>
                </a:solidFill>
                <a:latin typeface="Consolas"/>
              </a:rPr>
              <a:t>  }</a:t>
            </a:r>
          </a:p>
          <a:p>
            <a:pPr algn="l">
              <a:lnSpc>
                <a:spcPct val="120000"/>
              </a:lnSpc>
            </a:pPr>
            <a:endParaRPr sz="995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995">
                <a:solidFill>
                  <a:srgbClr val="E6EDF8"/>
                </a:solidFill>
                <a:latin typeface="Consolas"/>
              </a:rPr>
              <a:t>  </a:t>
            </a:r>
            <a:r>
              <a:rPr sz="995">
                <a:solidFill>
                  <a:srgbClr val="FB8E3C"/>
                </a:solidFill>
                <a:latin typeface="Consolas"/>
              </a:rPr>
              <a:t>@Override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A78BFA"/>
                </a:solidFill>
                <a:latin typeface="Consolas"/>
              </a:rPr>
              <a:t>public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A78BFA"/>
                </a:solidFill>
                <a:latin typeface="Consolas"/>
              </a:rPr>
              <a:t>void</a:t>
            </a:r>
            <a:r>
              <a:rPr sz="995">
                <a:solidFill>
                  <a:srgbClr val="E6EDF8"/>
                </a:solidFill>
                <a:latin typeface="Consolas"/>
              </a:rPr>
              <a:t> autonomousInit() {</a:t>
            </a:r>
          </a:p>
          <a:p>
            <a:pPr algn="l">
              <a:lnSpc>
                <a:spcPct val="120000"/>
              </a:lnSpc>
            </a:pPr>
            <a:r>
              <a:rPr sz="995">
                <a:solidFill>
                  <a:srgbClr val="E6EDF8"/>
                </a:solidFill>
                <a:latin typeface="Consolas"/>
              </a:rPr>
              <a:t>    m_autonomousCommand = m_robotContainer.getAutonomousCommand();</a:t>
            </a:r>
          </a:p>
          <a:p>
            <a:pPr algn="l">
              <a:lnSpc>
                <a:spcPct val="120000"/>
              </a:lnSpc>
            </a:pPr>
            <a:r>
              <a:rPr sz="995">
                <a:solidFill>
                  <a:srgbClr val="E6EDF8"/>
                </a:solidFill>
                <a:latin typeface="Consolas"/>
              </a:rPr>
              <a:t>    </a:t>
            </a:r>
            <a:r>
              <a:rPr sz="995">
                <a:solidFill>
                  <a:srgbClr val="A78BFA"/>
                </a:solidFill>
                <a:latin typeface="Consolas"/>
              </a:rPr>
              <a:t>if</a:t>
            </a:r>
            <a:r>
              <a:rPr sz="995">
                <a:solidFill>
                  <a:srgbClr val="E6EDF8"/>
                </a:solidFill>
                <a:latin typeface="Consolas"/>
              </a:rPr>
              <a:t> (m_autonomousCommand != </a:t>
            </a:r>
            <a:r>
              <a:rPr sz="995">
                <a:solidFill>
                  <a:srgbClr val="A78BFA"/>
                </a:solidFill>
                <a:latin typeface="Consolas"/>
              </a:rPr>
              <a:t>null</a:t>
            </a:r>
            <a:r>
              <a:rPr sz="995">
                <a:solidFill>
                  <a:srgbClr val="E6EDF8"/>
                </a:solidFill>
                <a:latin typeface="Consolas"/>
              </a:rPr>
              <a:t>) m_autonomousCommand.schedule();</a:t>
            </a:r>
          </a:p>
          <a:p>
            <a:pPr algn="l">
              <a:lnSpc>
                <a:spcPct val="120000"/>
              </a:lnSpc>
            </a:pPr>
            <a:r>
              <a:rPr sz="995">
                <a:solidFill>
                  <a:srgbClr val="E6EDF8"/>
                </a:solidFill>
                <a:latin typeface="Consolas"/>
              </a:rPr>
              <a:t>  }</a:t>
            </a:r>
          </a:p>
          <a:p>
            <a:pPr algn="l">
              <a:lnSpc>
                <a:spcPct val="120000"/>
              </a:lnSpc>
            </a:pPr>
            <a:endParaRPr sz="995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995">
                <a:solidFill>
                  <a:srgbClr val="E6EDF8"/>
                </a:solidFill>
                <a:latin typeface="Consolas"/>
              </a:rPr>
              <a:t>  </a:t>
            </a:r>
            <a:r>
              <a:rPr sz="995">
                <a:solidFill>
                  <a:srgbClr val="FB8E3C"/>
                </a:solidFill>
                <a:latin typeface="Consolas"/>
              </a:rPr>
              <a:t>@Override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A78BFA"/>
                </a:solidFill>
                <a:latin typeface="Consolas"/>
              </a:rPr>
              <a:t>public</a:t>
            </a:r>
            <a:r>
              <a:rPr sz="995">
                <a:solidFill>
                  <a:srgbClr val="E6EDF8"/>
                </a:solidFill>
                <a:latin typeface="Consolas"/>
              </a:rPr>
              <a:t> </a:t>
            </a:r>
            <a:r>
              <a:rPr sz="995">
                <a:solidFill>
                  <a:srgbClr val="A78BFA"/>
                </a:solidFill>
                <a:latin typeface="Consolas"/>
              </a:rPr>
              <a:t>void</a:t>
            </a:r>
            <a:r>
              <a:rPr sz="995">
                <a:solidFill>
                  <a:srgbClr val="E6EDF8"/>
                </a:solidFill>
                <a:latin typeface="Consolas"/>
              </a:rPr>
              <a:t> teleopInit() {</a:t>
            </a:r>
          </a:p>
          <a:p>
            <a:pPr algn="l">
              <a:lnSpc>
                <a:spcPct val="120000"/>
              </a:lnSpc>
            </a:pPr>
            <a:r>
              <a:rPr sz="995">
                <a:solidFill>
                  <a:srgbClr val="E6EDF8"/>
                </a:solidFill>
                <a:latin typeface="Consolas"/>
              </a:rPr>
              <a:t>    </a:t>
            </a:r>
            <a:r>
              <a:rPr sz="995">
                <a:solidFill>
                  <a:srgbClr val="A78BFA"/>
                </a:solidFill>
                <a:latin typeface="Consolas"/>
              </a:rPr>
              <a:t>if</a:t>
            </a:r>
            <a:r>
              <a:rPr sz="995">
                <a:solidFill>
                  <a:srgbClr val="E6EDF8"/>
                </a:solidFill>
                <a:latin typeface="Consolas"/>
              </a:rPr>
              <a:t> (m_autonomousCommand != </a:t>
            </a:r>
            <a:r>
              <a:rPr sz="995">
                <a:solidFill>
                  <a:srgbClr val="A78BFA"/>
                </a:solidFill>
                <a:latin typeface="Consolas"/>
              </a:rPr>
              <a:t>null</a:t>
            </a:r>
            <a:r>
              <a:rPr sz="995">
                <a:solidFill>
                  <a:srgbClr val="E6EDF8"/>
                </a:solidFill>
                <a:latin typeface="Consolas"/>
              </a:rPr>
              <a:t>) m_autonomousCommand.cancel();</a:t>
            </a:r>
          </a:p>
          <a:p>
            <a:pPr algn="l">
              <a:lnSpc>
                <a:spcPct val="120000"/>
              </a:lnSpc>
            </a:pPr>
            <a:r>
              <a:rPr sz="995">
                <a:solidFill>
                  <a:srgbClr val="E6EDF8"/>
                </a:solidFill>
                <a:latin typeface="Consolas"/>
              </a:rPr>
              <a:t>  }</a:t>
            </a:r>
          </a:p>
          <a:p>
            <a:pPr algn="l">
              <a:lnSpc>
                <a:spcPct val="120000"/>
              </a:lnSpc>
            </a:pPr>
            <a:r>
              <a:rPr sz="995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1033272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Robot.java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10312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robotPeriodic </a:t>
            </a:r>
            <a:r>
              <a:rPr sz="1300">
                <a:solidFill>
                  <a:srgbClr val="E6EDF8"/>
                </a:solidFill>
                <a:latin typeface="Segoe UI"/>
              </a:rPr>
              <a:t>roda em disabled, autônomo, teleop e test.</a:t>
            </a:r>
          </a:p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autonomousInit </a:t>
            </a:r>
            <a:r>
              <a:rPr sz="1300">
                <a:solidFill>
                  <a:srgbClr val="E6EDF8"/>
                </a:solidFill>
                <a:latin typeface="Segoe UI"/>
              </a:rPr>
              <a:t>só agenda o comando que o chooser selecionou.</a:t>
            </a:r>
          </a:p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teleopInit </a:t>
            </a:r>
            <a:r>
              <a:rPr sz="1300">
                <a:solidFill>
                  <a:srgbClr val="E6EDF8"/>
                </a:solidFill>
                <a:latin typeface="Segoe UI"/>
              </a:rPr>
              <a:t>cancela o autônomo — senão os dois disputariam o drive.</a:t>
            </a:r>
          </a:p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Zero lógica </a:t>
            </a:r>
            <a:r>
              <a:rPr sz="1300">
                <a:solidFill>
                  <a:srgbClr val="E6EDF8"/>
                </a:solidFill>
                <a:latin typeface="Segoe UI"/>
              </a:rPr>
              <a:t>de robô aqui. Tudo mora em RobotContainer.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4480560"/>
            <a:ext cx="2834640" cy="1645920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05088" y="516636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424" y="4572000"/>
            <a:ext cx="201168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teleopPeriodic() está VAZIO e isso é proposital: o joystick é um default command do subsystem, não código solto no periodic.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SUBSYSTEM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dono exclusivo do hardware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6903720" cy="338328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1042">
                <a:solidFill>
                  <a:srgbClr val="A78BFA"/>
                </a:solidFill>
                <a:latin typeface="Consolas"/>
              </a:rPr>
              <a:t>public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A78BFA"/>
                </a:solidFill>
                <a:latin typeface="Consolas"/>
              </a:rPr>
              <a:t>class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34D399"/>
                </a:solidFill>
                <a:latin typeface="Consolas"/>
              </a:rPr>
              <a:t>OmnidriveSubsystem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A78BFA"/>
                </a:solidFill>
                <a:latin typeface="Consolas"/>
              </a:rPr>
              <a:t>extends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34D399"/>
                </a:solidFill>
                <a:latin typeface="Consolas"/>
              </a:rPr>
              <a:t>SubsystemBase</a:t>
            </a:r>
            <a:r>
              <a:rPr sz="1042">
                <a:solidFill>
                  <a:srgbClr val="E6EDF8"/>
                </a:solidFill>
                <a:latin typeface="Consolas"/>
              </a:rPr>
              <a:t> {</a:t>
            </a: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E6EDF8"/>
                </a:solidFill>
                <a:latin typeface="Consolas"/>
              </a:rPr>
              <a:t>  </a:t>
            </a:r>
            <a:r>
              <a:rPr sz="1042">
                <a:solidFill>
                  <a:srgbClr val="A78BFA"/>
                </a:solidFill>
                <a:latin typeface="Consolas"/>
              </a:rPr>
              <a:t>private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A78BFA"/>
                </a:solidFill>
                <a:latin typeface="Consolas"/>
              </a:rPr>
              <a:t>final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34D399"/>
                </a:solidFill>
                <a:latin typeface="Consolas"/>
              </a:rPr>
              <a:t>Titan</a:t>
            </a:r>
            <a:r>
              <a:rPr sz="1042">
                <a:solidFill>
                  <a:srgbClr val="E6EDF8"/>
                </a:solidFill>
                <a:latin typeface="Consolas"/>
              </a:rPr>
              <a:t> titan0;                 </a:t>
            </a:r>
            <a:r>
              <a:rPr sz="1042" i="1">
                <a:solidFill>
                  <a:srgbClr val="6B82A6"/>
                </a:solidFill>
                <a:latin typeface="Consolas"/>
              </a:rPr>
              <a:t>// hardware so aqui dentro</a:t>
            </a: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E6EDF8"/>
                </a:solidFill>
                <a:latin typeface="Consolas"/>
              </a:rPr>
              <a:t>  </a:t>
            </a:r>
            <a:r>
              <a:rPr sz="1042">
                <a:solidFill>
                  <a:srgbClr val="A78BFA"/>
                </a:solidFill>
                <a:latin typeface="Consolas"/>
              </a:rPr>
              <a:t>private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A78BFA"/>
                </a:solidFill>
                <a:latin typeface="Consolas"/>
              </a:rPr>
              <a:t>final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34D399"/>
                </a:solidFill>
                <a:latin typeface="Consolas"/>
              </a:rPr>
              <a:t>Titan</a:t>
            </a:r>
            <a:r>
              <a:rPr sz="1042">
                <a:solidFill>
                  <a:srgbClr val="E6EDF8"/>
                </a:solidFill>
                <a:latin typeface="Consolas"/>
              </a:rPr>
              <a:t>.</a:t>
            </a:r>
            <a:r>
              <a:rPr sz="1042">
                <a:solidFill>
                  <a:srgbClr val="34D399"/>
                </a:solidFill>
                <a:latin typeface="Consolas"/>
              </a:rPr>
              <a:t>Motor</a:t>
            </a:r>
            <a:r>
              <a:rPr sz="1042">
                <a:solidFill>
                  <a:srgbClr val="E6EDF8"/>
                </a:solidFill>
                <a:latin typeface="Consolas"/>
              </a:rPr>
              <a:t> motor1, motor2, motor3;</a:t>
            </a: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E6EDF8"/>
                </a:solidFill>
                <a:latin typeface="Consolas"/>
              </a:rPr>
              <a:t>  </a:t>
            </a:r>
            <a:r>
              <a:rPr sz="1042">
                <a:solidFill>
                  <a:srgbClr val="A78BFA"/>
                </a:solidFill>
                <a:latin typeface="Consolas"/>
              </a:rPr>
              <a:t>private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A78BFA"/>
                </a:solidFill>
                <a:latin typeface="Consolas"/>
              </a:rPr>
              <a:t>final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34D399"/>
                </a:solidFill>
                <a:latin typeface="Consolas"/>
              </a:rPr>
              <a:t>Titan</a:t>
            </a:r>
            <a:r>
              <a:rPr sz="1042">
                <a:solidFill>
                  <a:srgbClr val="E6EDF8"/>
                </a:solidFill>
                <a:latin typeface="Consolas"/>
              </a:rPr>
              <a:t>.</a:t>
            </a:r>
            <a:r>
              <a:rPr sz="1042">
                <a:solidFill>
                  <a:srgbClr val="34D399"/>
                </a:solidFill>
                <a:latin typeface="Consolas"/>
              </a:rPr>
              <a:t>Encoder</a:t>
            </a:r>
            <a:r>
              <a:rPr sz="1042">
                <a:solidFill>
                  <a:srgbClr val="E6EDF8"/>
                </a:solidFill>
                <a:latin typeface="Consolas"/>
              </a:rPr>
              <a:t> encoder1, encoder2, encoder3;</a:t>
            </a: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E6EDF8"/>
                </a:solidFill>
                <a:latin typeface="Consolas"/>
              </a:rPr>
              <a:t>  </a:t>
            </a:r>
            <a:r>
              <a:rPr sz="1042">
                <a:solidFill>
                  <a:srgbClr val="A78BFA"/>
                </a:solidFill>
                <a:latin typeface="Consolas"/>
              </a:rPr>
              <a:t>private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A78BFA"/>
                </a:solidFill>
                <a:latin typeface="Consolas"/>
              </a:rPr>
              <a:t>final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34D399"/>
                </a:solidFill>
                <a:latin typeface="Consolas"/>
              </a:rPr>
              <a:t>AHRS</a:t>
            </a:r>
            <a:r>
              <a:rPr sz="1042">
                <a:solidFill>
                  <a:srgbClr val="E6EDF8"/>
                </a:solidFill>
                <a:latin typeface="Consolas"/>
              </a:rPr>
              <a:t> ahrs;                    </a:t>
            </a:r>
            <a:r>
              <a:rPr sz="1042" i="1">
                <a:solidFill>
                  <a:srgbClr val="6B82A6"/>
                </a:solidFill>
                <a:latin typeface="Consolas"/>
              </a:rPr>
              <a:t>// navX</a:t>
            </a: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E6EDF8"/>
                </a:solidFill>
                <a:latin typeface="Consolas"/>
              </a:rPr>
              <a:t>  </a:t>
            </a:r>
            <a:r>
              <a:rPr sz="1042">
                <a:solidFill>
                  <a:srgbClr val="A78BFA"/>
                </a:solidFill>
                <a:latin typeface="Consolas"/>
              </a:rPr>
              <a:t>private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A78BFA"/>
                </a:solidFill>
                <a:latin typeface="Consolas"/>
              </a:rPr>
              <a:t>final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34D399"/>
                </a:solidFill>
                <a:latin typeface="Consolas"/>
              </a:rPr>
              <a:t>Odometry</a:t>
            </a:r>
            <a:r>
              <a:rPr sz="1042">
                <a:solidFill>
                  <a:srgbClr val="E6EDF8"/>
                </a:solidFill>
                <a:latin typeface="Consolas"/>
              </a:rPr>
              <a:t> odometry = </a:t>
            </a:r>
            <a:r>
              <a:rPr sz="1042">
                <a:solidFill>
                  <a:srgbClr val="A78BFA"/>
                </a:solidFill>
                <a:latin typeface="Consolas"/>
              </a:rPr>
              <a:t>new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34D399"/>
                </a:solidFill>
                <a:latin typeface="Consolas"/>
              </a:rPr>
              <a:t>Odometry</a:t>
            </a:r>
            <a:r>
              <a:rPr sz="1042">
                <a:solidFill>
                  <a:srgbClr val="E6EDF8"/>
                </a:solidFill>
                <a:latin typeface="Consolas"/>
              </a:rPr>
              <a:t>();</a:t>
            </a:r>
          </a:p>
          <a:p>
            <a:pPr algn="l">
              <a:lnSpc>
                <a:spcPct val="120000"/>
              </a:lnSpc>
            </a:pPr>
            <a:endParaRPr sz="1042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E6EDF8"/>
                </a:solidFill>
                <a:latin typeface="Consolas"/>
              </a:rPr>
              <a:t>  </a:t>
            </a:r>
            <a:r>
              <a:rPr sz="1042">
                <a:solidFill>
                  <a:srgbClr val="A78BFA"/>
                </a:solidFill>
                <a:latin typeface="Consolas"/>
              </a:rPr>
              <a:t>public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34D399"/>
                </a:solidFill>
                <a:latin typeface="Consolas"/>
              </a:rPr>
              <a:t>OmnidriveSubsystem</a:t>
            </a:r>
            <a:r>
              <a:rPr sz="1042">
                <a:solidFill>
                  <a:srgbClr val="E6EDF8"/>
                </a:solidFill>
                <a:latin typeface="Consolas"/>
              </a:rPr>
              <a:t>() {</a:t>
            </a: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E6EDF8"/>
                </a:solidFill>
                <a:latin typeface="Consolas"/>
              </a:rPr>
              <a:t>    titan0   = </a:t>
            </a:r>
            <a:r>
              <a:rPr sz="1042">
                <a:solidFill>
                  <a:srgbClr val="A78BFA"/>
                </a:solidFill>
                <a:latin typeface="Consolas"/>
              </a:rPr>
              <a:t>new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34D399"/>
                </a:solidFill>
                <a:latin typeface="Consolas"/>
              </a:rPr>
              <a:t>Titan</a:t>
            </a:r>
            <a:r>
              <a:rPr sz="1042">
                <a:solidFill>
                  <a:srgbClr val="E6EDF8"/>
                </a:solidFill>
                <a:latin typeface="Consolas"/>
              </a:rPr>
              <a:t>(</a:t>
            </a:r>
            <a:r>
              <a:rPr sz="1042">
                <a:solidFill>
                  <a:srgbClr val="34D399"/>
                </a:solidFill>
                <a:latin typeface="Consolas"/>
              </a:rPr>
              <a:t>DriveConstants</a:t>
            </a:r>
            <a:r>
              <a:rPr sz="1042">
                <a:solidFill>
                  <a:srgbClr val="E6EDF8"/>
                </a:solidFill>
                <a:latin typeface="Consolas"/>
              </a:rPr>
              <a:t>.kTitanCanId);</a:t>
            </a: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E6EDF8"/>
                </a:solidFill>
                <a:latin typeface="Consolas"/>
              </a:rPr>
              <a:t>    motor1   = titan0.getMotor(</a:t>
            </a:r>
            <a:r>
              <a:rPr sz="1042">
                <a:solidFill>
                  <a:srgbClr val="34D399"/>
                </a:solidFill>
                <a:latin typeface="Consolas"/>
              </a:rPr>
              <a:t>DriveConstants</a:t>
            </a:r>
            <a:r>
              <a:rPr sz="1042">
                <a:solidFill>
                  <a:srgbClr val="E6EDF8"/>
                </a:solidFill>
                <a:latin typeface="Consolas"/>
              </a:rPr>
              <a:t>.kMotor1Channel);</a:t>
            </a: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E6EDF8"/>
                </a:solidFill>
                <a:latin typeface="Consolas"/>
              </a:rPr>
              <a:t>    encoder1 = titan0.getEncoder(</a:t>
            </a:r>
            <a:r>
              <a:rPr sz="1042">
                <a:solidFill>
                  <a:srgbClr val="34D399"/>
                </a:solidFill>
                <a:latin typeface="Consolas"/>
              </a:rPr>
              <a:t>DriveConstants</a:t>
            </a:r>
            <a:r>
              <a:rPr sz="1042">
                <a:solidFill>
                  <a:srgbClr val="E6EDF8"/>
                </a:solidFill>
                <a:latin typeface="Consolas"/>
              </a:rPr>
              <a:t>.kEncoder1Channel,</a:t>
            </a: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E6EDF8"/>
                </a:solidFill>
                <a:latin typeface="Consolas"/>
              </a:rPr>
              <a:t>                                 </a:t>
            </a:r>
            <a:r>
              <a:rPr sz="1042">
                <a:solidFill>
                  <a:srgbClr val="34D399"/>
                </a:solidFill>
                <a:latin typeface="Consolas"/>
              </a:rPr>
              <a:t>DriveConstants</a:t>
            </a:r>
            <a:r>
              <a:rPr sz="1042">
                <a:solidFill>
                  <a:srgbClr val="E6EDF8"/>
                </a:solidFill>
                <a:latin typeface="Consolas"/>
              </a:rPr>
              <a:t>.kEncoderDistancePerTick);</a:t>
            </a: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E6EDF8"/>
                </a:solidFill>
                <a:latin typeface="Consolas"/>
              </a:rPr>
              <a:t>    motorSettings();   resetEncoders();        </a:t>
            </a:r>
            <a:r>
              <a:rPr sz="1042" i="1">
                <a:solidFill>
                  <a:srgbClr val="6B82A6"/>
                </a:solidFill>
                <a:latin typeface="Consolas"/>
              </a:rPr>
              <a:t>// ... idem motor2/3 e encoder2/3</a:t>
            </a: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E6EDF8"/>
                </a:solidFill>
                <a:latin typeface="Consolas"/>
              </a:rPr>
              <a:t>    ahrs = </a:t>
            </a:r>
            <a:r>
              <a:rPr sz="1042">
                <a:solidFill>
                  <a:srgbClr val="A78BFA"/>
                </a:solidFill>
                <a:latin typeface="Consolas"/>
              </a:rPr>
              <a:t>new</a:t>
            </a:r>
            <a:r>
              <a:rPr sz="1042">
                <a:solidFill>
                  <a:srgbClr val="E6EDF8"/>
                </a:solidFill>
                <a:latin typeface="Consolas"/>
              </a:rPr>
              <a:t> </a:t>
            </a:r>
            <a:r>
              <a:rPr sz="1042">
                <a:solidFill>
                  <a:srgbClr val="34D399"/>
                </a:solidFill>
                <a:latin typeface="Consolas"/>
              </a:rPr>
              <a:t>AHRS</a:t>
            </a:r>
            <a:r>
              <a:rPr sz="1042">
                <a:solidFill>
                  <a:srgbClr val="E6EDF8"/>
                </a:solidFill>
                <a:latin typeface="Consolas"/>
              </a:rPr>
              <a:t>(</a:t>
            </a:r>
            <a:r>
              <a:rPr sz="1042">
                <a:solidFill>
                  <a:srgbClr val="34D399"/>
                </a:solidFill>
                <a:latin typeface="Consolas"/>
              </a:rPr>
              <a:t>SPI</a:t>
            </a:r>
            <a:r>
              <a:rPr sz="1042">
                <a:solidFill>
                  <a:srgbClr val="E6EDF8"/>
                </a:solidFill>
                <a:latin typeface="Consolas"/>
              </a:rPr>
              <a:t>.</a:t>
            </a:r>
            <a:r>
              <a:rPr sz="1042">
                <a:solidFill>
                  <a:srgbClr val="34D399"/>
                </a:solidFill>
                <a:latin typeface="Consolas"/>
              </a:rPr>
              <a:t>Port</a:t>
            </a:r>
            <a:r>
              <a:rPr sz="1042">
                <a:solidFill>
                  <a:srgbClr val="E6EDF8"/>
                </a:solidFill>
                <a:latin typeface="Consolas"/>
              </a:rPr>
              <a:t>.kMXP);   resetHeading();</a:t>
            </a: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E6EDF8"/>
                </a:solidFill>
                <a:latin typeface="Consolas"/>
              </a:rPr>
              <a:t>  }</a:t>
            </a:r>
          </a:p>
          <a:p>
            <a:pPr algn="l">
              <a:lnSpc>
                <a:spcPct val="120000"/>
              </a:lnSpc>
            </a:pPr>
            <a:r>
              <a:rPr sz="1042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2019909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OmnidriveSubsystem.java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10312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extends SubsystemBase </a:t>
            </a:r>
            <a:r>
              <a:rPr sz="1300">
                <a:solidFill>
                  <a:srgbClr val="E6EDF8"/>
                </a:solidFill>
                <a:latin typeface="Segoe UI"/>
              </a:rPr>
              <a:t>já registra o subsystem no scheduler.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private final </a:t>
            </a:r>
            <a:r>
              <a:rPr sz="1300">
                <a:solidFill>
                  <a:srgbClr val="E6EDF8"/>
                </a:solidFill>
                <a:latin typeface="Segoe UI"/>
              </a:rPr>
              <a:t>nenhuma outra classe toca no motor. Quem quer mover o robô chama um método público.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Construtor </a:t>
            </a:r>
            <a:r>
              <a:rPr sz="1300">
                <a:solidFill>
                  <a:srgbClr val="E6EDF8"/>
                </a:solidFill>
                <a:latin typeface="Segoe UI"/>
              </a:rPr>
              <a:t>= configurar e deixar o hardware em estado conhecido.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559552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9848" y="579729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2184" y="5650992"/>
            <a:ext cx="964691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Métodos públicos do subsystem são VERBOS curtos e não bloqueantes: driveRobotOriented(), driveFieldOriented(), stop(), resetEncoders(), getPose().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PERIODIC()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relógio particular do subsystem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6309360" cy="192024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971">
                <a:solidFill>
                  <a:srgbClr val="FB8E3C"/>
                </a:solidFill>
                <a:latin typeface="Consolas"/>
              </a:rPr>
              <a:t>@Override</a:t>
            </a:r>
          </a:p>
          <a:p>
            <a:pPr algn="l">
              <a:lnSpc>
                <a:spcPct val="120000"/>
              </a:lnSpc>
            </a:pPr>
            <a:r>
              <a:rPr sz="971">
                <a:solidFill>
                  <a:srgbClr val="A78BFA"/>
                </a:solidFill>
                <a:latin typeface="Consolas"/>
              </a:rPr>
              <a:t>public</a:t>
            </a:r>
            <a:r>
              <a:rPr sz="971">
                <a:solidFill>
                  <a:srgbClr val="E6EDF8"/>
                </a:solidFill>
                <a:latin typeface="Consolas"/>
              </a:rPr>
              <a:t> </a:t>
            </a:r>
            <a:r>
              <a:rPr sz="971">
                <a:solidFill>
                  <a:srgbClr val="A78BFA"/>
                </a:solidFill>
                <a:latin typeface="Consolas"/>
              </a:rPr>
              <a:t>void</a:t>
            </a:r>
            <a:r>
              <a:rPr sz="971">
                <a:solidFill>
                  <a:srgbClr val="E6EDF8"/>
                </a:solidFill>
                <a:latin typeface="Consolas"/>
              </a:rPr>
              <a:t> periodic() {</a:t>
            </a:r>
          </a:p>
          <a:p>
            <a:pPr algn="l">
              <a:lnSpc>
                <a:spcPct val="120000"/>
              </a:lnSpc>
            </a:pPr>
            <a:r>
              <a:rPr sz="971">
                <a:solidFill>
                  <a:srgbClr val="E6EDF8"/>
                </a:solidFill>
                <a:latin typeface="Consolas"/>
              </a:rPr>
              <a:t>  </a:t>
            </a:r>
            <a:r>
              <a:rPr sz="971" i="1">
                <a:solidFill>
                  <a:srgbClr val="6B82A6"/>
                </a:solidFill>
                <a:latin typeface="Consolas"/>
              </a:rPr>
              <a:t>// Odometria: precisa rodar TODO ciclo, senao o deslocamento entre</a:t>
            </a:r>
          </a:p>
          <a:p>
            <a:pPr algn="l">
              <a:lnSpc>
                <a:spcPct val="120000"/>
              </a:lnSpc>
            </a:pPr>
            <a:r>
              <a:rPr sz="971">
                <a:solidFill>
                  <a:srgbClr val="E6EDF8"/>
                </a:solidFill>
                <a:latin typeface="Consolas"/>
              </a:rPr>
              <a:t>  </a:t>
            </a:r>
            <a:r>
              <a:rPr sz="971" i="1">
                <a:solidFill>
                  <a:srgbClr val="6B82A6"/>
                </a:solidFill>
                <a:latin typeface="Consolas"/>
              </a:rPr>
              <a:t>// duas atualizacoes vira uma reta e a curva e perdida.</a:t>
            </a:r>
          </a:p>
          <a:p>
            <a:pPr algn="l">
              <a:lnSpc>
                <a:spcPct val="120000"/>
              </a:lnSpc>
            </a:pPr>
            <a:r>
              <a:rPr sz="971">
                <a:solidFill>
                  <a:srgbClr val="E6EDF8"/>
                </a:solidFill>
                <a:latin typeface="Consolas"/>
              </a:rPr>
              <a:t>  </a:t>
            </a:r>
            <a:r>
              <a:rPr sz="971">
                <a:solidFill>
                  <a:srgbClr val="A78BFA"/>
                </a:solidFill>
                <a:latin typeface="Consolas"/>
              </a:rPr>
              <a:t>double</a:t>
            </a:r>
            <a:r>
              <a:rPr sz="971">
                <a:solidFill>
                  <a:srgbClr val="E6EDF8"/>
                </a:solidFill>
                <a:latin typeface="Consolas"/>
              </a:rPr>
              <a:t>[] d = getEncoderDistances();</a:t>
            </a:r>
          </a:p>
          <a:p>
            <a:pPr algn="l">
              <a:lnSpc>
                <a:spcPct val="120000"/>
              </a:lnSpc>
            </a:pPr>
            <a:r>
              <a:rPr sz="971">
                <a:solidFill>
                  <a:srgbClr val="E6EDF8"/>
                </a:solidFill>
                <a:latin typeface="Consolas"/>
              </a:rPr>
              <a:t>  odometry.update(getRotation2d(), d[</a:t>
            </a:r>
            <a:r>
              <a:rPr sz="971">
                <a:solidFill>
                  <a:srgbClr val="F472B6"/>
                </a:solidFill>
                <a:latin typeface="Consolas"/>
              </a:rPr>
              <a:t>0</a:t>
            </a:r>
            <a:r>
              <a:rPr sz="971">
                <a:solidFill>
                  <a:srgbClr val="E6EDF8"/>
                </a:solidFill>
                <a:latin typeface="Consolas"/>
              </a:rPr>
              <a:t>], d[</a:t>
            </a:r>
            <a:r>
              <a:rPr sz="971">
                <a:solidFill>
                  <a:srgbClr val="F472B6"/>
                </a:solidFill>
                <a:latin typeface="Consolas"/>
              </a:rPr>
              <a:t>1</a:t>
            </a:r>
            <a:r>
              <a:rPr sz="971">
                <a:solidFill>
                  <a:srgbClr val="E6EDF8"/>
                </a:solidFill>
                <a:latin typeface="Consolas"/>
              </a:rPr>
              <a:t>], d[</a:t>
            </a:r>
            <a:r>
              <a:rPr sz="971">
                <a:solidFill>
                  <a:srgbClr val="F472B6"/>
                </a:solidFill>
                <a:latin typeface="Consolas"/>
              </a:rPr>
              <a:t>2</a:t>
            </a:r>
            <a:r>
              <a:rPr sz="971">
                <a:solidFill>
                  <a:srgbClr val="E6EDF8"/>
                </a:solidFill>
                <a:latin typeface="Consolas"/>
              </a:rPr>
              <a:t>]);</a:t>
            </a:r>
          </a:p>
          <a:p>
            <a:pPr algn="l">
              <a:lnSpc>
                <a:spcPct val="120000"/>
              </a:lnSpc>
            </a:pPr>
            <a:endParaRPr sz="971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971">
                <a:solidFill>
                  <a:srgbClr val="E6EDF8"/>
                </a:solidFill>
                <a:latin typeface="Consolas"/>
              </a:rPr>
              <a:t>  publishTelemetry();</a:t>
            </a:r>
          </a:p>
          <a:p>
            <a:pPr algn="l">
              <a:lnSpc>
                <a:spcPct val="120000"/>
              </a:lnSpc>
            </a:pPr>
            <a:r>
              <a:rPr sz="971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1033272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periodic()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114800"/>
            <a:ext cx="6309360" cy="13716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68680" y="4242816"/>
            <a:ext cx="50292" cy="111556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4297680"/>
            <a:ext cx="58338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Segoe UI"/>
              </a:rPr>
              <a:t>O que ENTRA no periodic()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645152"/>
            <a:ext cx="5833872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Leitura de sensores, atualização de estimadores de estado (odometria!), telemetria, verificações de segurança. Tudo que precisa acontecer sempre, independente do comando ativo.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011680"/>
            <a:ext cx="3913632" cy="192024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06640" y="2139696"/>
            <a:ext cx="50292" cy="166420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80960" y="2194560"/>
            <a:ext cx="34381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72B6"/>
                </a:solidFill>
                <a:latin typeface="Segoe UI"/>
              </a:rPr>
              <a:t>O que NÃO entra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542032"/>
            <a:ext cx="3438144" cy="1261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Decidir para onde o robô vai. Essa decisão é do comando. Se o periodic() mandar potência no motor, ele briga com o comando ativo.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4114800"/>
            <a:ext cx="3913632" cy="13716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06640" y="4242816"/>
            <a:ext cx="50292" cy="11155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0" y="4297680"/>
            <a:ext cx="34381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BBF24"/>
                </a:solidFill>
                <a:latin typeface="Segoe UI"/>
              </a:rPr>
              <a:t>Por que todo ciclo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645152"/>
            <a:ext cx="3438144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A odometria integra deltas. Se você pular ciclos, cada passo fica maior e a aproximação do arco piora — o erro cresce nas curvas.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559552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579729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72184" y="5650992"/>
            <a:ext cx="964691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periodic() roda mesmo com o robô desabilitado. É por isso que você pode empurrar o robô na mão e ver a pose mudar no dashboard — excelente teste.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COMMAND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Ciclo de vida: quatro métodos, nada mais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214884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6510">
            <a:solidFill>
              <a:srgbClr val="38D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2276856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8D9F0"/>
                </a:solidFill>
                <a:latin typeface="Consolas"/>
              </a:rPr>
              <a:t>initialize()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587752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93A6C4"/>
                </a:solidFill>
                <a:latin typeface="Segoe UI"/>
              </a:rPr>
              <a:t>1x, ao ser agendado</a:t>
            </a:r>
          </a:p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93A6C4"/>
                </a:solidFill>
                <a:latin typeface="Segoe UI"/>
              </a:rPr>
              <a:t>zera encoders, guarda rumo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25646" y="2487168"/>
            <a:ext cx="292608" cy="219456"/>
          </a:xfrm>
          <a:prstGeom prst="rightArrow">
            <a:avLst/>
          </a:prstGeom>
          <a:solidFill>
            <a:srgbClr val="5A6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52060" y="214884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651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43500" y="2276856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BBF24"/>
                </a:solidFill>
                <a:latin typeface="Consolas"/>
              </a:rPr>
              <a:t>execute()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3500" y="2587752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93A6C4"/>
                </a:solidFill>
                <a:latin typeface="Segoe UI"/>
              </a:rPr>
              <a:t>a cada 20 ms</a:t>
            </a:r>
          </a:p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93A6C4"/>
                </a:solidFill>
                <a:latin typeface="Segoe UI"/>
              </a:rPr>
              <a:t>calcula e manda potência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43266" y="2487168"/>
            <a:ext cx="292608" cy="219456"/>
          </a:xfrm>
          <a:prstGeom prst="rightArrow">
            <a:avLst/>
          </a:prstGeom>
          <a:solidFill>
            <a:srgbClr val="5A6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869680" y="214884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651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19" y="2276856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472B6"/>
                </a:solidFill>
                <a:latin typeface="Consolas"/>
              </a:rPr>
              <a:t>end(interrupted)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19" y="2587752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93A6C4"/>
                </a:solidFill>
                <a:latin typeface="Segoe UI"/>
              </a:rPr>
              <a:t>1x, ao sair</a:t>
            </a:r>
          </a:p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93A6C4"/>
                </a:solidFill>
                <a:latin typeface="Segoe UI"/>
              </a:rPr>
              <a:t>para os motores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303520" y="3063240"/>
            <a:ext cx="0" cy="347472"/>
          </a:xfrm>
          <a:prstGeom prst="line">
            <a:avLst/>
          </a:prstGeom>
          <a:ln w="15875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303520" y="3410712"/>
            <a:ext cx="1554480" cy="0"/>
          </a:xfrm>
          <a:prstGeom prst="line">
            <a:avLst/>
          </a:prstGeom>
          <a:ln w="15875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858000" y="3215030"/>
            <a:ext cx="0" cy="195682"/>
          </a:xfrm>
          <a:prstGeom prst="line">
            <a:avLst/>
          </a:prstGeom>
          <a:ln w="15875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>
            <a:off x="6775704" y="3017520"/>
            <a:ext cx="164592" cy="164592"/>
          </a:xfrm>
          <a:prstGeom prst="triangl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7720" y="346557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FBBF24"/>
                </a:solidFill>
                <a:latin typeface="Consolas"/>
              </a:rPr>
              <a:t>isFinished() == false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2612" y="1764792"/>
            <a:ext cx="166877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34D399"/>
                </a:solidFill>
                <a:latin typeface="Segoe UI"/>
              </a:rPr>
              <a:t>isFinished()</a:t>
            </a:r>
          </a:p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34D399"/>
                </a:solidFill>
                <a:latin typeface="Segoe UI"/>
              </a:rPr>
              <a:t>== true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34440" y="3931920"/>
            <a:ext cx="3188970" cy="548640"/>
          </a:xfrm>
          <a:prstGeom prst="roundRect">
            <a:avLst>
              <a:gd name="adj" fmla="val 20000"/>
            </a:avLst>
          </a:prstGeom>
          <a:solidFill>
            <a:srgbClr val="1E2E4A"/>
          </a:solidFill>
          <a:ln w="1524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Segoe UI"/>
              </a:rPr>
              <a:t>outro comando exige o mesmo subsystem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423410" y="4206240"/>
            <a:ext cx="5474970" cy="0"/>
          </a:xfrm>
          <a:prstGeom prst="line">
            <a:avLst/>
          </a:prstGeom>
          <a:ln w="15875">
            <a:solidFill>
              <a:srgbClr val="F472B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898380" y="3236976"/>
            <a:ext cx="0" cy="969264"/>
          </a:xfrm>
          <a:prstGeom prst="line">
            <a:avLst/>
          </a:prstGeom>
          <a:ln w="17780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>
            <a:off x="9806940" y="3017520"/>
            <a:ext cx="182880" cy="182880"/>
          </a:xfrm>
          <a:prstGeom prst="triangl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08107" y="362102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472B6"/>
                </a:solidFill>
                <a:latin typeface="Consolas"/>
              </a:rPr>
              <a:t>end(true)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4526280"/>
            <a:ext cx="10469880" cy="365760"/>
          </a:xfrm>
          <a:prstGeom prst="rect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14983" y="4526280"/>
            <a:ext cx="206654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Método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00984" y="4526280"/>
            <a:ext cx="298094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Quando roda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1384" y="4526280"/>
            <a:ext cx="47640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Para quê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3" y="4892040"/>
            <a:ext cx="206654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initialize()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00984" y="4892040"/>
            <a:ext cx="298094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1x, ao ser agendado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1384" y="4892040"/>
            <a:ext cx="47640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preparar: zerar encoders, guardar referência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5257800"/>
            <a:ext cx="10469880" cy="365760"/>
          </a:xfrm>
          <a:prstGeom prst="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14983" y="5257800"/>
            <a:ext cx="206654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execute()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00984" y="5257800"/>
            <a:ext cx="298094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a cada 20 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01384" y="5257800"/>
            <a:ext cx="47640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calcular e aplicar a ação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3" y="5623560"/>
            <a:ext cx="206654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isFinished()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00984" y="5623560"/>
            <a:ext cx="298094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a cada 20 ms, após execute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01384" y="5623560"/>
            <a:ext cx="47640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responder: já acabou?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80" y="5989320"/>
            <a:ext cx="10469880" cy="365760"/>
          </a:xfrm>
          <a:prstGeom prst="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14983" y="5989320"/>
            <a:ext cx="206654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end(interrupted)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00984" y="5989320"/>
            <a:ext cx="298094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1x, ao sair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01384" y="5989320"/>
            <a:ext cx="47640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limpar: parar motores, resetar filtros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COMMAND 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DriveDistanceCommand: andar N metros sem girar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7223760" cy="402336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1008">
                <a:solidFill>
                  <a:srgbClr val="A78BFA"/>
                </a:solidFill>
                <a:latin typeface="Consolas"/>
              </a:rPr>
              <a:t>public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A78BFA"/>
                </a:solidFill>
                <a:latin typeface="Consolas"/>
              </a:rPr>
              <a:t>class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34D399"/>
                </a:solidFill>
                <a:latin typeface="Consolas"/>
              </a:rPr>
              <a:t>DriveDistanceCommand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A78BFA"/>
                </a:solidFill>
                <a:latin typeface="Consolas"/>
              </a:rPr>
              <a:t>extends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34D399"/>
                </a:solidFill>
                <a:latin typeface="Consolas"/>
              </a:rPr>
              <a:t>CommandBase</a:t>
            </a:r>
            <a:r>
              <a:rPr sz="1008">
                <a:solidFill>
                  <a:srgbClr val="E6EDF8"/>
                </a:solidFill>
                <a:latin typeface="Consolas"/>
              </a:rPr>
              <a:t> {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</a:t>
            </a:r>
            <a:r>
              <a:rPr sz="1008">
                <a:solidFill>
                  <a:srgbClr val="A78BFA"/>
                </a:solidFill>
                <a:latin typeface="Consolas"/>
              </a:rPr>
              <a:t>public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34D399"/>
                </a:solidFill>
                <a:latin typeface="Consolas"/>
              </a:rPr>
              <a:t>DriveDistanceCommand</a:t>
            </a:r>
            <a:r>
              <a:rPr sz="1008">
                <a:solidFill>
                  <a:srgbClr val="E6EDF8"/>
                </a:solidFill>
                <a:latin typeface="Consolas"/>
              </a:rPr>
              <a:t>(</a:t>
            </a:r>
            <a:r>
              <a:rPr sz="1008">
                <a:solidFill>
                  <a:srgbClr val="34D399"/>
                </a:solidFill>
                <a:latin typeface="Consolas"/>
              </a:rPr>
              <a:t>OmnidriveSubsystem</a:t>
            </a:r>
            <a:r>
              <a:rPr sz="1008">
                <a:solidFill>
                  <a:srgbClr val="E6EDF8"/>
                </a:solidFill>
                <a:latin typeface="Consolas"/>
              </a:rPr>
              <a:t> drive,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                            </a:t>
            </a:r>
            <a:r>
              <a:rPr sz="1008">
                <a:solidFill>
                  <a:srgbClr val="A78BFA"/>
                </a:solidFill>
                <a:latin typeface="Consolas"/>
              </a:rPr>
              <a:t>double</a:t>
            </a:r>
            <a:r>
              <a:rPr sz="1008">
                <a:solidFill>
                  <a:srgbClr val="E6EDF8"/>
                </a:solidFill>
                <a:latin typeface="Consolas"/>
              </a:rPr>
              <a:t> dirX, </a:t>
            </a:r>
            <a:r>
              <a:rPr sz="1008">
                <a:solidFill>
                  <a:srgbClr val="A78BFA"/>
                </a:solidFill>
                <a:latin typeface="Consolas"/>
              </a:rPr>
              <a:t>double</a:t>
            </a:r>
            <a:r>
              <a:rPr sz="1008">
                <a:solidFill>
                  <a:srgbClr val="E6EDF8"/>
                </a:solidFill>
                <a:latin typeface="Consolas"/>
              </a:rPr>
              <a:t> dirY, </a:t>
            </a:r>
            <a:r>
              <a:rPr sz="1008">
                <a:solidFill>
                  <a:srgbClr val="A78BFA"/>
                </a:solidFill>
                <a:latin typeface="Consolas"/>
              </a:rPr>
              <a:t>double</a:t>
            </a:r>
            <a:r>
              <a:rPr sz="1008">
                <a:solidFill>
                  <a:srgbClr val="E6EDF8"/>
                </a:solidFill>
                <a:latin typeface="Consolas"/>
              </a:rPr>
              <a:t> meters) {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  </a:t>
            </a:r>
            <a:r>
              <a:rPr sz="1008">
                <a:solidFill>
                  <a:srgbClr val="A78BFA"/>
                </a:solidFill>
                <a:latin typeface="Consolas"/>
              </a:rPr>
              <a:t>this</a:t>
            </a:r>
            <a:r>
              <a:rPr sz="1008">
                <a:solidFill>
                  <a:srgbClr val="E6EDF8"/>
                </a:solidFill>
                <a:latin typeface="Consolas"/>
              </a:rPr>
              <a:t>.drive = drive;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  </a:t>
            </a:r>
            <a:r>
              <a:rPr sz="1008">
                <a:solidFill>
                  <a:srgbClr val="A78BFA"/>
                </a:solidFill>
                <a:latin typeface="Consolas"/>
              </a:rPr>
              <a:t>double</a:t>
            </a:r>
            <a:r>
              <a:rPr sz="1008">
                <a:solidFill>
                  <a:srgbClr val="E6EDF8"/>
                </a:solidFill>
                <a:latin typeface="Consolas"/>
              </a:rPr>
              <a:t> norm = </a:t>
            </a:r>
            <a:r>
              <a:rPr sz="1008">
                <a:solidFill>
                  <a:srgbClr val="34D399"/>
                </a:solidFill>
                <a:latin typeface="Consolas"/>
              </a:rPr>
              <a:t>Math</a:t>
            </a:r>
            <a:r>
              <a:rPr sz="1008">
                <a:solidFill>
                  <a:srgbClr val="E6EDF8"/>
                </a:solidFill>
                <a:latin typeface="Consolas"/>
              </a:rPr>
              <a:t>.hypot(dirX, dirY);          </a:t>
            </a:r>
            <a:r>
              <a:rPr sz="1008" i="1">
                <a:solidFill>
                  <a:srgbClr val="6B82A6"/>
                </a:solidFill>
                <a:latin typeface="Consolas"/>
              </a:rPr>
              <a:t>// normaliza a direcao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  </a:t>
            </a:r>
            <a:r>
              <a:rPr sz="1008">
                <a:solidFill>
                  <a:srgbClr val="A78BFA"/>
                </a:solidFill>
                <a:latin typeface="Consolas"/>
              </a:rPr>
              <a:t>if</a:t>
            </a:r>
            <a:r>
              <a:rPr sz="1008">
                <a:solidFill>
                  <a:srgbClr val="E6EDF8"/>
                </a:solidFill>
                <a:latin typeface="Consolas"/>
              </a:rPr>
              <a:t> (norm &lt; </a:t>
            </a:r>
            <a:r>
              <a:rPr sz="1008">
                <a:solidFill>
                  <a:srgbClr val="F472B6"/>
                </a:solidFill>
                <a:latin typeface="Consolas"/>
              </a:rPr>
              <a:t>1</a:t>
            </a:r>
            <a:r>
              <a:rPr sz="1008">
                <a:solidFill>
                  <a:srgbClr val="E6EDF8"/>
                </a:solidFill>
                <a:latin typeface="Consolas"/>
              </a:rPr>
              <a:t>e-</a:t>
            </a:r>
            <a:r>
              <a:rPr sz="1008">
                <a:solidFill>
                  <a:srgbClr val="F472B6"/>
                </a:solidFill>
                <a:latin typeface="Consolas"/>
              </a:rPr>
              <a:t>6</a:t>
            </a:r>
            <a:r>
              <a:rPr sz="1008">
                <a:solidFill>
                  <a:srgbClr val="E6EDF8"/>
                </a:solidFill>
                <a:latin typeface="Consolas"/>
              </a:rPr>
              <a:t>) norm = </a:t>
            </a:r>
            <a:r>
              <a:rPr sz="1008">
                <a:solidFill>
                  <a:srgbClr val="F472B6"/>
                </a:solidFill>
                <a:latin typeface="Consolas"/>
              </a:rPr>
              <a:t>1.0</a:t>
            </a:r>
            <a:r>
              <a:rPr sz="1008">
                <a:solidFill>
                  <a:srgbClr val="E6EDF8"/>
                </a:solidFill>
                <a:latin typeface="Consolas"/>
              </a:rPr>
              <a:t>;                   </a:t>
            </a:r>
            <a:r>
              <a:rPr sz="1008" i="1">
                <a:solidFill>
                  <a:srgbClr val="6B82A6"/>
                </a:solidFill>
                <a:latin typeface="Consolas"/>
              </a:rPr>
              <a:t>// evita divisao por zero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  </a:t>
            </a:r>
            <a:r>
              <a:rPr sz="1008">
                <a:solidFill>
                  <a:srgbClr val="A78BFA"/>
                </a:solidFill>
                <a:latin typeface="Consolas"/>
              </a:rPr>
              <a:t>this</a:t>
            </a:r>
            <a:r>
              <a:rPr sz="1008">
                <a:solidFill>
                  <a:srgbClr val="E6EDF8"/>
                </a:solidFill>
                <a:latin typeface="Consolas"/>
              </a:rPr>
              <a:t>.dirX = dirX / norm;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  </a:t>
            </a:r>
            <a:r>
              <a:rPr sz="1008">
                <a:solidFill>
                  <a:srgbClr val="A78BFA"/>
                </a:solidFill>
                <a:latin typeface="Consolas"/>
              </a:rPr>
              <a:t>this</a:t>
            </a:r>
            <a:r>
              <a:rPr sz="1008">
                <a:solidFill>
                  <a:srgbClr val="E6EDF8"/>
                </a:solidFill>
                <a:latin typeface="Consolas"/>
              </a:rPr>
              <a:t>.dirY = dirY / norm;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  </a:t>
            </a:r>
            <a:r>
              <a:rPr sz="1008">
                <a:solidFill>
                  <a:srgbClr val="A78BFA"/>
                </a:solidFill>
                <a:latin typeface="Consolas"/>
              </a:rPr>
              <a:t>this</a:t>
            </a:r>
            <a:r>
              <a:rPr sz="1008">
                <a:solidFill>
                  <a:srgbClr val="E6EDF8"/>
                </a:solidFill>
                <a:latin typeface="Consolas"/>
              </a:rPr>
              <a:t>.targetDistance = </a:t>
            </a:r>
            <a:r>
              <a:rPr sz="1008">
                <a:solidFill>
                  <a:srgbClr val="34D399"/>
                </a:solidFill>
                <a:latin typeface="Consolas"/>
              </a:rPr>
              <a:t>Math</a:t>
            </a:r>
            <a:r>
              <a:rPr sz="1008">
                <a:solidFill>
                  <a:srgbClr val="E6EDF8"/>
                </a:solidFill>
                <a:latin typeface="Consolas"/>
              </a:rPr>
              <a:t>.abs(meters);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  addRequirements(drive);                        </a:t>
            </a:r>
            <a:r>
              <a:rPr sz="1008" i="1">
                <a:solidFill>
                  <a:srgbClr val="6B82A6"/>
                </a:solidFill>
                <a:latin typeface="Consolas"/>
              </a:rPr>
              <a:t>// &lt;&lt;&lt; reserva o subsystem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}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</a:t>
            </a:r>
            <a:r>
              <a:rPr sz="1008">
                <a:solidFill>
                  <a:srgbClr val="FB8E3C"/>
                </a:solidFill>
                <a:latin typeface="Consolas"/>
              </a:rPr>
              <a:t>@Override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A78BFA"/>
                </a:solidFill>
                <a:latin typeface="Consolas"/>
              </a:rPr>
              <a:t>public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A78BFA"/>
                </a:solidFill>
                <a:latin typeface="Consolas"/>
              </a:rPr>
              <a:t>void</a:t>
            </a:r>
            <a:r>
              <a:rPr sz="1008">
                <a:solidFill>
                  <a:srgbClr val="E6EDF8"/>
                </a:solidFill>
                <a:latin typeface="Consolas"/>
              </a:rPr>
              <a:t> initialize() {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  drive.resetEncoders();                         </a:t>
            </a:r>
            <a:r>
              <a:rPr sz="1008" i="1">
                <a:solidFill>
                  <a:srgbClr val="6B82A6"/>
                </a:solidFill>
                <a:latin typeface="Consolas"/>
              </a:rPr>
              <a:t>// zera a regua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  startHeading = drive.getHeading();             </a:t>
            </a:r>
            <a:r>
              <a:rPr sz="1008" i="1">
                <a:solidFill>
                  <a:srgbClr val="6B82A6"/>
                </a:solidFill>
                <a:latin typeface="Consolas"/>
              </a:rPr>
              <a:t>// rumo de referencia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}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</a:t>
            </a:r>
            <a:r>
              <a:rPr sz="1008">
                <a:solidFill>
                  <a:srgbClr val="FB8E3C"/>
                </a:solidFill>
                <a:latin typeface="Consolas"/>
              </a:rPr>
              <a:t>@Override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A78BFA"/>
                </a:solidFill>
                <a:latin typeface="Consolas"/>
              </a:rPr>
              <a:t>public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A78BFA"/>
                </a:solidFill>
                <a:latin typeface="Consolas"/>
              </a:rPr>
              <a:t>boolean</a:t>
            </a:r>
            <a:r>
              <a:rPr sz="1008">
                <a:solidFill>
                  <a:srgbClr val="E6EDF8"/>
                </a:solidFill>
                <a:latin typeface="Consolas"/>
              </a:rPr>
              <a:t> isFinished() {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  </a:t>
            </a:r>
            <a:r>
              <a:rPr sz="1008">
                <a:solidFill>
                  <a:srgbClr val="A78BFA"/>
                </a:solidFill>
                <a:latin typeface="Consolas"/>
              </a:rPr>
              <a:t>return</a:t>
            </a:r>
            <a:r>
              <a:rPr sz="1008">
                <a:solidFill>
                  <a:srgbClr val="E6EDF8"/>
                </a:solidFill>
                <a:latin typeface="Consolas"/>
              </a:rPr>
              <a:t> traveledDistance() &gt;= targetDistance - kDistanceTolerance;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}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  </a:t>
            </a:r>
            <a:r>
              <a:rPr sz="1008">
                <a:solidFill>
                  <a:srgbClr val="FB8E3C"/>
                </a:solidFill>
                <a:latin typeface="Consolas"/>
              </a:rPr>
              <a:t>@Override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A78BFA"/>
                </a:solidFill>
                <a:latin typeface="Consolas"/>
              </a:rPr>
              <a:t>public</a:t>
            </a:r>
            <a:r>
              <a:rPr sz="1008">
                <a:solidFill>
                  <a:srgbClr val="E6EDF8"/>
                </a:solidFill>
                <a:latin typeface="Consolas"/>
              </a:rPr>
              <a:t> </a:t>
            </a:r>
            <a:r>
              <a:rPr sz="1008">
                <a:solidFill>
                  <a:srgbClr val="A78BFA"/>
                </a:solidFill>
                <a:latin typeface="Consolas"/>
              </a:rPr>
              <a:t>void</a:t>
            </a:r>
            <a:r>
              <a:rPr sz="1008">
                <a:solidFill>
                  <a:srgbClr val="E6EDF8"/>
                </a:solidFill>
                <a:latin typeface="Consolas"/>
              </a:rPr>
              <a:t> end(</a:t>
            </a:r>
            <a:r>
              <a:rPr sz="1008">
                <a:solidFill>
                  <a:srgbClr val="A78BFA"/>
                </a:solidFill>
                <a:latin typeface="Consolas"/>
              </a:rPr>
              <a:t>boolean</a:t>
            </a:r>
            <a:r>
              <a:rPr sz="1008">
                <a:solidFill>
                  <a:srgbClr val="E6EDF8"/>
                </a:solidFill>
                <a:latin typeface="Consolas"/>
              </a:rPr>
              <a:t> interrupted) { drive.stop(); }</a:t>
            </a:r>
          </a:p>
          <a:p>
            <a:pPr algn="l">
              <a:lnSpc>
                <a:spcPct val="120000"/>
              </a:lnSpc>
            </a:pPr>
            <a:r>
              <a:rPr sz="1008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2171700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DriveDistanceCommand.java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10312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Construtor </a:t>
            </a:r>
            <a:r>
              <a:rPr sz="1250">
                <a:solidFill>
                  <a:srgbClr val="E6EDF8"/>
                </a:solidFill>
                <a:latin typeface="Segoe UI"/>
              </a:rPr>
              <a:t>só guarda parâmetros — o robô ainda não existe em movimento.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initialize() </a:t>
            </a:r>
            <a:r>
              <a:rPr sz="1250">
                <a:solidFill>
                  <a:srgbClr val="E6EDF8"/>
                </a:solidFill>
                <a:latin typeface="Segoe UI"/>
              </a:rPr>
              <a:t>é o lugar de zerar a medição. Fazer isso no construtor seria um bug: o comando pode ser reusado.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isFinished() </a:t>
            </a:r>
            <a:r>
              <a:rPr sz="1250">
                <a:solidFill>
                  <a:srgbClr val="E6EDF8"/>
                </a:solidFill>
                <a:latin typeface="Segoe UI"/>
              </a:rPr>
              <a:t>mede distância real por encoder — não depende de tempo nem de bateria.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end() </a:t>
            </a:r>
            <a:r>
              <a:rPr sz="1250">
                <a:solidFill>
                  <a:srgbClr val="E6EDF8"/>
                </a:solidFill>
                <a:latin typeface="Segoe UI"/>
              </a:rPr>
              <a:t>sempre para o motor, inclusive quando interrompido.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COMMAND 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execute(): rampa de frenagem + correção de rumo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7406640" cy="393192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1092">
                <a:solidFill>
                  <a:srgbClr val="FB8E3C"/>
                </a:solidFill>
                <a:latin typeface="Consolas"/>
              </a:rPr>
              <a:t>@Override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A78BFA"/>
                </a:solidFill>
                <a:latin typeface="Consolas"/>
              </a:rPr>
              <a:t>public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A78BFA"/>
                </a:solidFill>
                <a:latin typeface="Consolas"/>
              </a:rPr>
              <a:t>void</a:t>
            </a:r>
            <a:r>
              <a:rPr sz="1092">
                <a:solidFill>
                  <a:srgbClr val="E6EDF8"/>
                </a:solidFill>
                <a:latin typeface="Consolas"/>
              </a:rPr>
              <a:t> execute() {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</a:t>
            </a:r>
            <a:r>
              <a:rPr sz="1092">
                <a:solidFill>
                  <a:srgbClr val="A78BFA"/>
                </a:solidFill>
                <a:latin typeface="Consolas"/>
              </a:rPr>
              <a:t>double</a:t>
            </a:r>
            <a:r>
              <a:rPr sz="1092">
                <a:solidFill>
                  <a:srgbClr val="E6EDF8"/>
                </a:solidFill>
                <a:latin typeface="Consolas"/>
              </a:rPr>
              <a:t> remaining = targetDistance - traveledDistance();</a:t>
            </a:r>
          </a:p>
          <a:p>
            <a:pPr algn="l">
              <a:lnSpc>
                <a:spcPct val="120000"/>
              </a:lnSpc>
            </a:pPr>
            <a:endParaRPr sz="1092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</a:t>
            </a:r>
            <a:r>
              <a:rPr sz="1092" i="1">
                <a:solidFill>
                  <a:srgbClr val="6B82A6"/>
                </a:solidFill>
                <a:latin typeface="Consolas"/>
              </a:rPr>
              <a:t>// Rampa de desaceleracao nos ultimos centimetros, para nao passar do ponto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</a:t>
            </a:r>
            <a:r>
              <a:rPr sz="1092">
                <a:solidFill>
                  <a:srgbClr val="A78BFA"/>
                </a:solidFill>
                <a:latin typeface="Consolas"/>
              </a:rPr>
              <a:t>double</a:t>
            </a:r>
            <a:r>
              <a:rPr sz="1092">
                <a:solidFill>
                  <a:srgbClr val="E6EDF8"/>
                </a:solidFill>
                <a:latin typeface="Consolas"/>
              </a:rPr>
              <a:t> speed = </a:t>
            </a:r>
            <a:r>
              <a:rPr sz="1092">
                <a:solidFill>
                  <a:srgbClr val="34D399"/>
                </a:solidFill>
                <a:latin typeface="Consolas"/>
              </a:rPr>
              <a:t>AutoConstants</a:t>
            </a:r>
            <a:r>
              <a:rPr sz="1092">
                <a:solidFill>
                  <a:srgbClr val="E6EDF8"/>
                </a:solidFill>
                <a:latin typeface="Consolas"/>
              </a:rPr>
              <a:t>.kDriveSpeed;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</a:t>
            </a:r>
            <a:r>
              <a:rPr sz="1092">
                <a:solidFill>
                  <a:srgbClr val="A78BFA"/>
                </a:solidFill>
                <a:latin typeface="Consolas"/>
              </a:rPr>
              <a:t>if</a:t>
            </a:r>
            <a:r>
              <a:rPr sz="1092">
                <a:solidFill>
                  <a:srgbClr val="E6EDF8"/>
                </a:solidFill>
                <a:latin typeface="Consolas"/>
              </a:rPr>
              <a:t> (remaining &lt; </a:t>
            </a:r>
            <a:r>
              <a:rPr sz="1092">
                <a:solidFill>
                  <a:srgbClr val="34D399"/>
                </a:solidFill>
                <a:latin typeface="Consolas"/>
              </a:rPr>
              <a:t>AutoConstants</a:t>
            </a:r>
            <a:r>
              <a:rPr sz="1092">
                <a:solidFill>
                  <a:srgbClr val="E6EDF8"/>
                </a:solidFill>
                <a:latin typeface="Consolas"/>
              </a:rPr>
              <a:t>.kRampDownDistance) {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  speed *= remaining / </a:t>
            </a:r>
            <a:r>
              <a:rPr sz="1092">
                <a:solidFill>
                  <a:srgbClr val="34D399"/>
                </a:solidFill>
                <a:latin typeface="Consolas"/>
              </a:rPr>
              <a:t>AutoConstants</a:t>
            </a:r>
            <a:r>
              <a:rPr sz="1092">
                <a:solidFill>
                  <a:srgbClr val="E6EDF8"/>
                </a:solidFill>
                <a:latin typeface="Consolas"/>
              </a:rPr>
              <a:t>.kRampDownDistance;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}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speed = </a:t>
            </a:r>
            <a:r>
              <a:rPr sz="1092">
                <a:solidFill>
                  <a:srgbClr val="34D399"/>
                </a:solidFill>
                <a:latin typeface="Consolas"/>
              </a:rPr>
              <a:t>Math</a:t>
            </a:r>
            <a:r>
              <a:rPr sz="1092">
                <a:solidFill>
                  <a:srgbClr val="E6EDF8"/>
                </a:solidFill>
                <a:latin typeface="Consolas"/>
              </a:rPr>
              <a:t>.max(speed, </a:t>
            </a:r>
            <a:r>
              <a:rPr sz="1092">
                <a:solidFill>
                  <a:srgbClr val="34D399"/>
                </a:solidFill>
                <a:latin typeface="Consolas"/>
              </a:rPr>
              <a:t>AutoConstants</a:t>
            </a:r>
            <a:r>
              <a:rPr sz="1092">
                <a:solidFill>
                  <a:srgbClr val="E6EDF8"/>
                </a:solidFill>
                <a:latin typeface="Consolas"/>
              </a:rPr>
              <a:t>.kMinDriveSpeed);  </a:t>
            </a:r>
            <a:r>
              <a:rPr sz="1092" i="1">
                <a:solidFill>
                  <a:srgbClr val="6B82A6"/>
                </a:solidFill>
                <a:latin typeface="Consolas"/>
              </a:rPr>
              <a:t>// piso: vence o atrito</a:t>
            </a:r>
          </a:p>
          <a:p>
            <a:pPr algn="l">
              <a:lnSpc>
                <a:spcPct val="120000"/>
              </a:lnSpc>
            </a:pPr>
            <a:endParaRPr sz="1092" i="1">
              <a:solidFill>
                <a:srgbClr val="6B82A6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</a:t>
            </a:r>
            <a:r>
              <a:rPr sz="1092" i="1">
                <a:solidFill>
                  <a:srgbClr val="6B82A6"/>
                </a:solidFill>
                <a:latin typeface="Consolas"/>
              </a:rPr>
              <a:t>// Correcao proporcional para o robo nao "abrir" o rumo enquanto anda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</a:t>
            </a:r>
            <a:r>
              <a:rPr sz="1092">
                <a:solidFill>
                  <a:srgbClr val="A78BFA"/>
                </a:solidFill>
                <a:latin typeface="Consolas"/>
              </a:rPr>
              <a:t>double</a:t>
            </a:r>
            <a:r>
              <a:rPr sz="1092">
                <a:solidFill>
                  <a:srgbClr val="E6EDF8"/>
                </a:solidFill>
                <a:latin typeface="Consolas"/>
              </a:rPr>
              <a:t> headingError = startHeading - drive.getHeading();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</a:t>
            </a:r>
            <a:r>
              <a:rPr sz="1092">
                <a:solidFill>
                  <a:srgbClr val="A78BFA"/>
                </a:solidFill>
                <a:latin typeface="Consolas"/>
              </a:rPr>
              <a:t>double</a:t>
            </a:r>
            <a:r>
              <a:rPr sz="1092">
                <a:solidFill>
                  <a:srgbClr val="E6EDF8"/>
                </a:solidFill>
                <a:latin typeface="Consolas"/>
              </a:rPr>
              <a:t> turn = headingError * </a:t>
            </a:r>
            <a:r>
              <a:rPr sz="1092">
                <a:solidFill>
                  <a:srgbClr val="34D399"/>
                </a:solidFill>
                <a:latin typeface="Consolas"/>
              </a:rPr>
              <a:t>AutoConstants</a:t>
            </a:r>
            <a:r>
              <a:rPr sz="1092">
                <a:solidFill>
                  <a:srgbClr val="E6EDF8"/>
                </a:solidFill>
                <a:latin typeface="Consolas"/>
              </a:rPr>
              <a:t>.kHeadingP;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turn = </a:t>
            </a:r>
            <a:r>
              <a:rPr sz="1092">
                <a:solidFill>
                  <a:srgbClr val="34D399"/>
                </a:solidFill>
                <a:latin typeface="Consolas"/>
              </a:rPr>
              <a:t>Math</a:t>
            </a:r>
            <a:r>
              <a:rPr sz="1092">
                <a:solidFill>
                  <a:srgbClr val="E6EDF8"/>
                </a:solidFill>
                <a:latin typeface="Consolas"/>
              </a:rPr>
              <a:t>.max(-kMaxTurnOutput, </a:t>
            </a:r>
            <a:r>
              <a:rPr sz="1092">
                <a:solidFill>
                  <a:srgbClr val="34D399"/>
                </a:solidFill>
                <a:latin typeface="Consolas"/>
              </a:rPr>
              <a:t>Math</a:t>
            </a:r>
            <a:r>
              <a:rPr sz="1092">
                <a:solidFill>
                  <a:srgbClr val="E6EDF8"/>
                </a:solidFill>
                <a:latin typeface="Consolas"/>
              </a:rPr>
              <a:t>.min(kMaxTurnOutput, turn));  </a:t>
            </a:r>
            <a:r>
              <a:rPr sz="1092" i="1">
                <a:solidFill>
                  <a:srgbClr val="6B82A6"/>
                </a:solidFill>
                <a:latin typeface="Consolas"/>
              </a:rPr>
              <a:t>// teto</a:t>
            </a:r>
          </a:p>
          <a:p>
            <a:pPr algn="l">
              <a:lnSpc>
                <a:spcPct val="120000"/>
              </a:lnSpc>
            </a:pPr>
            <a:endParaRPr sz="1092" i="1">
              <a:solidFill>
                <a:srgbClr val="6B82A6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drive.driveFieldOriented(dirX * speed, dirY * speed, turn);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957376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execute()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10312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Rampa </a:t>
            </a:r>
            <a:r>
              <a:rPr sz="1250">
                <a:solidFill>
                  <a:srgbClr val="E6EDF8"/>
                </a:solidFill>
                <a:latin typeface="Segoe UI"/>
              </a:rPr>
              <a:t>evita passar do alvo: perto do fim, velocidade cai proporcionalmente.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Piso </a:t>
            </a:r>
            <a:r>
              <a:rPr sz="1250">
                <a:solidFill>
                  <a:srgbClr val="E6EDF8"/>
                </a:solidFill>
                <a:latin typeface="Segoe UI"/>
              </a:rPr>
              <a:t>kMinDriveSpeed: abaixo disso o robô não vence o atrito e para antes.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Correção P </a:t>
            </a:r>
            <a:r>
              <a:rPr sz="1250">
                <a:solidFill>
                  <a:srgbClr val="E6EDF8"/>
                </a:solidFill>
                <a:latin typeface="Segoe UI"/>
              </a:rPr>
              <a:t>de rumo: o giro residual é corrigido, com teto para não virar rotação.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4434840"/>
            <a:ext cx="2834640" cy="1691640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05088" y="514350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BF24"/>
                </a:solidFill>
                <a:latin typeface="Segoe UI"/>
              </a:rPr>
              <a:t>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424" y="4526279"/>
            <a:ext cx="2011680" cy="1508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Controlador proporcional (P) escrito à mão. Se o robô girar em vez de corrigir, o sinal está invertido — use -0.010.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ADDREQUIREMENTS()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A regra que impede dois comandos de brigar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29968"/>
            <a:ext cx="10469880" cy="1627632"/>
          </a:xfrm>
          <a:prstGeom prst="roundRect">
            <a:avLst>
              <a:gd name="adj" fmla="val 6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88720" y="2249424"/>
            <a:ext cx="2651760" cy="1143000"/>
          </a:xfrm>
          <a:prstGeom prst="roundRect">
            <a:avLst>
              <a:gd name="adj" fmla="val 12000"/>
            </a:avLst>
          </a:prstGeom>
          <a:solidFill>
            <a:srgbClr val="1E2E4A"/>
          </a:solidFill>
          <a:ln w="1651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FBBF24"/>
                </a:solidFill>
                <a:latin typeface="Segoe UI"/>
              </a:rPr>
              <a:t>Comando A</a:t>
            </a:r>
          </a:p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FBBF24"/>
                </a:solidFill>
                <a:latin typeface="Segoe UI"/>
              </a:rPr>
              <a:t>(default: joystick)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2249424"/>
            <a:ext cx="2651760" cy="1143000"/>
          </a:xfrm>
          <a:prstGeom prst="roundRect">
            <a:avLst>
              <a:gd name="adj" fmla="val 12000"/>
            </a:avLst>
          </a:prstGeom>
          <a:solidFill>
            <a:srgbClr val="1E2E4A"/>
          </a:solidFill>
          <a:ln w="16510">
            <a:solidFill>
              <a:srgbClr val="38D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38D9F0"/>
                </a:solidFill>
                <a:latin typeface="Segoe UI"/>
              </a:rPr>
              <a:t>Comando B</a:t>
            </a:r>
          </a:p>
          <a:p>
            <a:pPr algn="ctr">
              <a:lnSpc>
                <a:spcPct val="105000"/>
              </a:lnSpc>
            </a:pPr>
            <a:r>
              <a:rPr sz="1250" b="0">
                <a:solidFill>
                  <a:srgbClr val="38D9F0"/>
                </a:solidFill>
                <a:latin typeface="Segoe UI"/>
              </a:rPr>
              <a:t>(SquareAutoCommand)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340864"/>
            <a:ext cx="2743200" cy="96012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34D399"/>
                </a:solidFill>
                <a:latin typeface="Consolas"/>
              </a:rPr>
              <a:t>OmnidriveSubsystem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77639" y="2697480"/>
            <a:ext cx="502920" cy="256032"/>
          </a:xfrm>
          <a:prstGeom prst="rightArrow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Left Arrow 12"/>
          <p:cNvSpPr/>
          <p:nvPr/>
        </p:nvSpPr>
        <p:spPr>
          <a:xfrm>
            <a:off x="7452360" y="2697480"/>
            <a:ext cx="502920" cy="256032"/>
          </a:xfrm>
          <a:prstGeom prst="lef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334670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 i="0">
                <a:solidFill>
                  <a:srgbClr val="34D399"/>
                </a:solidFill>
                <a:latin typeface="Segoe UI"/>
              </a:rPr>
              <a:t>só UM pode usar por vez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86200"/>
            <a:ext cx="10469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Quem chega depois ganha. </a:t>
            </a:r>
            <a:r>
              <a:rPr sz="1350">
                <a:solidFill>
                  <a:srgbClr val="E6EDF8"/>
                </a:solidFill>
                <a:latin typeface="Segoe UI"/>
              </a:rPr>
              <a:t>Ao agendar B, o scheduler interrompe A: chama A.end(true) e passa a rodar B.</a:t>
            </a:r>
          </a:p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Esqueceu o addRequirements? </a:t>
            </a:r>
            <a:r>
              <a:rPr sz="1350">
                <a:solidFill>
                  <a:srgbClr val="E6EDF8"/>
                </a:solidFill>
                <a:latin typeface="Segoe UI"/>
              </a:rPr>
              <a:t>Os dois rodam juntos, os dois escrevem no motor, e o motor obedece ao último — bug intermitente, difícil de achar.</a:t>
            </a:r>
          </a:p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Comandos que não movem nada </a:t>
            </a:r>
            <a:r>
              <a:rPr sz="1350">
                <a:solidFill>
                  <a:srgbClr val="E6EDF8"/>
                </a:solidFill>
                <a:latin typeface="Segoe UI"/>
              </a:rPr>
              <a:t>podem não exigir subsystem (ex.: um InstantCommand que só lê um valor).</a:t>
            </a:r>
          </a:p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Em grupos, </a:t>
            </a:r>
            <a:r>
              <a:rPr sz="1350">
                <a:solidFill>
                  <a:srgbClr val="E6EDF8"/>
                </a:solidFill>
                <a:latin typeface="Segoe UI"/>
              </a:rPr>
              <a:t>as exigências se somam: o grupo exige tudo que seus filhos exigem.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779008"/>
            <a:ext cx="10469880" cy="530352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" y="590702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2184" y="5870448"/>
            <a:ext cx="964691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addRequirements(drive) é a linha mais importante de um comando que mexe no robô. Decore isso.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DEFAULT COMMAND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que o subsystem faz quando ninguém manda nada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6858000" cy="219456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1136">
                <a:solidFill>
                  <a:srgbClr val="A78BFA"/>
                </a:solidFill>
                <a:latin typeface="Consolas"/>
              </a:rPr>
              <a:t>private</a:t>
            </a:r>
            <a:r>
              <a:rPr sz="1136">
                <a:solidFill>
                  <a:srgbClr val="E6EDF8"/>
                </a:solidFill>
                <a:latin typeface="Consolas"/>
              </a:rPr>
              <a:t> </a:t>
            </a:r>
            <a:r>
              <a:rPr sz="1136">
                <a:solidFill>
                  <a:srgbClr val="A78BFA"/>
                </a:solidFill>
                <a:latin typeface="Consolas"/>
              </a:rPr>
              <a:t>void</a:t>
            </a:r>
            <a:r>
              <a:rPr sz="1136">
                <a:solidFill>
                  <a:srgbClr val="E6EDF8"/>
                </a:solidFill>
                <a:latin typeface="Consolas"/>
              </a:rPr>
              <a:t> configureDefaultCommands() {</a:t>
            </a:r>
          </a:p>
          <a:p>
            <a:pPr algn="l">
              <a:lnSpc>
                <a:spcPct val="120000"/>
              </a:lnSpc>
            </a:pPr>
            <a:r>
              <a:rPr sz="1136">
                <a:solidFill>
                  <a:srgbClr val="E6EDF8"/>
                </a:solidFill>
                <a:latin typeface="Consolas"/>
              </a:rPr>
              <a:t>  driveSubsystem.setDefaultCommand(</a:t>
            </a:r>
          </a:p>
          <a:p>
            <a:pPr algn="l">
              <a:lnSpc>
                <a:spcPct val="120000"/>
              </a:lnSpc>
            </a:pPr>
            <a:r>
              <a:rPr sz="1136">
                <a:solidFill>
                  <a:srgbClr val="E6EDF8"/>
                </a:solidFill>
                <a:latin typeface="Consolas"/>
              </a:rPr>
              <a:t>      </a:t>
            </a:r>
            <a:r>
              <a:rPr sz="1136">
                <a:solidFill>
                  <a:srgbClr val="A78BFA"/>
                </a:solidFill>
                <a:latin typeface="Consolas"/>
              </a:rPr>
              <a:t>new</a:t>
            </a:r>
            <a:r>
              <a:rPr sz="1136">
                <a:solidFill>
                  <a:srgbClr val="E6EDF8"/>
                </a:solidFill>
                <a:latin typeface="Consolas"/>
              </a:rPr>
              <a:t> </a:t>
            </a:r>
            <a:r>
              <a:rPr sz="1136">
                <a:solidFill>
                  <a:srgbClr val="34D399"/>
                </a:solidFill>
                <a:latin typeface="Consolas"/>
              </a:rPr>
              <a:t>RunCommand</a:t>
            </a:r>
            <a:r>
              <a:rPr sz="1136">
                <a:solidFill>
                  <a:srgbClr val="E6EDF8"/>
                </a:solidFill>
                <a:latin typeface="Consolas"/>
              </a:rPr>
              <a:t>(</a:t>
            </a:r>
          </a:p>
          <a:p>
            <a:pPr algn="l">
              <a:lnSpc>
                <a:spcPct val="120000"/>
              </a:lnSpc>
            </a:pPr>
            <a:r>
              <a:rPr sz="1136">
                <a:solidFill>
                  <a:srgbClr val="E6EDF8"/>
                </a:solidFill>
                <a:latin typeface="Consolas"/>
              </a:rPr>
              <a:t>          () -&gt; driveSubsystem.driveFieldOriented(</a:t>
            </a:r>
          </a:p>
          <a:p>
            <a:pPr algn="l">
              <a:lnSpc>
                <a:spcPct val="120000"/>
              </a:lnSpc>
            </a:pPr>
            <a:r>
              <a:rPr sz="1136">
                <a:solidFill>
                  <a:srgbClr val="E6EDF8"/>
                </a:solidFill>
                <a:latin typeface="Consolas"/>
              </a:rPr>
              <a:t>                    applyDeadband(joystick.getX(), </a:t>
            </a:r>
            <a:r>
              <a:rPr sz="1136">
                <a:solidFill>
                  <a:srgbClr val="34D399"/>
                </a:solidFill>
                <a:latin typeface="Consolas"/>
              </a:rPr>
              <a:t>OIConstants</a:t>
            </a:r>
            <a:r>
              <a:rPr sz="1136">
                <a:solidFill>
                  <a:srgbClr val="E6EDF8"/>
                </a:solidFill>
                <a:latin typeface="Consolas"/>
              </a:rPr>
              <a:t>.kDeadband),</a:t>
            </a:r>
          </a:p>
          <a:p>
            <a:pPr algn="l">
              <a:lnSpc>
                <a:spcPct val="120000"/>
              </a:lnSpc>
            </a:pPr>
            <a:r>
              <a:rPr sz="1136">
                <a:solidFill>
                  <a:srgbClr val="E6EDF8"/>
                </a:solidFill>
                <a:latin typeface="Consolas"/>
              </a:rPr>
              <a:t>                    applyDeadband(-joystick.getY(), </a:t>
            </a:r>
            <a:r>
              <a:rPr sz="1136">
                <a:solidFill>
                  <a:srgbClr val="34D399"/>
                </a:solidFill>
                <a:latin typeface="Consolas"/>
              </a:rPr>
              <a:t>OIConstants</a:t>
            </a:r>
            <a:r>
              <a:rPr sz="1136">
                <a:solidFill>
                  <a:srgbClr val="E6EDF8"/>
                </a:solidFill>
                <a:latin typeface="Consolas"/>
              </a:rPr>
              <a:t>.kDeadband),</a:t>
            </a:r>
          </a:p>
          <a:p>
            <a:pPr algn="l">
              <a:lnSpc>
                <a:spcPct val="120000"/>
              </a:lnSpc>
            </a:pPr>
            <a:r>
              <a:rPr sz="1136">
                <a:solidFill>
                  <a:srgbClr val="E6EDF8"/>
                </a:solidFill>
                <a:latin typeface="Consolas"/>
              </a:rPr>
              <a:t>                    applyDeadband(joystick.getZ(), </a:t>
            </a:r>
            <a:r>
              <a:rPr sz="1136">
                <a:solidFill>
                  <a:srgbClr val="34D399"/>
                </a:solidFill>
                <a:latin typeface="Consolas"/>
              </a:rPr>
              <a:t>OIConstants</a:t>
            </a:r>
            <a:r>
              <a:rPr sz="1136">
                <a:solidFill>
                  <a:srgbClr val="E6EDF8"/>
                </a:solidFill>
                <a:latin typeface="Consolas"/>
              </a:rPr>
              <a:t>.kDeadband)),</a:t>
            </a:r>
          </a:p>
          <a:p>
            <a:pPr algn="l">
              <a:lnSpc>
                <a:spcPct val="120000"/>
              </a:lnSpc>
            </a:pPr>
            <a:r>
              <a:rPr sz="1136">
                <a:solidFill>
                  <a:srgbClr val="E6EDF8"/>
                </a:solidFill>
                <a:latin typeface="Consolas"/>
              </a:rPr>
              <a:t>          driveSubsystem));          </a:t>
            </a:r>
            <a:r>
              <a:rPr sz="1136" i="1">
                <a:solidFill>
                  <a:srgbClr val="6B82A6"/>
                </a:solidFill>
                <a:latin typeface="Consolas"/>
              </a:rPr>
              <a:t>// &lt;&lt;&lt; o subsystem exigido</a:t>
            </a:r>
          </a:p>
          <a:p>
            <a:pPr algn="l">
              <a:lnSpc>
                <a:spcPct val="120000"/>
              </a:lnSpc>
            </a:pPr>
            <a:r>
              <a:rPr sz="1136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3386023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RobotContainer.configureDefaultCommands()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48056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É o teleop. </a:t>
            </a:r>
            <a:r>
              <a:rPr sz="1400">
                <a:solidFill>
                  <a:srgbClr val="E6EDF8"/>
                </a:solidFill>
                <a:latin typeface="Segoe UI"/>
              </a:rPr>
              <a:t>Enquanto nenhum outro comando exigir o drive, este roda.</a:t>
            </a:r>
          </a:p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Volta sozinho. </a:t>
            </a:r>
            <a:r>
              <a:rPr sz="1400">
                <a:solidFill>
                  <a:srgbClr val="E6EDF8"/>
                </a:solidFill>
                <a:latin typeface="Segoe UI"/>
              </a:rPr>
              <a:t>Quando o autônomo termina ou é cancelado, o default reassume.</a:t>
            </a:r>
          </a:p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Nunca termina: </a:t>
            </a:r>
            <a:r>
              <a:rPr sz="1400">
                <a:solidFill>
                  <a:srgbClr val="E6EDF8"/>
                </a:solidFill>
                <a:latin typeface="Segoe UI"/>
              </a:rPr>
              <a:t>RunCommand tem isFinished() == false para sempre.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011680"/>
            <a:ext cx="3319272" cy="219456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01000" y="2139696"/>
            <a:ext cx="50292" cy="193852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2194560"/>
            <a:ext cx="284378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72B6"/>
                </a:solidFill>
                <a:latin typeface="Segoe UI"/>
              </a:rPr>
              <a:t>-joystick.getY()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542032"/>
            <a:ext cx="2843784" cy="153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O eixo Y do joystick é positivo para BAIXO. O sinal negativo faz “empurrar para frente” virar valor positivo. Erro clássico de lab.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4480560"/>
            <a:ext cx="3319272" cy="13716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4608576"/>
            <a:ext cx="50292" cy="111556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20" y="4663440"/>
            <a:ext cx="284378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A78BFA"/>
                </a:solidFill>
                <a:latin typeface="Segoe UI"/>
              </a:rPr>
              <a:t>Lambda  () -&gt; 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5010912"/>
            <a:ext cx="2843784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RunCommand recebe um pedaço de código. É lido a cada ciclo — logo, lê o joystick sempre atualizado.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COMANDOS PRONTOS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Você escreve menos classes do que imagina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057400"/>
            <a:ext cx="10469880" cy="393192"/>
          </a:xfrm>
          <a:prstGeom prst="rect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14983" y="2057400"/>
            <a:ext cx="2432304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Classe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6744" y="2057400"/>
            <a:ext cx="2066543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isFinished()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52744" y="2057400"/>
            <a:ext cx="3072384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Para que 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44584" y="2057400"/>
            <a:ext cx="2020824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No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3" y="2450592"/>
            <a:ext cx="2432304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InstantCommand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6744" y="2450592"/>
            <a:ext cx="2066543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na hora (1 ciclo)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52744" y="2450592"/>
            <a:ext cx="3072384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disparar uma ação pontual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44584" y="2450592"/>
            <a:ext cx="2020824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drive::resetHeading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2843784"/>
            <a:ext cx="10469880" cy="393192"/>
          </a:xfrm>
          <a:prstGeom prst="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4983" y="2843784"/>
            <a:ext cx="2432304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RunCommand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6744" y="2843784"/>
            <a:ext cx="2066543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nunca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52744" y="2843784"/>
            <a:ext cx="3072384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rodar um lambda sem fim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2843784"/>
            <a:ext cx="2020824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teleop (default command)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3" y="3236976"/>
            <a:ext cx="2432304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WaitCommand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66744" y="3236976"/>
            <a:ext cx="2066543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após N segundos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52744" y="3236976"/>
            <a:ext cx="3072384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pausa entre etapas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4584" y="3236976"/>
            <a:ext cx="2020824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pause() do quadrado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3630168"/>
            <a:ext cx="10469880" cy="393192"/>
          </a:xfrm>
          <a:prstGeom prst="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14983" y="3630168"/>
            <a:ext cx="2432304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StartEndCommand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66744" y="3630168"/>
            <a:ext cx="2066543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nunca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52744" y="3630168"/>
            <a:ext cx="3072384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liga ao entrar, desliga ao sair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4584" y="3630168"/>
            <a:ext cx="2020824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3" y="4023360"/>
            <a:ext cx="2432304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FunctionalCommand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66744" y="4023360"/>
            <a:ext cx="2066543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você define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52744" y="4023360"/>
            <a:ext cx="3072384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os 4 métodos como lambdas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4584" y="4023360"/>
            <a:ext cx="2020824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4572000"/>
            <a:ext cx="10469880" cy="91440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1092" i="1">
                <a:solidFill>
                  <a:srgbClr val="6B82A6"/>
                </a:solidFill>
                <a:latin typeface="Consolas"/>
              </a:rPr>
              <a:t>// Uma acao pontual num botao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A78BFA"/>
                </a:solidFill>
                <a:latin typeface="Consolas"/>
              </a:rPr>
              <a:t>new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34D399"/>
                </a:solidFill>
                <a:latin typeface="Consolas"/>
              </a:rPr>
              <a:t>JoystickButton</a:t>
            </a:r>
            <a:r>
              <a:rPr sz="1092">
                <a:solidFill>
                  <a:srgbClr val="E6EDF8"/>
                </a:solidFill>
                <a:latin typeface="Consolas"/>
              </a:rPr>
              <a:t>(joystick, </a:t>
            </a:r>
            <a:r>
              <a:rPr sz="1092">
                <a:solidFill>
                  <a:srgbClr val="34D399"/>
                </a:solidFill>
                <a:latin typeface="Consolas"/>
              </a:rPr>
              <a:t>OIConstants</a:t>
            </a:r>
            <a:r>
              <a:rPr sz="1092">
                <a:solidFill>
                  <a:srgbClr val="E6EDF8"/>
                </a:solidFill>
                <a:latin typeface="Consolas"/>
              </a:rPr>
              <a:t>.kResetGyroButton)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  .whenPressed(</a:t>
            </a:r>
            <a:r>
              <a:rPr sz="1092">
                <a:solidFill>
                  <a:srgbClr val="A78BFA"/>
                </a:solidFill>
                <a:latin typeface="Consolas"/>
              </a:rPr>
              <a:t>new</a:t>
            </a:r>
            <a:r>
              <a:rPr sz="1092">
                <a:solidFill>
                  <a:srgbClr val="E6EDF8"/>
                </a:solidFill>
                <a:latin typeface="Consolas"/>
              </a:rPr>
              <a:t> </a:t>
            </a:r>
            <a:r>
              <a:rPr sz="1092">
                <a:solidFill>
                  <a:srgbClr val="34D399"/>
                </a:solidFill>
                <a:latin typeface="Consolas"/>
              </a:rPr>
              <a:t>InstantCommand</a:t>
            </a:r>
            <a:r>
              <a:rPr sz="1092">
                <a:solidFill>
                  <a:srgbClr val="E6EDF8"/>
                </a:solidFill>
                <a:latin typeface="Consolas"/>
              </a:rPr>
              <a:t>(driveSubsystem::resetHeading));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3271" y="4416552"/>
            <a:ext cx="1944014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InstantCommand + botao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5559552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69848" y="579729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72184" y="5650992"/>
            <a:ext cx="964691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Este projeto usa WPILib 2020: o binding é .whenPressed(...) e a geometria vem de edu.wpi.first.wpilibj.geometry. Em versões novas isso virou .onTrue(...) e edu.wpi.first.math.geometry.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COMPOSIÇÕES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Comandos que contêm comandos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2450592" cy="192024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17627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34D399"/>
                </a:solidFill>
                <a:latin typeface="Segoe UI"/>
              </a:rPr>
              <a:t>Sequential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1460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um depois do outro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291840"/>
            <a:ext cx="2084831" cy="475488"/>
          </a:xfrm>
          <a:prstGeom prst="roundRect">
            <a:avLst>
              <a:gd name="adj" fmla="val 2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341071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E6EDF8"/>
                </a:solidFill>
                <a:latin typeface="Consolas"/>
              </a:rPr>
              <a:t>A → B → 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47872" y="2011680"/>
            <a:ext cx="2450592" cy="192024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5240">
            <a:solidFill>
              <a:srgbClr val="38D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30752" y="217627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38D9F0"/>
                </a:solidFill>
                <a:latin typeface="Segoe UI"/>
              </a:rPr>
              <a:t>Parallel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51460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todos juntos; acaba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quando o último acaba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0752" y="3291840"/>
            <a:ext cx="2084831" cy="475488"/>
          </a:xfrm>
          <a:prstGeom prst="roundRect">
            <a:avLst>
              <a:gd name="adj" fmla="val 2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22191" y="341071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E6EDF8"/>
                </a:solidFill>
                <a:latin typeface="Consolas"/>
              </a:rPr>
              <a:t>A ∥ B ∥ 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2011680"/>
            <a:ext cx="2450592" cy="192024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9944" y="217627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BBF24"/>
                </a:solidFill>
                <a:latin typeface="Segoe UI"/>
              </a:rPr>
              <a:t>ParallelRace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51460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todos juntos; acaba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quando o PRIMEIRO acaba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9944" y="3291840"/>
            <a:ext cx="2084831" cy="475488"/>
          </a:xfrm>
          <a:prstGeom prst="roundRect">
            <a:avLst>
              <a:gd name="adj" fmla="val 2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01384" y="341071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E6EDF8"/>
                </a:solidFill>
                <a:latin typeface="Consolas"/>
              </a:rPr>
              <a:t>A ∥ B → 1º vence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06256" y="2011680"/>
            <a:ext cx="2450592" cy="192024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524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89136" y="217627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A78BFA"/>
                </a:solidFill>
                <a:latin typeface="Segoe UI"/>
              </a:rPr>
              <a:t>ParallelDeadline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251460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acaba quando o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“líder” acaba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89136" y="3291840"/>
            <a:ext cx="2084831" cy="475488"/>
          </a:xfrm>
          <a:prstGeom prst="roundRect">
            <a:avLst>
              <a:gd name="adj" fmla="val 2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80576" y="341071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E6EDF8"/>
                </a:solidFill>
                <a:latin typeface="Consolas"/>
              </a:rPr>
              <a:t>A(líder) ∥ 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4206240"/>
            <a:ext cx="10469880" cy="123444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1003" i="1">
                <a:solidFill>
                  <a:srgbClr val="6B82A6"/>
                </a:solidFill>
                <a:latin typeface="Consolas"/>
              </a:rPr>
              <a:t>// Decorators: compoem sem criar classe nova</a:t>
            </a:r>
          </a:p>
          <a:p>
            <a:pPr algn="l">
              <a:lnSpc>
                <a:spcPct val="120000"/>
              </a:lnSpc>
            </a:pPr>
            <a:r>
              <a:rPr sz="1003">
                <a:solidFill>
                  <a:srgbClr val="A78BFA"/>
                </a:solidFill>
                <a:latin typeface="Consolas"/>
              </a:rPr>
              <a:t>new</a:t>
            </a:r>
            <a:r>
              <a:rPr sz="1003">
                <a:solidFill>
                  <a:srgbClr val="E6EDF8"/>
                </a:solidFill>
                <a:latin typeface="Consolas"/>
              </a:rPr>
              <a:t> </a:t>
            </a:r>
            <a:r>
              <a:rPr sz="1003">
                <a:solidFill>
                  <a:srgbClr val="34D399"/>
                </a:solidFill>
                <a:latin typeface="Consolas"/>
              </a:rPr>
              <a:t>DriveDistanceCommand</a:t>
            </a:r>
            <a:r>
              <a:rPr sz="1003">
                <a:solidFill>
                  <a:srgbClr val="E6EDF8"/>
                </a:solidFill>
                <a:latin typeface="Consolas"/>
              </a:rPr>
              <a:t>(drive, </a:t>
            </a:r>
            <a:r>
              <a:rPr sz="1003">
                <a:solidFill>
                  <a:srgbClr val="F472B6"/>
                </a:solidFill>
                <a:latin typeface="Consolas"/>
              </a:rPr>
              <a:t>0</a:t>
            </a:r>
            <a:r>
              <a:rPr sz="1003">
                <a:solidFill>
                  <a:srgbClr val="E6EDF8"/>
                </a:solidFill>
                <a:latin typeface="Consolas"/>
              </a:rPr>
              <a:t>, </a:t>
            </a:r>
            <a:r>
              <a:rPr sz="1003">
                <a:solidFill>
                  <a:srgbClr val="F472B6"/>
                </a:solidFill>
                <a:latin typeface="Consolas"/>
              </a:rPr>
              <a:t>1</a:t>
            </a:r>
            <a:r>
              <a:rPr sz="1003">
                <a:solidFill>
                  <a:srgbClr val="E6EDF8"/>
                </a:solidFill>
                <a:latin typeface="Consolas"/>
              </a:rPr>
              <a:t>, </a:t>
            </a:r>
            <a:r>
              <a:rPr sz="1003">
                <a:solidFill>
                  <a:srgbClr val="F472B6"/>
                </a:solidFill>
                <a:latin typeface="Consolas"/>
              </a:rPr>
              <a:t>0.5</a:t>
            </a:r>
            <a:r>
              <a:rPr sz="1003">
                <a:solidFill>
                  <a:srgbClr val="E6EDF8"/>
                </a:solidFill>
                <a:latin typeface="Consolas"/>
              </a:rPr>
              <a:t>)</a:t>
            </a:r>
          </a:p>
          <a:p>
            <a:pPr algn="l">
              <a:lnSpc>
                <a:spcPct val="120000"/>
              </a:lnSpc>
            </a:pPr>
            <a:r>
              <a:rPr sz="1003">
                <a:solidFill>
                  <a:srgbClr val="E6EDF8"/>
                </a:solidFill>
                <a:latin typeface="Consolas"/>
              </a:rPr>
              <a:t>    .withTimeout(</a:t>
            </a:r>
            <a:r>
              <a:rPr sz="1003">
                <a:solidFill>
                  <a:srgbClr val="F472B6"/>
                </a:solidFill>
                <a:latin typeface="Consolas"/>
              </a:rPr>
              <a:t>6.0</a:t>
            </a:r>
            <a:r>
              <a:rPr sz="1003">
                <a:solidFill>
                  <a:srgbClr val="E6EDF8"/>
                </a:solidFill>
                <a:latin typeface="Consolas"/>
              </a:rPr>
              <a:t>)                      </a:t>
            </a:r>
            <a:r>
              <a:rPr sz="1003" i="1">
                <a:solidFill>
                  <a:srgbClr val="6B82A6"/>
                </a:solidFill>
                <a:latin typeface="Consolas"/>
              </a:rPr>
              <a:t>// rede de seguranca: desiste em 6 s</a:t>
            </a:r>
          </a:p>
          <a:p>
            <a:pPr algn="l">
              <a:lnSpc>
                <a:spcPct val="120000"/>
              </a:lnSpc>
            </a:pPr>
            <a:r>
              <a:rPr sz="1003">
                <a:solidFill>
                  <a:srgbClr val="E6EDF8"/>
                </a:solidFill>
                <a:latin typeface="Consolas"/>
              </a:rPr>
              <a:t>    .andThen(</a:t>
            </a:r>
            <a:r>
              <a:rPr sz="1003">
                <a:solidFill>
                  <a:srgbClr val="A78BFA"/>
                </a:solidFill>
                <a:latin typeface="Consolas"/>
              </a:rPr>
              <a:t>new</a:t>
            </a:r>
            <a:r>
              <a:rPr sz="1003">
                <a:solidFill>
                  <a:srgbClr val="E6EDF8"/>
                </a:solidFill>
                <a:latin typeface="Consolas"/>
              </a:rPr>
              <a:t> </a:t>
            </a:r>
            <a:r>
              <a:rPr sz="1003">
                <a:solidFill>
                  <a:srgbClr val="34D399"/>
                </a:solidFill>
                <a:latin typeface="Consolas"/>
              </a:rPr>
              <a:t>WaitCommand</a:t>
            </a:r>
            <a:r>
              <a:rPr sz="1003">
                <a:solidFill>
                  <a:srgbClr val="E6EDF8"/>
                </a:solidFill>
                <a:latin typeface="Consolas"/>
              </a:rPr>
              <a:t>(</a:t>
            </a:r>
            <a:r>
              <a:rPr sz="1003">
                <a:solidFill>
                  <a:srgbClr val="F472B6"/>
                </a:solidFill>
                <a:latin typeface="Consolas"/>
              </a:rPr>
              <a:t>0.25</a:t>
            </a:r>
            <a:r>
              <a:rPr sz="1003">
                <a:solidFill>
                  <a:srgbClr val="E6EDF8"/>
                </a:solidFill>
                <a:latin typeface="Consolas"/>
              </a:rPr>
              <a:t>))        </a:t>
            </a:r>
            <a:r>
              <a:rPr sz="1003" i="1">
                <a:solidFill>
                  <a:srgbClr val="6B82A6"/>
                </a:solidFill>
                <a:latin typeface="Consolas"/>
              </a:rPr>
              <a:t>// emenda outro comando no fim</a:t>
            </a:r>
          </a:p>
          <a:p>
            <a:pPr algn="l">
              <a:lnSpc>
                <a:spcPct val="120000"/>
              </a:lnSpc>
            </a:pPr>
            <a:r>
              <a:rPr sz="1003">
                <a:solidFill>
                  <a:srgbClr val="E6EDF8"/>
                </a:solidFill>
                <a:latin typeface="Consolas"/>
              </a:rPr>
              <a:t>    .alongWith(</a:t>
            </a:r>
            <a:r>
              <a:rPr sz="1003">
                <a:solidFill>
                  <a:srgbClr val="A78BFA"/>
                </a:solidFill>
                <a:latin typeface="Consolas"/>
              </a:rPr>
              <a:t>new</a:t>
            </a:r>
            <a:r>
              <a:rPr sz="1003">
                <a:solidFill>
                  <a:srgbClr val="E6EDF8"/>
                </a:solidFill>
                <a:latin typeface="Consolas"/>
              </a:rPr>
              <a:t> </a:t>
            </a:r>
            <a:r>
              <a:rPr sz="1003">
                <a:solidFill>
                  <a:srgbClr val="34D399"/>
                </a:solidFill>
                <a:latin typeface="Consolas"/>
              </a:rPr>
              <a:t>InstantCommand</a:t>
            </a:r>
            <a:r>
              <a:rPr sz="1003">
                <a:solidFill>
                  <a:srgbClr val="E6EDF8"/>
                </a:solidFill>
                <a:latin typeface="Consolas"/>
              </a:rPr>
              <a:t>(() -&gt; </a:t>
            </a:r>
            <a:r>
              <a:rPr sz="1003">
                <a:solidFill>
                  <a:srgbClr val="34D399"/>
                </a:solidFill>
                <a:latin typeface="Consolas"/>
              </a:rPr>
              <a:t>SmartDashboard</a:t>
            </a:r>
            <a:r>
              <a:rPr sz="1003">
                <a:solidFill>
                  <a:srgbClr val="E6EDF8"/>
                </a:solidFill>
                <a:latin typeface="Consolas"/>
              </a:rPr>
              <a:t>.putBoolean(</a:t>
            </a:r>
            <a:r>
              <a:rPr sz="1003">
                <a:solidFill>
                  <a:srgbClr val="FBBF24"/>
                </a:solidFill>
                <a:latin typeface="Consolas"/>
              </a:rPr>
              <a:t>"indo"</a:t>
            </a:r>
            <a:r>
              <a:rPr sz="1003">
                <a:solidFill>
                  <a:srgbClr val="E6EDF8"/>
                </a:solidFill>
                <a:latin typeface="Consolas"/>
              </a:rPr>
              <a:t>, </a:t>
            </a:r>
            <a:r>
              <a:rPr sz="1003">
                <a:solidFill>
                  <a:srgbClr val="A78BFA"/>
                </a:solidFill>
                <a:latin typeface="Consolas"/>
              </a:rPr>
              <a:t>true</a:t>
            </a:r>
            <a:r>
              <a:rPr sz="1003">
                <a:solidFill>
                  <a:srgbClr val="E6EDF8"/>
                </a:solidFill>
                <a:latin typeface="Consolas"/>
              </a:rPr>
              <a:t>)));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3271" y="4050791"/>
            <a:ext cx="1033272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decorators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559552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9848" y="579729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72184" y="5650992"/>
            <a:ext cx="964691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withTimeout() é um ParallelRace com um WaitCommand por baixo. Todo autônomo sério tem timeout em cada etapa — senão um robô travado empurra a parede até o fim da partida.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COMPOSIÇÃO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SquareAutoCommand: o quadrado é só uma sequência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6949440" cy="411480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983">
                <a:solidFill>
                  <a:srgbClr val="A78BFA"/>
                </a:solidFill>
                <a:latin typeface="Consolas"/>
              </a:rPr>
              <a:t>public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A78BFA"/>
                </a:solidFill>
                <a:latin typeface="Consolas"/>
              </a:rPr>
              <a:t>class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SquareAutoCommand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A78BFA"/>
                </a:solidFill>
                <a:latin typeface="Consolas"/>
              </a:rPr>
              <a:t>extends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SequentialCommandGroup</a:t>
            </a:r>
            <a:r>
              <a:rPr sz="983">
                <a:solidFill>
                  <a:srgbClr val="E6EDF8"/>
                </a:solidFill>
                <a:latin typeface="Consolas"/>
              </a:rPr>
              <a:t> {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</a:t>
            </a:r>
            <a:r>
              <a:rPr sz="983">
                <a:solidFill>
                  <a:srgbClr val="A78BFA"/>
                </a:solidFill>
                <a:latin typeface="Consolas"/>
              </a:rPr>
              <a:t>public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SquareAutoCommand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34D399"/>
                </a:solidFill>
                <a:latin typeface="Consolas"/>
              </a:rPr>
              <a:t>OmnidriveSubsystem</a:t>
            </a:r>
            <a:r>
              <a:rPr sz="983">
                <a:solidFill>
                  <a:srgbClr val="E6EDF8"/>
                </a:solidFill>
                <a:latin typeface="Consolas"/>
              </a:rPr>
              <a:t> drive) {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</a:t>
            </a:r>
            <a:r>
              <a:rPr sz="983">
                <a:solidFill>
                  <a:srgbClr val="A78BFA"/>
                </a:solidFill>
                <a:latin typeface="Consolas"/>
              </a:rPr>
              <a:t>double</a:t>
            </a:r>
            <a:r>
              <a:rPr sz="983">
                <a:solidFill>
                  <a:srgbClr val="E6EDF8"/>
                </a:solidFill>
                <a:latin typeface="Consolas"/>
              </a:rPr>
              <a:t> side = </a:t>
            </a:r>
            <a:r>
              <a:rPr sz="983">
                <a:solidFill>
                  <a:srgbClr val="34D399"/>
                </a:solidFill>
                <a:latin typeface="Consolas"/>
              </a:rPr>
              <a:t>AutoConstants</a:t>
            </a:r>
            <a:r>
              <a:rPr sz="983">
                <a:solidFill>
                  <a:srgbClr val="E6EDF8"/>
                </a:solidFill>
                <a:latin typeface="Consolas"/>
              </a:rPr>
              <a:t>.kSquareSideMeters;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addCommands(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    </a:t>
            </a:r>
            <a:r>
              <a:rPr sz="983">
                <a:solidFill>
                  <a:srgbClr val="A78BFA"/>
                </a:solidFill>
                <a:latin typeface="Consolas"/>
              </a:rPr>
              <a:t>new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InstantCommand</a:t>
            </a:r>
            <a:r>
              <a:rPr sz="983">
                <a:solidFill>
                  <a:srgbClr val="E6EDF8"/>
                </a:solidFill>
                <a:latin typeface="Consolas"/>
              </a:rPr>
              <a:t>(drive::resetHeading),  </a:t>
            </a:r>
            <a:r>
              <a:rPr sz="983" i="1">
                <a:solidFill>
                  <a:srgbClr val="6B82A6"/>
                </a:solidFill>
                <a:latin typeface="Consolas"/>
              </a:rPr>
              <a:t>// o rumo atual vira o zero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    leg(drive,  </a:t>
            </a:r>
            <a:r>
              <a:rPr sz="983">
                <a:solidFill>
                  <a:srgbClr val="F472B6"/>
                </a:solidFill>
                <a:latin typeface="Consolas"/>
              </a:rPr>
              <a:t>0.0</a:t>
            </a:r>
            <a:r>
              <a:rPr sz="983">
                <a:solidFill>
                  <a:srgbClr val="E6EDF8"/>
                </a:solidFill>
                <a:latin typeface="Consolas"/>
              </a:rPr>
              <a:t>,  </a:t>
            </a:r>
            <a:r>
              <a:rPr sz="983">
                <a:solidFill>
                  <a:srgbClr val="F472B6"/>
                </a:solidFill>
                <a:latin typeface="Consolas"/>
              </a:rPr>
              <a:t>1.0</a:t>
            </a:r>
            <a:r>
              <a:rPr sz="983">
                <a:solidFill>
                  <a:srgbClr val="E6EDF8"/>
                </a:solidFill>
                <a:latin typeface="Consolas"/>
              </a:rPr>
              <a:t>, side),   </a:t>
            </a:r>
            <a:r>
              <a:rPr sz="983" i="1">
                <a:solidFill>
                  <a:srgbClr val="6B82A6"/>
                </a:solidFill>
                <a:latin typeface="Consolas"/>
              </a:rPr>
              <a:t>// lado 1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    pause(),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    leg(drive,  </a:t>
            </a:r>
            <a:r>
              <a:rPr sz="983">
                <a:solidFill>
                  <a:srgbClr val="F472B6"/>
                </a:solidFill>
                <a:latin typeface="Consolas"/>
              </a:rPr>
              <a:t>1.0</a:t>
            </a:r>
            <a:r>
              <a:rPr sz="983">
                <a:solidFill>
                  <a:srgbClr val="E6EDF8"/>
                </a:solidFill>
                <a:latin typeface="Consolas"/>
              </a:rPr>
              <a:t>,  </a:t>
            </a:r>
            <a:r>
              <a:rPr sz="983">
                <a:solidFill>
                  <a:srgbClr val="F472B6"/>
                </a:solidFill>
                <a:latin typeface="Consolas"/>
              </a:rPr>
              <a:t>0.0</a:t>
            </a:r>
            <a:r>
              <a:rPr sz="983">
                <a:solidFill>
                  <a:srgbClr val="E6EDF8"/>
                </a:solidFill>
                <a:latin typeface="Consolas"/>
              </a:rPr>
              <a:t>, side),   </a:t>
            </a:r>
            <a:r>
              <a:rPr sz="983" i="1">
                <a:solidFill>
                  <a:srgbClr val="6B82A6"/>
                </a:solidFill>
                <a:latin typeface="Consolas"/>
              </a:rPr>
              <a:t>// lado 2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    pause(),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    leg(drive,  </a:t>
            </a:r>
            <a:r>
              <a:rPr sz="983">
                <a:solidFill>
                  <a:srgbClr val="F472B6"/>
                </a:solidFill>
                <a:latin typeface="Consolas"/>
              </a:rPr>
              <a:t>0.0</a:t>
            </a:r>
            <a:r>
              <a:rPr sz="983">
                <a:solidFill>
                  <a:srgbClr val="E6EDF8"/>
                </a:solidFill>
                <a:latin typeface="Consolas"/>
              </a:rPr>
              <a:t>, -</a:t>
            </a:r>
            <a:r>
              <a:rPr sz="983">
                <a:solidFill>
                  <a:srgbClr val="F472B6"/>
                </a:solidFill>
                <a:latin typeface="Consolas"/>
              </a:rPr>
              <a:t>1.0</a:t>
            </a:r>
            <a:r>
              <a:rPr sz="983">
                <a:solidFill>
                  <a:srgbClr val="E6EDF8"/>
                </a:solidFill>
                <a:latin typeface="Consolas"/>
              </a:rPr>
              <a:t>, side),   </a:t>
            </a:r>
            <a:r>
              <a:rPr sz="983" i="1">
                <a:solidFill>
                  <a:srgbClr val="6B82A6"/>
                </a:solidFill>
                <a:latin typeface="Consolas"/>
              </a:rPr>
              <a:t>// lado 3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    pause(),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    leg(drive, -</a:t>
            </a:r>
            <a:r>
              <a:rPr sz="983">
                <a:solidFill>
                  <a:srgbClr val="F472B6"/>
                </a:solidFill>
                <a:latin typeface="Consolas"/>
              </a:rPr>
              <a:t>1.0</a:t>
            </a:r>
            <a:r>
              <a:rPr sz="983">
                <a:solidFill>
                  <a:srgbClr val="E6EDF8"/>
                </a:solidFill>
                <a:latin typeface="Consolas"/>
              </a:rPr>
              <a:t>,  </a:t>
            </a:r>
            <a:r>
              <a:rPr sz="983">
                <a:solidFill>
                  <a:srgbClr val="F472B6"/>
                </a:solidFill>
                <a:latin typeface="Consolas"/>
              </a:rPr>
              <a:t>0.0</a:t>
            </a:r>
            <a:r>
              <a:rPr sz="983">
                <a:solidFill>
                  <a:srgbClr val="E6EDF8"/>
                </a:solidFill>
                <a:latin typeface="Consolas"/>
              </a:rPr>
              <a:t>, side),   </a:t>
            </a:r>
            <a:r>
              <a:rPr sz="983" i="1">
                <a:solidFill>
                  <a:srgbClr val="6B82A6"/>
                </a:solidFill>
                <a:latin typeface="Consolas"/>
              </a:rPr>
              <a:t>// lado 4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    </a:t>
            </a:r>
            <a:r>
              <a:rPr sz="983">
                <a:solidFill>
                  <a:srgbClr val="A78BFA"/>
                </a:solidFill>
                <a:latin typeface="Consolas"/>
              </a:rPr>
              <a:t>new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InstantCommand</a:t>
            </a:r>
            <a:r>
              <a:rPr sz="983">
                <a:solidFill>
                  <a:srgbClr val="E6EDF8"/>
                </a:solidFill>
                <a:latin typeface="Consolas"/>
              </a:rPr>
              <a:t>(drive::stop, drive));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}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</a:t>
            </a:r>
            <a:r>
              <a:rPr sz="983">
                <a:solidFill>
                  <a:srgbClr val="A78BFA"/>
                </a:solidFill>
                <a:latin typeface="Consolas"/>
              </a:rPr>
              <a:t>private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A78BFA"/>
                </a:solidFill>
                <a:latin typeface="Consolas"/>
              </a:rPr>
              <a:t>static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Command</a:t>
            </a:r>
            <a:r>
              <a:rPr sz="983">
                <a:solidFill>
                  <a:srgbClr val="E6EDF8"/>
                </a:solidFill>
                <a:latin typeface="Consolas"/>
              </a:rPr>
              <a:t> leg(</a:t>
            </a:r>
            <a:r>
              <a:rPr sz="983">
                <a:solidFill>
                  <a:srgbClr val="34D399"/>
                </a:solidFill>
                <a:latin typeface="Consolas"/>
              </a:rPr>
              <a:t>OmnidriveSubsystem</a:t>
            </a:r>
            <a:r>
              <a:rPr sz="983">
                <a:solidFill>
                  <a:srgbClr val="E6EDF8"/>
                </a:solidFill>
                <a:latin typeface="Consolas"/>
              </a:rPr>
              <a:t> drive, </a:t>
            </a:r>
            <a:r>
              <a:rPr sz="983">
                <a:solidFill>
                  <a:srgbClr val="A78BFA"/>
                </a:solidFill>
                <a:latin typeface="Consolas"/>
              </a:rPr>
              <a:t>double</a:t>
            </a:r>
            <a:r>
              <a:rPr sz="983">
                <a:solidFill>
                  <a:srgbClr val="E6EDF8"/>
                </a:solidFill>
                <a:latin typeface="Consolas"/>
              </a:rPr>
              <a:t> dirX,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                         </a:t>
            </a:r>
            <a:r>
              <a:rPr sz="983">
                <a:solidFill>
                  <a:srgbClr val="A78BFA"/>
                </a:solidFill>
                <a:latin typeface="Consolas"/>
              </a:rPr>
              <a:t>double</a:t>
            </a:r>
            <a:r>
              <a:rPr sz="983">
                <a:solidFill>
                  <a:srgbClr val="E6EDF8"/>
                </a:solidFill>
                <a:latin typeface="Consolas"/>
              </a:rPr>
              <a:t> dirY, </a:t>
            </a:r>
            <a:r>
              <a:rPr sz="983">
                <a:solidFill>
                  <a:srgbClr val="A78BFA"/>
                </a:solidFill>
                <a:latin typeface="Consolas"/>
              </a:rPr>
              <a:t>double</a:t>
            </a:r>
            <a:r>
              <a:rPr sz="983">
                <a:solidFill>
                  <a:srgbClr val="E6EDF8"/>
                </a:solidFill>
                <a:latin typeface="Consolas"/>
              </a:rPr>
              <a:t> meters) {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</a:t>
            </a:r>
            <a:r>
              <a:rPr sz="983">
                <a:solidFill>
                  <a:srgbClr val="A78BFA"/>
                </a:solidFill>
                <a:latin typeface="Consolas"/>
              </a:rPr>
              <a:t>return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A78BFA"/>
                </a:solidFill>
                <a:latin typeface="Consolas"/>
              </a:rPr>
              <a:t>new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DriveDistanceCommand</a:t>
            </a:r>
            <a:r>
              <a:rPr sz="983">
                <a:solidFill>
                  <a:srgbClr val="E6EDF8"/>
                </a:solidFill>
                <a:latin typeface="Consolas"/>
              </a:rPr>
              <a:t>(drive, dirX, dirY, meters)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           .withTimeout(</a:t>
            </a:r>
            <a:r>
              <a:rPr sz="983">
                <a:solidFill>
                  <a:srgbClr val="34D399"/>
                </a:solidFill>
                <a:latin typeface="Consolas"/>
              </a:rPr>
              <a:t>AutoConstants</a:t>
            </a:r>
            <a:r>
              <a:rPr sz="983">
                <a:solidFill>
                  <a:srgbClr val="E6EDF8"/>
                </a:solidFill>
                <a:latin typeface="Consolas"/>
              </a:rPr>
              <a:t>.kLegTimeoutSeconds);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}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</a:t>
            </a:r>
            <a:r>
              <a:rPr sz="983" i="1">
                <a:solidFill>
                  <a:srgbClr val="6B82A6"/>
                </a:solidFill>
                <a:latin typeface="Consolas"/>
              </a:rPr>
              <a:t>// pause() -&gt; new WaitCommand(AutoConstants.kPauseSeconds)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1944014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SquareAutoCommand.java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10312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Zero lógica nova. </a:t>
            </a:r>
            <a:r>
              <a:rPr sz="1250">
                <a:solidFill>
                  <a:srgbClr val="E6EDF8"/>
                </a:solidFill>
                <a:latin typeface="Segoe UI"/>
              </a:rPr>
              <a:t>Só reusa DriveDistanceCommand quatro vezes.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Sem girar. </a:t>
            </a:r>
            <a:r>
              <a:rPr sz="1250">
                <a:solidFill>
                  <a:srgbClr val="E6EDF8"/>
                </a:solidFill>
                <a:latin typeface="Segoe UI"/>
              </a:rPr>
              <a:t>A frente do robô aponta para o mesmo lado o trajeto inteiro — é o ganho do omni.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pause() </a:t>
            </a:r>
            <a:r>
              <a:rPr sz="1250">
                <a:solidFill>
                  <a:srgbClr val="E6EDF8"/>
                </a:solidFill>
                <a:latin typeface="Segoe UI"/>
              </a:rPr>
              <a:t>deixa o robô assentar antes de trocar de direção (inércia + folga).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leg() e pause() </a:t>
            </a:r>
            <a:r>
              <a:rPr sz="1250">
                <a:solidFill>
                  <a:srgbClr val="E6EDF8"/>
                </a:solidFill>
                <a:latin typeface="Segoe UI"/>
              </a:rPr>
              <a:t>são fábricas privadas: o addCommands fica legível.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ROBOTCONTAINER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lugar onde o robô é declarado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7452360" cy="411480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983">
                <a:solidFill>
                  <a:srgbClr val="A78BFA"/>
                </a:solidFill>
                <a:latin typeface="Consolas"/>
              </a:rPr>
              <a:t>public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A78BFA"/>
                </a:solidFill>
                <a:latin typeface="Consolas"/>
              </a:rPr>
              <a:t>class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RobotContainer</a:t>
            </a:r>
            <a:r>
              <a:rPr sz="983">
                <a:solidFill>
                  <a:srgbClr val="E6EDF8"/>
                </a:solidFill>
                <a:latin typeface="Consolas"/>
              </a:rPr>
              <a:t> {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</a:t>
            </a:r>
            <a:r>
              <a:rPr sz="983">
                <a:solidFill>
                  <a:srgbClr val="A78BFA"/>
                </a:solidFill>
                <a:latin typeface="Consolas"/>
              </a:rPr>
              <a:t>private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A78BFA"/>
                </a:solidFill>
                <a:latin typeface="Consolas"/>
              </a:rPr>
              <a:t>final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OmnidriveSubsystem</a:t>
            </a:r>
            <a:r>
              <a:rPr sz="983">
                <a:solidFill>
                  <a:srgbClr val="E6EDF8"/>
                </a:solidFill>
                <a:latin typeface="Consolas"/>
              </a:rPr>
              <a:t> driveSubsystem = </a:t>
            </a:r>
            <a:r>
              <a:rPr sz="983">
                <a:solidFill>
                  <a:srgbClr val="A78BFA"/>
                </a:solidFill>
                <a:latin typeface="Consolas"/>
              </a:rPr>
              <a:t>new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OmnidriveSubsystem</a:t>
            </a:r>
            <a:r>
              <a:rPr sz="983">
                <a:solidFill>
                  <a:srgbClr val="E6EDF8"/>
                </a:solidFill>
                <a:latin typeface="Consolas"/>
              </a:rPr>
              <a:t>();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</a:t>
            </a:r>
            <a:r>
              <a:rPr sz="983">
                <a:solidFill>
                  <a:srgbClr val="A78BFA"/>
                </a:solidFill>
                <a:latin typeface="Consolas"/>
              </a:rPr>
              <a:t>private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A78BFA"/>
                </a:solidFill>
                <a:latin typeface="Consolas"/>
              </a:rPr>
              <a:t>final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Joystick</a:t>
            </a:r>
            <a:r>
              <a:rPr sz="983">
                <a:solidFill>
                  <a:srgbClr val="E6EDF8"/>
                </a:solidFill>
                <a:latin typeface="Consolas"/>
              </a:rPr>
              <a:t> joystick = </a:t>
            </a:r>
            <a:r>
              <a:rPr sz="983">
                <a:solidFill>
                  <a:srgbClr val="A78BFA"/>
                </a:solidFill>
                <a:latin typeface="Consolas"/>
              </a:rPr>
              <a:t>new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Joystick</a:t>
            </a:r>
            <a:r>
              <a:rPr sz="983">
                <a:solidFill>
                  <a:srgbClr val="E6EDF8"/>
                </a:solidFill>
                <a:latin typeface="Consolas"/>
              </a:rPr>
              <a:t>(</a:t>
            </a:r>
            <a:r>
              <a:rPr sz="983">
                <a:solidFill>
                  <a:srgbClr val="34D399"/>
                </a:solidFill>
                <a:latin typeface="Consolas"/>
              </a:rPr>
              <a:t>OIConstants</a:t>
            </a:r>
            <a:r>
              <a:rPr sz="983">
                <a:solidFill>
                  <a:srgbClr val="E6EDF8"/>
                </a:solidFill>
                <a:latin typeface="Consolas"/>
              </a:rPr>
              <a:t>.kJoystickPort);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</a:t>
            </a:r>
            <a:r>
              <a:rPr sz="983">
                <a:solidFill>
                  <a:srgbClr val="A78BFA"/>
                </a:solidFill>
                <a:latin typeface="Consolas"/>
              </a:rPr>
              <a:t>private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A78BFA"/>
                </a:solidFill>
                <a:latin typeface="Consolas"/>
              </a:rPr>
              <a:t>final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SendableChooser</a:t>
            </a:r>
            <a:r>
              <a:rPr sz="983">
                <a:solidFill>
                  <a:srgbClr val="E6EDF8"/>
                </a:solidFill>
                <a:latin typeface="Consolas"/>
              </a:rPr>
              <a:t>&lt;</a:t>
            </a:r>
            <a:r>
              <a:rPr sz="983">
                <a:solidFill>
                  <a:srgbClr val="34D399"/>
                </a:solidFill>
                <a:latin typeface="Consolas"/>
              </a:rPr>
              <a:t>Command</a:t>
            </a:r>
            <a:r>
              <a:rPr sz="983">
                <a:solidFill>
                  <a:srgbClr val="E6EDF8"/>
                </a:solidFill>
                <a:latin typeface="Consolas"/>
              </a:rPr>
              <a:t>&gt; autoChooser;</a:t>
            </a:r>
          </a:p>
          <a:p>
            <a:pPr algn="l">
              <a:lnSpc>
                <a:spcPct val="120000"/>
              </a:lnSpc>
            </a:pPr>
            <a:endParaRPr sz="983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</a:t>
            </a:r>
            <a:r>
              <a:rPr sz="983">
                <a:solidFill>
                  <a:srgbClr val="A78BFA"/>
                </a:solidFill>
                <a:latin typeface="Consolas"/>
              </a:rPr>
              <a:t>public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RobotContainer</a:t>
            </a:r>
            <a:r>
              <a:rPr sz="983">
                <a:solidFill>
                  <a:srgbClr val="E6EDF8"/>
                </a:solidFill>
                <a:latin typeface="Consolas"/>
              </a:rPr>
              <a:t>() {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autoChooser = </a:t>
            </a:r>
            <a:r>
              <a:rPr sz="983">
                <a:solidFill>
                  <a:srgbClr val="A78BFA"/>
                </a:solidFill>
                <a:latin typeface="Consolas"/>
              </a:rPr>
              <a:t>new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SendableChooser</a:t>
            </a:r>
            <a:r>
              <a:rPr sz="983">
                <a:solidFill>
                  <a:srgbClr val="E6EDF8"/>
                </a:solidFill>
                <a:latin typeface="Consolas"/>
              </a:rPr>
              <a:t>&lt;&gt;();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configureButtonBindings();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configureDefaultCommands();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}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</a:t>
            </a:r>
            <a:r>
              <a:rPr sz="983">
                <a:solidFill>
                  <a:srgbClr val="A78BFA"/>
                </a:solidFill>
                <a:latin typeface="Consolas"/>
              </a:rPr>
              <a:t>private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A78BFA"/>
                </a:solidFill>
                <a:latin typeface="Consolas"/>
              </a:rPr>
              <a:t>void</a:t>
            </a:r>
            <a:r>
              <a:rPr sz="983">
                <a:solidFill>
                  <a:srgbClr val="E6EDF8"/>
                </a:solidFill>
                <a:latin typeface="Consolas"/>
              </a:rPr>
              <a:t> configureButtonBindings() {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</a:t>
            </a:r>
            <a:r>
              <a:rPr sz="983">
                <a:solidFill>
                  <a:srgbClr val="34D399"/>
                </a:solidFill>
                <a:latin typeface="Consolas"/>
              </a:rPr>
              <a:t>SmartDashboard</a:t>
            </a:r>
            <a:r>
              <a:rPr sz="983">
                <a:solidFill>
                  <a:srgbClr val="E6EDF8"/>
                </a:solidFill>
                <a:latin typeface="Consolas"/>
              </a:rPr>
              <a:t>.putData(</a:t>
            </a:r>
            <a:r>
              <a:rPr sz="983">
                <a:solidFill>
                  <a:srgbClr val="FBBF24"/>
                </a:solidFill>
                <a:latin typeface="Consolas"/>
              </a:rPr>
              <a:t>"Autonomous"</a:t>
            </a:r>
            <a:r>
              <a:rPr sz="983">
                <a:solidFill>
                  <a:srgbClr val="E6EDF8"/>
                </a:solidFill>
                <a:latin typeface="Consolas"/>
              </a:rPr>
              <a:t>, autoChooser);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autoChooser.setDefaultOption(</a:t>
            </a:r>
            <a:r>
              <a:rPr sz="983">
                <a:solidFill>
                  <a:srgbClr val="FBBF24"/>
                </a:solidFill>
                <a:latin typeface="Consolas"/>
              </a:rPr>
              <a:t>"Autonomous None"</a:t>
            </a:r>
            <a:r>
              <a:rPr sz="983">
                <a:solidFill>
                  <a:srgbClr val="E6EDF8"/>
                </a:solidFill>
                <a:latin typeface="Consolas"/>
              </a:rPr>
              <a:t>, </a:t>
            </a:r>
            <a:r>
              <a:rPr sz="983">
                <a:solidFill>
                  <a:srgbClr val="A78BFA"/>
                </a:solidFill>
                <a:latin typeface="Consolas"/>
              </a:rPr>
              <a:t>new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InstantCommand</a:t>
            </a:r>
            <a:r>
              <a:rPr sz="983">
                <a:solidFill>
                  <a:srgbClr val="E6EDF8"/>
                </a:solidFill>
                <a:latin typeface="Consolas"/>
              </a:rPr>
              <a:t>());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</a:t>
            </a:r>
            <a:r>
              <a:rPr sz="983">
                <a:solidFill>
                  <a:srgbClr val="A78BFA"/>
                </a:solidFill>
                <a:latin typeface="Consolas"/>
              </a:rPr>
              <a:t>new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JoystickButton</a:t>
            </a:r>
            <a:r>
              <a:rPr sz="983">
                <a:solidFill>
                  <a:srgbClr val="E6EDF8"/>
                </a:solidFill>
                <a:latin typeface="Consolas"/>
              </a:rPr>
              <a:t>(joystick, </a:t>
            </a:r>
            <a:r>
              <a:rPr sz="983">
                <a:solidFill>
                  <a:srgbClr val="34D399"/>
                </a:solidFill>
                <a:latin typeface="Consolas"/>
              </a:rPr>
              <a:t>OIConstants</a:t>
            </a:r>
            <a:r>
              <a:rPr sz="983">
                <a:solidFill>
                  <a:srgbClr val="E6EDF8"/>
                </a:solidFill>
                <a:latin typeface="Consolas"/>
              </a:rPr>
              <a:t>.kResetGyroButton)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    .whenPressed(</a:t>
            </a:r>
            <a:r>
              <a:rPr sz="983">
                <a:solidFill>
                  <a:srgbClr val="A78BFA"/>
                </a:solidFill>
                <a:latin typeface="Consolas"/>
              </a:rPr>
              <a:t>new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InstantCommand</a:t>
            </a:r>
            <a:r>
              <a:rPr sz="983">
                <a:solidFill>
                  <a:srgbClr val="E6EDF8"/>
                </a:solidFill>
                <a:latin typeface="Consolas"/>
              </a:rPr>
              <a:t>(driveSubsystem::resetHeading));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autoChooser.addOption(</a:t>
            </a:r>
            <a:r>
              <a:rPr sz="983">
                <a:solidFill>
                  <a:srgbClr val="FBBF24"/>
                </a:solidFill>
                <a:latin typeface="Consolas"/>
              </a:rPr>
              <a:t>"Auto 1"</a:t>
            </a:r>
            <a:r>
              <a:rPr sz="983">
                <a:solidFill>
                  <a:srgbClr val="E6EDF8"/>
                </a:solidFill>
                <a:latin typeface="Consolas"/>
              </a:rPr>
              <a:t>,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    </a:t>
            </a:r>
            <a:r>
              <a:rPr sz="983">
                <a:solidFill>
                  <a:srgbClr val="A78BFA"/>
                </a:solidFill>
                <a:latin typeface="Consolas"/>
              </a:rPr>
              <a:t>new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DriveDistanceCommand</a:t>
            </a:r>
            <a:r>
              <a:rPr sz="983">
                <a:solidFill>
                  <a:srgbClr val="E6EDF8"/>
                </a:solidFill>
                <a:latin typeface="Consolas"/>
              </a:rPr>
              <a:t>(driveSubsystem, </a:t>
            </a:r>
            <a:r>
              <a:rPr sz="983">
                <a:solidFill>
                  <a:srgbClr val="F472B6"/>
                </a:solidFill>
                <a:latin typeface="Consolas"/>
              </a:rPr>
              <a:t>1</a:t>
            </a:r>
            <a:r>
              <a:rPr sz="983">
                <a:solidFill>
                  <a:srgbClr val="E6EDF8"/>
                </a:solidFill>
                <a:latin typeface="Consolas"/>
              </a:rPr>
              <a:t>, -</a:t>
            </a:r>
            <a:r>
              <a:rPr sz="983">
                <a:solidFill>
                  <a:srgbClr val="F472B6"/>
                </a:solidFill>
                <a:latin typeface="Consolas"/>
              </a:rPr>
              <a:t>1</a:t>
            </a:r>
            <a:r>
              <a:rPr sz="983">
                <a:solidFill>
                  <a:srgbClr val="E6EDF8"/>
                </a:solidFill>
                <a:latin typeface="Consolas"/>
              </a:rPr>
              <a:t>, </a:t>
            </a:r>
            <a:r>
              <a:rPr sz="983">
                <a:solidFill>
                  <a:srgbClr val="F472B6"/>
                </a:solidFill>
                <a:latin typeface="Consolas"/>
              </a:rPr>
              <a:t>0.2</a:t>
            </a:r>
            <a:r>
              <a:rPr sz="983">
                <a:solidFill>
                  <a:srgbClr val="E6EDF8"/>
                </a:solidFill>
                <a:latin typeface="Consolas"/>
              </a:rPr>
              <a:t>));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  autoChooser.addOption(</a:t>
            </a:r>
            <a:r>
              <a:rPr sz="983">
                <a:solidFill>
                  <a:srgbClr val="FBBF24"/>
                </a:solidFill>
                <a:latin typeface="Consolas"/>
              </a:rPr>
              <a:t>"Auto 2"</a:t>
            </a:r>
            <a:r>
              <a:rPr sz="983">
                <a:solidFill>
                  <a:srgbClr val="E6EDF8"/>
                </a:solidFill>
                <a:latin typeface="Consolas"/>
              </a:rPr>
              <a:t>, </a:t>
            </a:r>
            <a:r>
              <a:rPr sz="983">
                <a:solidFill>
                  <a:srgbClr val="A78BFA"/>
                </a:solidFill>
                <a:latin typeface="Consolas"/>
              </a:rPr>
              <a:t>new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SquareAutoCommand</a:t>
            </a:r>
            <a:r>
              <a:rPr sz="983">
                <a:solidFill>
                  <a:srgbClr val="E6EDF8"/>
                </a:solidFill>
                <a:latin typeface="Consolas"/>
              </a:rPr>
              <a:t>(driveSubsystem));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}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  </a:t>
            </a:r>
            <a:r>
              <a:rPr sz="983">
                <a:solidFill>
                  <a:srgbClr val="A78BFA"/>
                </a:solidFill>
                <a:latin typeface="Consolas"/>
              </a:rPr>
              <a:t>public</a:t>
            </a:r>
            <a:r>
              <a:rPr sz="983">
                <a:solidFill>
                  <a:srgbClr val="E6EDF8"/>
                </a:solidFill>
                <a:latin typeface="Consolas"/>
              </a:rPr>
              <a:t> </a:t>
            </a:r>
            <a:r>
              <a:rPr sz="983">
                <a:solidFill>
                  <a:srgbClr val="34D399"/>
                </a:solidFill>
                <a:latin typeface="Consolas"/>
              </a:rPr>
              <a:t>Command</a:t>
            </a:r>
            <a:r>
              <a:rPr sz="983">
                <a:solidFill>
                  <a:srgbClr val="E6EDF8"/>
                </a:solidFill>
                <a:latin typeface="Consolas"/>
              </a:rPr>
              <a:t> getAutonomousCommand() { </a:t>
            </a:r>
            <a:r>
              <a:rPr sz="983">
                <a:solidFill>
                  <a:srgbClr val="A78BFA"/>
                </a:solidFill>
                <a:latin typeface="Consolas"/>
              </a:rPr>
              <a:t>return</a:t>
            </a:r>
            <a:r>
              <a:rPr sz="983">
                <a:solidFill>
                  <a:srgbClr val="E6EDF8"/>
                </a:solidFill>
                <a:latin typeface="Consolas"/>
              </a:rPr>
              <a:t> autoChooser.getSelected(); }</a:t>
            </a:r>
          </a:p>
          <a:p>
            <a:pPr algn="l">
              <a:lnSpc>
                <a:spcPct val="120000"/>
              </a:lnSpc>
            </a:pPr>
            <a:r>
              <a:rPr sz="983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1716328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RobotContainer.java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103120"/>
            <a:ext cx="2788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Um subsystem só. </a:t>
            </a:r>
            <a:r>
              <a:rPr sz="1250">
                <a:solidFill>
                  <a:srgbClr val="E6EDF8"/>
                </a:solidFill>
                <a:latin typeface="Segoe UI"/>
              </a:rPr>
              <a:t>Instanciado aqui e passado por construtor a quem precisar.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SendableChooser </a:t>
            </a:r>
            <a:r>
              <a:rPr sz="1250">
                <a:solidFill>
                  <a:srgbClr val="E6EDF8"/>
                </a:solidFill>
                <a:latin typeface="Segoe UI"/>
              </a:rPr>
              <a:t>deixa você escolher o autônomo no dashboard, sem recompilar.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Default “None” </a:t>
            </a:r>
            <a:r>
              <a:rPr sz="1250">
                <a:solidFill>
                  <a:srgbClr val="E6EDF8"/>
                </a:solidFill>
                <a:latin typeface="Segoe UI"/>
              </a:rPr>
              <a:t>= InstantCommand vazio. Robô paradão é o padrão seguro.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Auto 1 </a:t>
            </a:r>
            <a:r>
              <a:rPr sz="1250">
                <a:solidFill>
                  <a:srgbClr val="E6EDF8"/>
                </a:solidFill>
                <a:latin typeface="Segoe UI"/>
              </a:rPr>
              <a:t>anda 0,2 m na diagonal (1, -1) — já normalizada no construtor.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CONSTANTS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Nenhum número mágico espalhado pelo código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7315200" cy="347472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1010">
                <a:solidFill>
                  <a:srgbClr val="A78BFA"/>
                </a:solidFill>
                <a:latin typeface="Consolas"/>
              </a:rPr>
              <a:t>public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static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final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class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34D399"/>
                </a:solidFill>
                <a:latin typeface="Consolas"/>
              </a:rPr>
              <a:t>DriveConstants</a:t>
            </a:r>
            <a:r>
              <a:rPr sz="1010">
                <a:solidFill>
                  <a:srgbClr val="E6EDF8"/>
                </a:solidFill>
                <a:latin typeface="Consolas"/>
              </a:rPr>
              <a:t> {</a:t>
            </a:r>
          </a:p>
          <a:p>
            <a:pPr algn="l">
              <a:lnSpc>
                <a:spcPct val="120000"/>
              </a:lnSpc>
            </a:pPr>
            <a:r>
              <a:rPr sz="1010">
                <a:solidFill>
                  <a:srgbClr val="E6EDF8"/>
                </a:solidFill>
                <a:latin typeface="Consolas"/>
              </a:rPr>
              <a:t>  </a:t>
            </a:r>
            <a:r>
              <a:rPr sz="1010">
                <a:solidFill>
                  <a:srgbClr val="A78BFA"/>
                </a:solidFill>
                <a:latin typeface="Consolas"/>
              </a:rPr>
              <a:t>public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static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final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int</a:t>
            </a:r>
            <a:r>
              <a:rPr sz="1010">
                <a:solidFill>
                  <a:srgbClr val="E6EDF8"/>
                </a:solidFill>
                <a:latin typeface="Consolas"/>
              </a:rPr>
              <a:t> kTitanCanId = </a:t>
            </a:r>
            <a:r>
              <a:rPr sz="1010">
                <a:solidFill>
                  <a:srgbClr val="F472B6"/>
                </a:solidFill>
                <a:latin typeface="Consolas"/>
              </a:rPr>
              <a:t>42</a:t>
            </a:r>
            <a:r>
              <a:rPr sz="101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10">
                <a:solidFill>
                  <a:srgbClr val="E6EDF8"/>
                </a:solidFill>
                <a:latin typeface="Consolas"/>
              </a:rPr>
              <a:t>  </a:t>
            </a:r>
            <a:r>
              <a:rPr sz="1010">
                <a:solidFill>
                  <a:srgbClr val="A78BFA"/>
                </a:solidFill>
                <a:latin typeface="Consolas"/>
              </a:rPr>
              <a:t>public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static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final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int</a:t>
            </a:r>
            <a:r>
              <a:rPr sz="1010">
                <a:solidFill>
                  <a:srgbClr val="E6EDF8"/>
                </a:solidFill>
                <a:latin typeface="Consolas"/>
              </a:rPr>
              <a:t> kMotor1Channel = </a:t>
            </a:r>
            <a:r>
              <a:rPr sz="1010">
                <a:solidFill>
                  <a:srgbClr val="F472B6"/>
                </a:solidFill>
                <a:latin typeface="Consolas"/>
              </a:rPr>
              <a:t>0</a:t>
            </a:r>
            <a:r>
              <a:rPr sz="1010">
                <a:solidFill>
                  <a:srgbClr val="E6EDF8"/>
                </a:solidFill>
                <a:latin typeface="Consolas"/>
              </a:rPr>
              <a:t>;   </a:t>
            </a:r>
            <a:r>
              <a:rPr sz="1010" i="1">
                <a:solidFill>
                  <a:srgbClr val="6B82A6"/>
                </a:solidFill>
                <a:latin typeface="Consolas"/>
              </a:rPr>
              <a:t>// Traseira</a:t>
            </a:r>
          </a:p>
          <a:p>
            <a:pPr algn="l">
              <a:lnSpc>
                <a:spcPct val="120000"/>
              </a:lnSpc>
            </a:pPr>
            <a:r>
              <a:rPr sz="1010">
                <a:solidFill>
                  <a:srgbClr val="E6EDF8"/>
                </a:solidFill>
                <a:latin typeface="Consolas"/>
              </a:rPr>
              <a:t>  </a:t>
            </a:r>
            <a:r>
              <a:rPr sz="1010">
                <a:solidFill>
                  <a:srgbClr val="A78BFA"/>
                </a:solidFill>
                <a:latin typeface="Consolas"/>
              </a:rPr>
              <a:t>public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static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final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int</a:t>
            </a:r>
            <a:r>
              <a:rPr sz="1010">
                <a:solidFill>
                  <a:srgbClr val="E6EDF8"/>
                </a:solidFill>
                <a:latin typeface="Consolas"/>
              </a:rPr>
              <a:t> kMotor2Channel = </a:t>
            </a:r>
            <a:r>
              <a:rPr sz="1010">
                <a:solidFill>
                  <a:srgbClr val="F472B6"/>
                </a:solidFill>
                <a:latin typeface="Consolas"/>
              </a:rPr>
              <a:t>1</a:t>
            </a:r>
            <a:r>
              <a:rPr sz="1010">
                <a:solidFill>
                  <a:srgbClr val="E6EDF8"/>
                </a:solidFill>
                <a:latin typeface="Consolas"/>
              </a:rPr>
              <a:t>;   </a:t>
            </a:r>
            <a:r>
              <a:rPr sz="1010" i="1">
                <a:solidFill>
                  <a:srgbClr val="6B82A6"/>
                </a:solidFill>
                <a:latin typeface="Consolas"/>
              </a:rPr>
              <a:t>// Frontal Direita</a:t>
            </a:r>
          </a:p>
          <a:p>
            <a:pPr algn="l">
              <a:lnSpc>
                <a:spcPct val="120000"/>
              </a:lnSpc>
            </a:pPr>
            <a:r>
              <a:rPr sz="1010">
                <a:solidFill>
                  <a:srgbClr val="E6EDF8"/>
                </a:solidFill>
                <a:latin typeface="Consolas"/>
              </a:rPr>
              <a:t>  </a:t>
            </a:r>
            <a:r>
              <a:rPr sz="1010">
                <a:solidFill>
                  <a:srgbClr val="A78BFA"/>
                </a:solidFill>
                <a:latin typeface="Consolas"/>
              </a:rPr>
              <a:t>public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static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final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int</a:t>
            </a:r>
            <a:r>
              <a:rPr sz="1010">
                <a:solidFill>
                  <a:srgbClr val="E6EDF8"/>
                </a:solidFill>
                <a:latin typeface="Consolas"/>
              </a:rPr>
              <a:t> kMotor3Channel = </a:t>
            </a:r>
            <a:r>
              <a:rPr sz="1010">
                <a:solidFill>
                  <a:srgbClr val="F472B6"/>
                </a:solidFill>
                <a:latin typeface="Consolas"/>
              </a:rPr>
              <a:t>2</a:t>
            </a:r>
            <a:r>
              <a:rPr sz="1010">
                <a:solidFill>
                  <a:srgbClr val="E6EDF8"/>
                </a:solidFill>
                <a:latin typeface="Consolas"/>
              </a:rPr>
              <a:t>;   </a:t>
            </a:r>
            <a:r>
              <a:rPr sz="1010" i="1">
                <a:solidFill>
                  <a:srgbClr val="6B82A6"/>
                </a:solidFill>
                <a:latin typeface="Consolas"/>
              </a:rPr>
              <a:t>// Frontal Esquerda</a:t>
            </a:r>
          </a:p>
          <a:p>
            <a:pPr algn="l">
              <a:lnSpc>
                <a:spcPct val="120000"/>
              </a:lnSpc>
            </a:pPr>
            <a:endParaRPr sz="1010" i="1">
              <a:solidFill>
                <a:srgbClr val="6B82A6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1010">
                <a:solidFill>
                  <a:srgbClr val="E6EDF8"/>
                </a:solidFill>
                <a:latin typeface="Consolas"/>
              </a:rPr>
              <a:t>  </a:t>
            </a:r>
            <a:r>
              <a:rPr sz="1010" i="1">
                <a:solidFill>
                  <a:srgbClr val="6B82A6"/>
                </a:solidFill>
                <a:latin typeface="Consolas"/>
              </a:rPr>
              <a:t>// CONFERIR NO HARDWARE</a:t>
            </a:r>
          </a:p>
          <a:p>
            <a:pPr algn="l">
              <a:lnSpc>
                <a:spcPct val="120000"/>
              </a:lnSpc>
            </a:pPr>
            <a:r>
              <a:rPr sz="1010">
                <a:solidFill>
                  <a:srgbClr val="E6EDF8"/>
                </a:solidFill>
                <a:latin typeface="Consolas"/>
              </a:rPr>
              <a:t>  </a:t>
            </a:r>
            <a:r>
              <a:rPr sz="1010">
                <a:solidFill>
                  <a:srgbClr val="A78BFA"/>
                </a:solidFill>
                <a:latin typeface="Consolas"/>
              </a:rPr>
              <a:t>public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static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final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double</a:t>
            </a:r>
            <a:r>
              <a:rPr sz="1010">
                <a:solidFill>
                  <a:srgbClr val="E6EDF8"/>
                </a:solidFill>
                <a:latin typeface="Consolas"/>
              </a:rPr>
              <a:t> kEncoderTicksPerRevolution = </a:t>
            </a:r>
            <a:r>
              <a:rPr sz="1010">
                <a:solidFill>
                  <a:srgbClr val="F472B6"/>
                </a:solidFill>
                <a:latin typeface="Consolas"/>
              </a:rPr>
              <a:t>1464.0</a:t>
            </a:r>
            <a:r>
              <a:rPr sz="101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10">
                <a:solidFill>
                  <a:srgbClr val="E6EDF8"/>
                </a:solidFill>
                <a:latin typeface="Consolas"/>
              </a:rPr>
              <a:t>  </a:t>
            </a:r>
            <a:r>
              <a:rPr sz="1010">
                <a:solidFill>
                  <a:srgbClr val="A78BFA"/>
                </a:solidFill>
                <a:latin typeface="Consolas"/>
              </a:rPr>
              <a:t>public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static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final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double</a:t>
            </a:r>
            <a:r>
              <a:rPr sz="1010">
                <a:solidFill>
                  <a:srgbClr val="E6EDF8"/>
                </a:solidFill>
                <a:latin typeface="Consolas"/>
              </a:rPr>
              <a:t> kWheelDiameterMeters = </a:t>
            </a:r>
            <a:r>
              <a:rPr sz="1010">
                <a:solidFill>
                  <a:srgbClr val="F472B6"/>
                </a:solidFill>
                <a:latin typeface="Consolas"/>
              </a:rPr>
              <a:t>0.100</a:t>
            </a:r>
            <a:r>
              <a:rPr sz="101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10">
                <a:solidFill>
                  <a:srgbClr val="E6EDF8"/>
                </a:solidFill>
                <a:latin typeface="Consolas"/>
              </a:rPr>
              <a:t>  </a:t>
            </a:r>
            <a:r>
              <a:rPr sz="1010">
                <a:solidFill>
                  <a:srgbClr val="A78BFA"/>
                </a:solidFill>
                <a:latin typeface="Consolas"/>
              </a:rPr>
              <a:t>public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static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final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double</a:t>
            </a:r>
            <a:r>
              <a:rPr sz="1010">
                <a:solidFill>
                  <a:srgbClr val="E6EDF8"/>
                </a:solidFill>
                <a:latin typeface="Consolas"/>
              </a:rPr>
              <a:t> kEncoderDistancePerTick =</a:t>
            </a:r>
          </a:p>
          <a:p>
            <a:pPr algn="l">
              <a:lnSpc>
                <a:spcPct val="120000"/>
              </a:lnSpc>
            </a:pPr>
            <a:r>
              <a:rPr sz="1010">
                <a:solidFill>
                  <a:srgbClr val="E6EDF8"/>
                </a:solidFill>
                <a:latin typeface="Consolas"/>
              </a:rPr>
              <a:t>      (</a:t>
            </a:r>
            <a:r>
              <a:rPr sz="1010">
                <a:solidFill>
                  <a:srgbClr val="34D399"/>
                </a:solidFill>
                <a:latin typeface="Consolas"/>
              </a:rPr>
              <a:t>Math</a:t>
            </a:r>
            <a:r>
              <a:rPr sz="1010">
                <a:solidFill>
                  <a:srgbClr val="E6EDF8"/>
                </a:solidFill>
                <a:latin typeface="Consolas"/>
              </a:rPr>
              <a:t>.</a:t>
            </a:r>
            <a:r>
              <a:rPr sz="1010">
                <a:solidFill>
                  <a:srgbClr val="34D399"/>
                </a:solidFill>
                <a:latin typeface="Consolas"/>
              </a:rPr>
              <a:t>PI</a:t>
            </a:r>
            <a:r>
              <a:rPr sz="1010">
                <a:solidFill>
                  <a:srgbClr val="E6EDF8"/>
                </a:solidFill>
                <a:latin typeface="Consolas"/>
              </a:rPr>
              <a:t> * kWheelDiameterMeters) / kEncoderTicksPerRevolution;</a:t>
            </a:r>
          </a:p>
          <a:p>
            <a:pPr algn="l">
              <a:lnSpc>
                <a:spcPct val="120000"/>
              </a:lnSpc>
            </a:pPr>
            <a:r>
              <a:rPr sz="1010">
                <a:solidFill>
                  <a:srgbClr val="E6EDF8"/>
                </a:solidFill>
                <a:latin typeface="Consolas"/>
              </a:rPr>
              <a:t>  </a:t>
            </a:r>
            <a:r>
              <a:rPr sz="1010">
                <a:solidFill>
                  <a:srgbClr val="A78BFA"/>
                </a:solidFill>
                <a:latin typeface="Consolas"/>
              </a:rPr>
              <a:t>public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static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final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double</a:t>
            </a:r>
            <a:r>
              <a:rPr sz="1010">
                <a:solidFill>
                  <a:srgbClr val="E6EDF8"/>
                </a:solidFill>
                <a:latin typeface="Consolas"/>
              </a:rPr>
              <a:t> kRobotRadiusMeters = </a:t>
            </a:r>
            <a:r>
              <a:rPr sz="1010">
                <a:solidFill>
                  <a:srgbClr val="F472B6"/>
                </a:solidFill>
                <a:latin typeface="Consolas"/>
              </a:rPr>
              <a:t>0.150</a:t>
            </a:r>
            <a:r>
              <a:rPr sz="101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10">
                <a:solidFill>
                  <a:srgbClr val="E6EDF8"/>
                </a:solidFill>
                <a:latin typeface="Consolas"/>
              </a:rPr>
              <a:t>  </a:t>
            </a:r>
            <a:r>
              <a:rPr sz="1010">
                <a:solidFill>
                  <a:srgbClr val="A78BFA"/>
                </a:solidFill>
                <a:latin typeface="Consolas"/>
              </a:rPr>
              <a:t>public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static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final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boolean</a:t>
            </a:r>
            <a:r>
              <a:rPr sz="1010">
                <a:solidFill>
                  <a:srgbClr val="E6EDF8"/>
                </a:solidFill>
                <a:latin typeface="Consolas"/>
              </a:rPr>
              <a:t> kGyroReversed = </a:t>
            </a:r>
            <a:r>
              <a:rPr sz="1010">
                <a:solidFill>
                  <a:srgbClr val="A78BFA"/>
                </a:solidFill>
                <a:latin typeface="Consolas"/>
              </a:rPr>
              <a:t>false</a:t>
            </a:r>
            <a:r>
              <a:rPr sz="101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10">
                <a:solidFill>
                  <a:srgbClr val="E6EDF8"/>
                </a:solidFill>
                <a:latin typeface="Consolas"/>
              </a:rPr>
              <a:t>  </a:t>
            </a:r>
            <a:r>
              <a:rPr sz="1010">
                <a:solidFill>
                  <a:srgbClr val="A78BFA"/>
                </a:solidFill>
                <a:latin typeface="Consolas"/>
              </a:rPr>
              <a:t>public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static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final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double</a:t>
            </a:r>
            <a:r>
              <a:rPr sz="1010">
                <a:solidFill>
                  <a:srgbClr val="E6EDF8"/>
                </a:solidFill>
                <a:latin typeface="Consolas"/>
              </a:rPr>
              <a:t> kMaxRPM = </a:t>
            </a:r>
            <a:r>
              <a:rPr sz="1010">
                <a:solidFill>
                  <a:srgbClr val="F472B6"/>
                </a:solidFill>
                <a:latin typeface="Consolas"/>
              </a:rPr>
              <a:t>150.0</a:t>
            </a:r>
            <a:r>
              <a:rPr sz="101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10">
                <a:solidFill>
                  <a:srgbClr val="E6EDF8"/>
                </a:solidFill>
                <a:latin typeface="Consolas"/>
              </a:rPr>
              <a:t>  </a:t>
            </a:r>
            <a:r>
              <a:rPr sz="1010">
                <a:solidFill>
                  <a:srgbClr val="A78BFA"/>
                </a:solidFill>
                <a:latin typeface="Consolas"/>
              </a:rPr>
              <a:t>public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static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final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double</a:t>
            </a:r>
            <a:r>
              <a:rPr sz="1010">
                <a:solidFill>
                  <a:srgbClr val="E6EDF8"/>
                </a:solidFill>
                <a:latin typeface="Consolas"/>
              </a:rPr>
              <a:t> kP = </a:t>
            </a:r>
            <a:r>
              <a:rPr sz="1010">
                <a:solidFill>
                  <a:srgbClr val="F472B6"/>
                </a:solidFill>
                <a:latin typeface="Consolas"/>
              </a:rPr>
              <a:t>0.005</a:t>
            </a:r>
            <a:r>
              <a:rPr sz="1010">
                <a:solidFill>
                  <a:srgbClr val="E6EDF8"/>
                </a:solidFill>
                <a:latin typeface="Consolas"/>
              </a:rPr>
              <a:t>, kI = </a:t>
            </a:r>
            <a:r>
              <a:rPr sz="1010">
                <a:solidFill>
                  <a:srgbClr val="F472B6"/>
                </a:solidFill>
                <a:latin typeface="Consolas"/>
              </a:rPr>
              <a:t>0.001</a:t>
            </a:r>
            <a:r>
              <a:rPr sz="1010">
                <a:solidFill>
                  <a:srgbClr val="E6EDF8"/>
                </a:solidFill>
                <a:latin typeface="Consolas"/>
              </a:rPr>
              <a:t>, kD = </a:t>
            </a:r>
            <a:r>
              <a:rPr sz="1010">
                <a:solidFill>
                  <a:srgbClr val="F472B6"/>
                </a:solidFill>
                <a:latin typeface="Consolas"/>
              </a:rPr>
              <a:t>0.000</a:t>
            </a:r>
            <a:r>
              <a:rPr sz="101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10">
                <a:solidFill>
                  <a:srgbClr val="E6EDF8"/>
                </a:solidFill>
                <a:latin typeface="Consolas"/>
              </a:rPr>
              <a:t>  </a:t>
            </a:r>
            <a:r>
              <a:rPr sz="1010">
                <a:solidFill>
                  <a:srgbClr val="A78BFA"/>
                </a:solidFill>
                <a:latin typeface="Consolas"/>
              </a:rPr>
              <a:t>public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static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final</a:t>
            </a:r>
            <a:r>
              <a:rPr sz="1010">
                <a:solidFill>
                  <a:srgbClr val="E6EDF8"/>
                </a:solidFill>
                <a:latin typeface="Consolas"/>
              </a:rPr>
              <a:t> </a:t>
            </a:r>
            <a:r>
              <a:rPr sz="1010">
                <a:solidFill>
                  <a:srgbClr val="A78BFA"/>
                </a:solidFill>
                <a:latin typeface="Consolas"/>
              </a:rPr>
              <a:t>double</a:t>
            </a:r>
            <a:r>
              <a:rPr sz="1010">
                <a:solidFill>
                  <a:srgbClr val="E6EDF8"/>
                </a:solidFill>
                <a:latin typeface="Consolas"/>
              </a:rPr>
              <a:t> kSlewRateX = </a:t>
            </a:r>
            <a:r>
              <a:rPr sz="1010">
                <a:solidFill>
                  <a:srgbClr val="F472B6"/>
                </a:solidFill>
                <a:latin typeface="Consolas"/>
              </a:rPr>
              <a:t>2.0</a:t>
            </a:r>
            <a:r>
              <a:rPr sz="1010">
                <a:solidFill>
                  <a:srgbClr val="E6EDF8"/>
                </a:solidFill>
                <a:latin typeface="Consolas"/>
              </a:rPr>
              <a:t>, kSlewRateY = </a:t>
            </a:r>
            <a:r>
              <a:rPr sz="1010">
                <a:solidFill>
                  <a:srgbClr val="F472B6"/>
                </a:solidFill>
                <a:latin typeface="Consolas"/>
              </a:rPr>
              <a:t>2.0</a:t>
            </a:r>
            <a:r>
              <a:rPr sz="1010">
                <a:solidFill>
                  <a:srgbClr val="E6EDF8"/>
                </a:solidFill>
                <a:latin typeface="Consolas"/>
              </a:rPr>
              <a:t>, kSlewRateZ = </a:t>
            </a:r>
            <a:r>
              <a:rPr sz="1010">
                <a:solidFill>
                  <a:srgbClr val="F472B6"/>
                </a:solidFill>
                <a:latin typeface="Consolas"/>
              </a:rPr>
              <a:t>3.0</a:t>
            </a:r>
            <a:r>
              <a:rPr sz="1010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10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1336852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Constants.java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10312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Três blocos: </a:t>
            </a:r>
            <a:r>
              <a:rPr sz="1250">
                <a:solidFill>
                  <a:srgbClr val="E6EDF8"/>
                </a:solidFill>
                <a:latin typeface="Segoe UI"/>
              </a:rPr>
              <a:t>DriveConstants (hardware), AutoConstants (trajeto), OIConstants (controle).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Derivadas na classe. </a:t>
            </a:r>
            <a:r>
              <a:rPr sz="1250">
                <a:solidFill>
                  <a:srgbClr val="E6EDF8"/>
                </a:solidFill>
                <a:latin typeface="Segoe UI"/>
              </a:rPr>
              <a:t>kEncoderDistancePerTick é calculada, não digitada.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Comentário “CONFERIR” </a:t>
            </a:r>
            <a:r>
              <a:rPr sz="1250">
                <a:solidFill>
                  <a:srgbClr val="E6EDF8"/>
                </a:solidFill>
                <a:latin typeface="Segoe UI"/>
              </a:rPr>
              <a:t>marca o que depende de medir o robô.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559552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9848" y="579729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2184" y="5650992"/>
            <a:ext cx="964691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kGyroReversed vale para a odometria E para o field-oriented ao mesmo tempo. Uma flag, duas funções — assim as duas nunca divergem de convenção.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TRATANDO O JOYSTICK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Zona morta com reescalonamento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6309360" cy="150876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1084">
                <a:solidFill>
                  <a:srgbClr val="A78BFA"/>
                </a:solidFill>
                <a:latin typeface="Consolas"/>
              </a:rPr>
              <a:t>private</a:t>
            </a:r>
            <a:r>
              <a:rPr sz="1084">
                <a:solidFill>
                  <a:srgbClr val="E6EDF8"/>
                </a:solidFill>
                <a:latin typeface="Consolas"/>
              </a:rPr>
              <a:t> </a:t>
            </a:r>
            <a:r>
              <a:rPr sz="1084">
                <a:solidFill>
                  <a:srgbClr val="A78BFA"/>
                </a:solidFill>
                <a:latin typeface="Consolas"/>
              </a:rPr>
              <a:t>static</a:t>
            </a:r>
            <a:r>
              <a:rPr sz="1084">
                <a:solidFill>
                  <a:srgbClr val="E6EDF8"/>
                </a:solidFill>
                <a:latin typeface="Consolas"/>
              </a:rPr>
              <a:t> </a:t>
            </a:r>
            <a:r>
              <a:rPr sz="1084">
                <a:solidFill>
                  <a:srgbClr val="A78BFA"/>
                </a:solidFill>
                <a:latin typeface="Consolas"/>
              </a:rPr>
              <a:t>double</a:t>
            </a:r>
            <a:r>
              <a:rPr sz="1084">
                <a:solidFill>
                  <a:srgbClr val="E6EDF8"/>
                </a:solidFill>
                <a:latin typeface="Consolas"/>
              </a:rPr>
              <a:t> applyDeadband(</a:t>
            </a:r>
            <a:r>
              <a:rPr sz="1084">
                <a:solidFill>
                  <a:srgbClr val="A78BFA"/>
                </a:solidFill>
                <a:latin typeface="Consolas"/>
              </a:rPr>
              <a:t>double</a:t>
            </a:r>
            <a:r>
              <a:rPr sz="1084">
                <a:solidFill>
                  <a:srgbClr val="E6EDF8"/>
                </a:solidFill>
                <a:latin typeface="Consolas"/>
              </a:rPr>
              <a:t> value, </a:t>
            </a:r>
            <a:r>
              <a:rPr sz="1084">
                <a:solidFill>
                  <a:srgbClr val="A78BFA"/>
                </a:solidFill>
                <a:latin typeface="Consolas"/>
              </a:rPr>
              <a:t>double</a:t>
            </a:r>
            <a:r>
              <a:rPr sz="1084">
                <a:solidFill>
                  <a:srgbClr val="E6EDF8"/>
                </a:solidFill>
                <a:latin typeface="Consolas"/>
              </a:rPr>
              <a:t> deadband) {</a:t>
            </a:r>
          </a:p>
          <a:p>
            <a:pPr algn="l">
              <a:lnSpc>
                <a:spcPct val="120000"/>
              </a:lnSpc>
            </a:pPr>
            <a:r>
              <a:rPr sz="1084">
                <a:solidFill>
                  <a:srgbClr val="E6EDF8"/>
                </a:solidFill>
                <a:latin typeface="Consolas"/>
              </a:rPr>
              <a:t>  </a:t>
            </a:r>
            <a:r>
              <a:rPr sz="1084">
                <a:solidFill>
                  <a:srgbClr val="A78BFA"/>
                </a:solidFill>
                <a:latin typeface="Consolas"/>
              </a:rPr>
              <a:t>if</a:t>
            </a:r>
            <a:r>
              <a:rPr sz="1084">
                <a:solidFill>
                  <a:srgbClr val="E6EDF8"/>
                </a:solidFill>
                <a:latin typeface="Consolas"/>
              </a:rPr>
              <a:t> (</a:t>
            </a:r>
            <a:r>
              <a:rPr sz="1084">
                <a:solidFill>
                  <a:srgbClr val="34D399"/>
                </a:solidFill>
                <a:latin typeface="Consolas"/>
              </a:rPr>
              <a:t>Math</a:t>
            </a:r>
            <a:r>
              <a:rPr sz="1084">
                <a:solidFill>
                  <a:srgbClr val="E6EDF8"/>
                </a:solidFill>
                <a:latin typeface="Consolas"/>
              </a:rPr>
              <a:t>.abs(value) &gt; deadband) {</a:t>
            </a:r>
          </a:p>
          <a:p>
            <a:pPr algn="l">
              <a:lnSpc>
                <a:spcPct val="120000"/>
              </a:lnSpc>
            </a:pPr>
            <a:r>
              <a:rPr sz="1084">
                <a:solidFill>
                  <a:srgbClr val="E6EDF8"/>
                </a:solidFill>
                <a:latin typeface="Consolas"/>
              </a:rPr>
              <a:t>    </a:t>
            </a:r>
            <a:r>
              <a:rPr sz="1084">
                <a:solidFill>
                  <a:srgbClr val="A78BFA"/>
                </a:solidFill>
                <a:latin typeface="Consolas"/>
              </a:rPr>
              <a:t>return</a:t>
            </a:r>
            <a:r>
              <a:rPr sz="1084">
                <a:solidFill>
                  <a:srgbClr val="E6EDF8"/>
                </a:solidFill>
                <a:latin typeface="Consolas"/>
              </a:rPr>
              <a:t> (value - </a:t>
            </a:r>
            <a:r>
              <a:rPr sz="1084">
                <a:solidFill>
                  <a:srgbClr val="34D399"/>
                </a:solidFill>
                <a:latin typeface="Consolas"/>
              </a:rPr>
              <a:t>Math</a:t>
            </a:r>
            <a:r>
              <a:rPr sz="1084">
                <a:solidFill>
                  <a:srgbClr val="E6EDF8"/>
                </a:solidFill>
                <a:latin typeface="Consolas"/>
              </a:rPr>
              <a:t>.copySign(deadband, value)) / (</a:t>
            </a:r>
            <a:r>
              <a:rPr sz="1084">
                <a:solidFill>
                  <a:srgbClr val="F472B6"/>
                </a:solidFill>
                <a:latin typeface="Consolas"/>
              </a:rPr>
              <a:t>1.0</a:t>
            </a:r>
            <a:r>
              <a:rPr sz="1084">
                <a:solidFill>
                  <a:srgbClr val="E6EDF8"/>
                </a:solidFill>
                <a:latin typeface="Consolas"/>
              </a:rPr>
              <a:t> - deadband);</a:t>
            </a:r>
          </a:p>
          <a:p>
            <a:pPr algn="l">
              <a:lnSpc>
                <a:spcPct val="120000"/>
              </a:lnSpc>
            </a:pPr>
            <a:r>
              <a:rPr sz="1084">
                <a:solidFill>
                  <a:srgbClr val="E6EDF8"/>
                </a:solidFill>
                <a:latin typeface="Consolas"/>
              </a:rPr>
              <a:t>  }</a:t>
            </a:r>
          </a:p>
          <a:p>
            <a:pPr algn="l">
              <a:lnSpc>
                <a:spcPct val="120000"/>
              </a:lnSpc>
            </a:pPr>
            <a:r>
              <a:rPr sz="1084">
                <a:solidFill>
                  <a:srgbClr val="E6EDF8"/>
                </a:solidFill>
                <a:latin typeface="Consolas"/>
              </a:rPr>
              <a:t>  </a:t>
            </a:r>
            <a:r>
              <a:rPr sz="1084">
                <a:solidFill>
                  <a:srgbClr val="A78BFA"/>
                </a:solidFill>
                <a:latin typeface="Consolas"/>
              </a:rPr>
              <a:t>return</a:t>
            </a:r>
            <a:r>
              <a:rPr sz="1084">
                <a:solidFill>
                  <a:srgbClr val="E6EDF8"/>
                </a:solidFill>
                <a:latin typeface="Consolas"/>
              </a:rPr>
              <a:t> </a:t>
            </a:r>
            <a:r>
              <a:rPr sz="1084">
                <a:solidFill>
                  <a:srgbClr val="F472B6"/>
                </a:solidFill>
                <a:latin typeface="Consolas"/>
              </a:rPr>
              <a:t>0.0</a:t>
            </a:r>
            <a:r>
              <a:rPr sz="1084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84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1412748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applyDeadband()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03320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O problema: </a:t>
            </a:r>
            <a:r>
              <a:rPr sz="1350">
                <a:solidFill>
                  <a:srgbClr val="E6EDF8"/>
                </a:solidFill>
                <a:latin typeface="Segoe UI"/>
              </a:rPr>
              <a:t>joystick parado raramente lê 0.000 — lê 0.01, 0.02. O robô “anda sozinho”.</a:t>
            </a:r>
          </a:p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Zona morta simples </a:t>
            </a:r>
            <a:r>
              <a:rPr sz="1350">
                <a:solidFill>
                  <a:srgbClr val="E6EDF8"/>
                </a:solidFill>
                <a:latin typeface="Segoe UI"/>
              </a:rPr>
              <a:t>resolve isso mas cria um degrau: ao passar do limiar, a saída salta.</a:t>
            </a:r>
          </a:p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Reescalonamento </a:t>
            </a:r>
            <a:r>
              <a:rPr sz="1350">
                <a:solidFill>
                  <a:srgbClr val="E6EDF8"/>
                </a:solidFill>
                <a:latin typeface="Segoe UI"/>
              </a:rPr>
              <a:t>estica o que sobrou de volta para 0…1. Sem degrau, sem deriva.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011680"/>
            <a:ext cx="3703320" cy="3154680"/>
          </a:xfrm>
          <a:prstGeom prst="roundRect">
            <a:avLst>
              <a:gd name="adj" fmla="val 6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8293608" y="4270248"/>
            <a:ext cx="2651760" cy="0"/>
          </a:xfrm>
          <a:prstGeom prst="line">
            <a:avLst/>
          </a:prstGeom>
          <a:ln w="13970">
            <a:solidFill>
              <a:srgbClr val="93A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8293608" y="2642615"/>
            <a:ext cx="0" cy="1627633"/>
          </a:xfrm>
          <a:prstGeom prst="line">
            <a:avLst/>
          </a:prstGeom>
          <a:ln w="13970">
            <a:solidFill>
              <a:srgbClr val="93A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985248" y="43434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3A6C4"/>
                </a:solidFill>
                <a:latin typeface="Segoe UI"/>
              </a:rPr>
              <a:t>entrada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81544" y="219456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3A6C4"/>
                </a:solidFill>
                <a:latin typeface="Segoe UI"/>
              </a:rPr>
              <a:t>saída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93608" y="4270248"/>
            <a:ext cx="384048" cy="0"/>
          </a:xfrm>
          <a:prstGeom prst="line">
            <a:avLst/>
          </a:prstGeom>
          <a:ln w="33020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677656" y="2697480"/>
            <a:ext cx="2176272" cy="1572768"/>
          </a:xfrm>
          <a:prstGeom prst="line">
            <a:avLst/>
          </a:prstGeom>
          <a:ln w="3302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293608" y="2697480"/>
            <a:ext cx="2560320" cy="1572768"/>
          </a:xfrm>
          <a:prstGeom prst="line">
            <a:avLst/>
          </a:prstGeom>
          <a:ln w="13970">
            <a:solidFill>
              <a:srgbClr val="5A6C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677656" y="2624328"/>
            <a:ext cx="0" cy="1645920"/>
          </a:xfrm>
          <a:prstGeom prst="line">
            <a:avLst/>
          </a:prstGeom>
          <a:ln w="11430">
            <a:solidFill>
              <a:srgbClr val="5A6C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03336" y="43434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472B6"/>
                </a:solidFill>
                <a:latin typeface="Segoe UI"/>
              </a:rPr>
              <a:t>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599432"/>
            <a:ext cx="32918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93A6C4"/>
                </a:solidFill>
                <a:latin typeface="Segoe UI"/>
              </a:rPr>
              <a:t>vermelho = zona morta  ·  verde = reescalonado</a:t>
            </a: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93A6C4"/>
                </a:solidFill>
                <a:latin typeface="Segoe UI"/>
              </a:rPr>
              <a:t>pontilhado = sem filtro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532120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576986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72184" y="5623559"/>
            <a:ext cx="964691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Math.copySign(deadband, value) tira a zona morta respeitando o sinal: funciona igual empurrando para frente ou para trás.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FECHA A PARTE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Checklist mental do Command-Based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1 — Command-Based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5740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69848" y="2359152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0B1220"/>
                </a:solidFill>
                <a:latin typeface="Segoe U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28600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O scheduler é chamado?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633472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Consolas"/>
              </a:rPr>
              <a:t>CommandScheduler.getInstance().run() em robotPeriodic().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2057400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55080" y="2359152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0B1220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228600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Todo comando que move declara?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2592" y="2633472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Consolas"/>
              </a:rPr>
              <a:t>addRequirements(subsystem) no construtor.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355848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69848" y="3657600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0B1220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584448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O hardware está encapsulado?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93192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Consolas"/>
              </a:rPr>
              <a:t>Motores private final dentro do subsystem.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3355848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55080" y="3657600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0B1220"/>
                </a:solidFill>
                <a:latin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3584448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Nada bloqueia?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393192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Consolas"/>
              </a:rPr>
              <a:t>Sem sleep, sem while de espera, sem loop longo.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654296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69848" y="4956048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0B1220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882896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O teleop é um default command?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5230368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Consolas"/>
              </a:rPr>
              <a:t>setDefaultCommand(), não código no teleopPeriodic().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3912" y="4654296"/>
            <a:ext cx="5029200" cy="109728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355080" y="4956048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FB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0B1220"/>
                </a:solidFill>
                <a:latin typeface="Segoe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2592" y="4882896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Toda etapa de autônomo tem timeout?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2592" y="5230368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3A6C4"/>
                </a:solidFill>
                <a:latin typeface="Consolas"/>
              </a:rPr>
              <a:t>.withTimeout(segundos) em cada perna.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0" y="1325880"/>
            <a:ext cx="292608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0" b="1" i="0">
                <a:solidFill>
                  <a:srgbClr val="1E2E4A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39572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BBF24"/>
                </a:solidFill>
                <a:latin typeface="Segoe UI"/>
              </a:rPr>
              <a:t>PARTE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0"/>
            <a:ext cx="95097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703320"/>
            <a:ext cx="8961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93A6C4"/>
                </a:solidFill>
                <a:latin typeface="Segoe UI"/>
              </a:rPr>
              <a:t>Três rodas a 120°: andar para qualquer lado sem precisar girar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4526280"/>
            <a:ext cx="1234440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Holonômico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88336" y="4526280"/>
            <a:ext cx="1145743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Roda omni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62095" y="4526280"/>
            <a:ext cx="1944014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Cinemática inversa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4125" y="4526280"/>
            <a:ext cx="1411833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Normalização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73975" y="4526280"/>
            <a:ext cx="613562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PID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15553" y="4526280"/>
            <a:ext cx="1589227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Field-oriented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CONCEITO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Holonômico vs. não-holonômico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2 — 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5074920" cy="18288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2139696"/>
            <a:ext cx="50292" cy="157276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2194560"/>
            <a:ext cx="459943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72B6"/>
                </a:solidFill>
                <a:latin typeface="Segoe UI"/>
              </a:rPr>
              <a:t>Base diferencial (2 rodas) — NÃO holonômica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42032"/>
            <a:ext cx="4599431" cy="1170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Controla 2 coisas: velocidade linear e giro. Para ir para o lado, tem que girar, andar e girar de volta. 3 graus de liberdade no plano, mas só 2 atuáveis.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011680"/>
            <a:ext cx="5074920" cy="182880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2139696"/>
            <a:ext cx="50292" cy="157276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59" y="2194560"/>
            <a:ext cx="459943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Segoe UI"/>
              </a:rPr>
              <a:t>Base omni (3 rodas a 120°) — HOLONÔMICA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42032"/>
            <a:ext cx="4599431" cy="1170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Controla 3 coisas ao mesmo tempo: andar para frente, andar para o lado e girar — de forma independente. 3 graus de liberdade, 3 atuadores.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023360"/>
            <a:ext cx="10469880" cy="86868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>
              <a:lnSpc>
                <a:spcPct val="132000"/>
              </a:lnSpc>
            </a:pPr>
            <a:r>
              <a:rPr sz="2000">
                <a:solidFill>
                  <a:srgbClr val="FBBF24"/>
                </a:solidFill>
                <a:latin typeface="Consolas"/>
              </a:rPr>
              <a:t>3 motores   →   3 graus de liberdade:   v_frente ,  v_lado ,  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74920"/>
            <a:ext cx="10469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Na prática: </a:t>
            </a:r>
            <a:r>
              <a:rPr sz="1350">
                <a:solidFill>
                  <a:srgbClr val="E6EDF8"/>
                </a:solidFill>
                <a:latin typeface="Segoe UI"/>
              </a:rPr>
              <a:t>o robô pode transladar na diagonal mantendo a frente apontada para o alvo — é exatamente o que o SquareAutoCommand faz.</a:t>
            </a:r>
          </a:p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Preço a pagar: </a:t>
            </a:r>
            <a:r>
              <a:rPr sz="1350">
                <a:solidFill>
                  <a:srgbClr val="E6EDF8"/>
                </a:solidFill>
                <a:latin typeface="Segoe UI"/>
              </a:rPr>
              <a:t>os rolos passivos escorregam; a odometria por roda é menos confiável que numa base diferencial. Daí usar a IMU para o ângulo.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A RODA OMNI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Tração num eixo, deslizamento livre no outro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2 — 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23</a:t>
            </a:r>
          </a:p>
        </p:txBody>
      </p:sp>
      <p:sp>
        <p:nvSpPr>
          <p:cNvPr id="8" name="Oval 7"/>
          <p:cNvSpPr/>
          <p:nvPr/>
        </p:nvSpPr>
        <p:spPr>
          <a:xfrm>
            <a:off x="1463040" y="2606039"/>
            <a:ext cx="2743200" cy="2743200"/>
          </a:xfrm>
          <a:prstGeom prst="ellipse">
            <a:avLst/>
          </a:prstGeom>
          <a:solidFill>
            <a:srgbClr val="1E2E4A"/>
          </a:solidFill>
          <a:ln w="20320">
            <a:solidFill>
              <a:srgbClr val="38D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203704" y="3346703"/>
            <a:ext cx="1261872" cy="1261872"/>
          </a:xfrm>
          <a:prstGeom prst="ellipse">
            <a:avLst/>
          </a:prstGeom>
          <a:solidFill>
            <a:srgbClr val="162238"/>
          </a:solidFill>
          <a:ln w="1524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26180" y="3911803"/>
            <a:ext cx="301752" cy="131673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 rot="2160000">
            <a:off x="3527096" y="4524519"/>
            <a:ext cx="301752" cy="131673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 rot="4320000">
            <a:off x="3005888" y="4903199"/>
            <a:ext cx="301752" cy="131673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 rot="6480000">
            <a:off x="2361639" y="4903199"/>
            <a:ext cx="301752" cy="131673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 rot="8640000">
            <a:off x="1840431" y="4524519"/>
            <a:ext cx="301752" cy="131673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 rot="10800000">
            <a:off x="1641348" y="3911803"/>
            <a:ext cx="301752" cy="131673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 rot="12960000">
            <a:off x="1840431" y="3299086"/>
            <a:ext cx="301752" cy="131673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 rot="15120000">
            <a:off x="2361639" y="2920406"/>
            <a:ext cx="301752" cy="131673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 rot="17280000">
            <a:off x="3005888" y="2920406"/>
            <a:ext cx="301752" cy="131673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 rot="19440000">
            <a:off x="3527096" y="3299086"/>
            <a:ext cx="301752" cy="131673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788920" y="3931920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562356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93A6C4"/>
                </a:solidFill>
                <a:latin typeface="Segoe UI"/>
              </a:rPr>
              <a:t>vista de frente da roda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2834640" y="2472537"/>
            <a:ext cx="0" cy="1505102"/>
          </a:xfrm>
          <a:prstGeom prst="line">
            <a:avLst/>
          </a:prstGeom>
          <a:ln w="2794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>
            <a:off x="2734056" y="2231136"/>
            <a:ext cx="201168" cy="201168"/>
          </a:xfrm>
          <a:prstGeom prst="triangl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17520" y="22860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34D399"/>
                </a:solidFill>
                <a:latin typeface="Segoe UI"/>
              </a:rPr>
              <a:t>tração (motor)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834640" y="3977639"/>
            <a:ext cx="1596542" cy="0"/>
          </a:xfrm>
          <a:prstGeom prst="line">
            <a:avLst/>
          </a:prstGeom>
          <a:ln w="27940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4471416" y="3877055"/>
            <a:ext cx="201168" cy="201168"/>
          </a:xfrm>
          <a:prstGeom prst="triangl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91840" y="409651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472B6"/>
                </a:solidFill>
                <a:latin typeface="Segoe UI"/>
              </a:rPr>
              <a:t>desliza livre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2148840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Aro com rolos passivos </a:t>
            </a:r>
            <a:r>
              <a:rPr sz="1400">
                <a:solidFill>
                  <a:srgbClr val="E6EDF8"/>
                </a:solidFill>
                <a:latin typeface="Segoe UI"/>
              </a:rPr>
              <a:t>montados a 90° do eixo principal.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Direção de tração: </a:t>
            </a:r>
            <a:r>
              <a:rPr sz="1400">
                <a:solidFill>
                  <a:srgbClr val="E6EDF8"/>
                </a:solidFill>
                <a:latin typeface="Segoe UI"/>
              </a:rPr>
              <a:t>a roda empurra o robô na direção do seu próprio giro — só nessa direção ela tem força.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Direção perpendicular: </a:t>
            </a:r>
            <a:r>
              <a:rPr sz="1400">
                <a:solidFill>
                  <a:srgbClr val="E6EDF8"/>
                </a:solidFill>
                <a:latin typeface="Segoe UI"/>
              </a:rPr>
              <a:t>os rolos giram e a roda escorrega sem resistir. É isso que permite às outras duas rodas arrastarem o robô de lado.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Consequência para o código: </a:t>
            </a:r>
            <a:r>
              <a:rPr sz="1400">
                <a:solidFill>
                  <a:srgbClr val="E6EDF8"/>
                </a:solidFill>
                <a:latin typeface="Segoe UI"/>
              </a:rPr>
              <a:t>cada roda contribui apenas com a componente do movimento do chassi projetada na sua direção de tração.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Consequência para a odometria: </a:t>
            </a:r>
            <a:r>
              <a:rPr sz="1400">
                <a:solidFill>
                  <a:srgbClr val="E6EDF8"/>
                </a:solidFill>
                <a:latin typeface="Segoe UI"/>
              </a:rPr>
              <a:t>o escorregamento dos rolos é ruído. Distância sai razoável, ângulo sai ruim.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GEOMETRIA DO CHASSI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Três rodas, 120° entre elas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2 — 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24</a:t>
            </a:r>
          </a:p>
        </p:txBody>
      </p:sp>
      <p:sp>
        <p:nvSpPr>
          <p:cNvPr id="8" name="Oval 7"/>
          <p:cNvSpPr/>
          <p:nvPr/>
        </p:nvSpPr>
        <p:spPr>
          <a:xfrm>
            <a:off x="1965960" y="2423160"/>
            <a:ext cx="2468880" cy="2468880"/>
          </a:xfrm>
          <a:prstGeom prst="ellipse">
            <a:avLst/>
          </a:prstGeom>
          <a:solidFill>
            <a:srgbClr val="162238"/>
          </a:solidFill>
          <a:ln w="1778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 flipV="1">
            <a:off x="3200400" y="2075687"/>
            <a:ext cx="0" cy="1581913"/>
          </a:xfrm>
          <a:prstGeom prst="line">
            <a:avLst/>
          </a:prstGeom>
          <a:ln w="2286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>
            <a:off x="3108960" y="1856231"/>
            <a:ext cx="182880" cy="182880"/>
          </a:xfrm>
          <a:prstGeom prst="triangl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174650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BBF24"/>
                </a:solidFill>
                <a:latin typeface="Segoe UI"/>
              </a:rPr>
              <a:t>frente  (+)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618487" y="3657600"/>
            <a:ext cx="1581913" cy="0"/>
          </a:xfrm>
          <a:prstGeom prst="line">
            <a:avLst/>
          </a:prstGeom>
          <a:ln w="2286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16200000">
            <a:off x="1399031" y="3566160"/>
            <a:ext cx="182880" cy="182880"/>
          </a:xfrm>
          <a:prstGeom prst="triangl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1" y="33649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1" i="0">
                <a:solidFill>
                  <a:srgbClr val="A78BFA"/>
                </a:solidFill>
                <a:latin typeface="Segoe UI"/>
              </a:rPr>
              <a:t>lado (+)</a:t>
            </a:r>
          </a:p>
        </p:txBody>
      </p:sp>
      <p:sp>
        <p:nvSpPr>
          <p:cNvPr id="15" name="Oval 14"/>
          <p:cNvSpPr/>
          <p:nvPr/>
        </p:nvSpPr>
        <p:spPr>
          <a:xfrm>
            <a:off x="3145536" y="360273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843784" y="4693158"/>
            <a:ext cx="713232" cy="214884"/>
          </a:xfrm>
          <a:prstGeom prst="roundRect">
            <a:avLst>
              <a:gd name="adj" fmla="val 45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23159" y="5202936"/>
            <a:ext cx="15544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472B6"/>
                </a:solidFill>
                <a:latin typeface="Segoe UI"/>
              </a:rPr>
              <a:t>roda 1</a:t>
            </a:r>
          </a:p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F472B6"/>
                </a:solidFill>
                <a:latin typeface="Segoe UI"/>
              </a:rPr>
              <a:t>traseira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00400" y="4800600"/>
            <a:ext cx="458114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3689604" y="4722876"/>
            <a:ext cx="155448" cy="155448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 rot="14400000">
            <a:off x="3833651" y="2978658"/>
            <a:ext cx="713232" cy="214884"/>
          </a:xfrm>
          <a:prstGeom prst="roundRect">
            <a:avLst>
              <a:gd name="adj" fmla="val 45000"/>
            </a:avLst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67352" y="2528315"/>
            <a:ext cx="15544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38D9F0"/>
                </a:solidFill>
                <a:latin typeface="Segoe UI"/>
              </a:rPr>
              <a:t>roda 2</a:t>
            </a:r>
          </a:p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38D9F0"/>
                </a:solidFill>
                <a:latin typeface="Segoe UI"/>
              </a:rPr>
              <a:t>frontal dir.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3961209" y="2689361"/>
            <a:ext cx="229058" cy="396739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9800000">
            <a:off x="3829079" y="2517401"/>
            <a:ext cx="155448" cy="155448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 rot="7200000">
            <a:off x="1853916" y="2978658"/>
            <a:ext cx="713232" cy="214884"/>
          </a:xfrm>
          <a:prstGeom prst="roundRect">
            <a:avLst>
              <a:gd name="adj" fmla="val 45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8967" y="2528315"/>
            <a:ext cx="15544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34D399"/>
                </a:solidFill>
                <a:latin typeface="Segoe UI"/>
              </a:rPr>
              <a:t>roda 3</a:t>
            </a:r>
          </a:p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34D399"/>
                </a:solidFill>
                <a:latin typeface="Segoe UI"/>
              </a:rPr>
              <a:t>frontal esq.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981475" y="3086100"/>
            <a:ext cx="229057" cy="396738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2600000">
            <a:off x="1849344" y="3499350"/>
            <a:ext cx="155448" cy="155448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28" name="Connector 27"/>
          <p:cNvCxnSpPr/>
          <p:nvPr/>
        </p:nvCxnSpPr>
        <p:spPr>
          <a:xfrm flipV="1">
            <a:off x="3200400" y="3086100"/>
            <a:ext cx="989867" cy="571500"/>
          </a:xfrm>
          <a:prstGeom prst="line">
            <a:avLst/>
          </a:prstGeom>
          <a:ln w="13970">
            <a:solidFill>
              <a:srgbClr val="93A6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584448" y="309067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1">
                <a:solidFill>
                  <a:srgbClr val="93A6C4"/>
                </a:solidFill>
                <a:latin typeface="Segoe UI"/>
              </a:rPr>
              <a:t>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205740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936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Rodas tangenciais: </a:t>
            </a:r>
            <a:r>
              <a:rPr sz="1300">
                <a:solidFill>
                  <a:srgbClr val="E6EDF8"/>
                </a:solidFill>
                <a:latin typeface="Segoe UI"/>
              </a:rPr>
              <a:t>cada roda é montada tangente ao círculo de raio R centrado no robô.</a:t>
            </a:r>
          </a:p>
          <a:p>
            <a:pPr>
              <a:lnSpc>
                <a:spcPct val="118000"/>
              </a:lnSpc>
              <a:spcAft>
                <a:spcPts val="936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120° de separação </a:t>
            </a:r>
            <a:r>
              <a:rPr sz="1300">
                <a:solidFill>
                  <a:srgbClr val="E6EDF8"/>
                </a:solidFill>
                <a:latin typeface="Segoe UI"/>
              </a:rPr>
              <a:t>= as três direções de tração cobrem o plano inteiro. Qualquer vetor de velocidade pode ser decomposto nelas.</a:t>
            </a:r>
          </a:p>
          <a:p>
            <a:pPr>
              <a:lnSpc>
                <a:spcPct val="118000"/>
              </a:lnSpc>
              <a:spcAft>
                <a:spcPts val="936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Mesmo R para as três </a:t>
            </a:r>
            <a:r>
              <a:rPr sz="1300">
                <a:solidFill>
                  <a:srgbClr val="E6EDF8"/>
                </a:solidFill>
                <a:latin typeface="Segoe UI"/>
              </a:rPr>
              <a:t>→ num giro puro, as três rodas andam o mesmo arco R·Δθ, no mesmo sentido.</a:t>
            </a:r>
          </a:p>
          <a:p>
            <a:pPr>
              <a:lnSpc>
                <a:spcPct val="118000"/>
              </a:lnSpc>
              <a:spcAft>
                <a:spcPts val="936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Setas brancas </a:t>
            </a:r>
            <a:r>
              <a:rPr sz="1300">
                <a:solidFill>
                  <a:srgbClr val="E6EDF8"/>
                </a:solidFill>
                <a:latin typeface="Segoe UI"/>
              </a:rPr>
              <a:t>= sentido positivo de cada roda. Mudar a montagem física ou o setInverted() muda o sinal das equações.</a:t>
            </a:r>
          </a:p>
          <a:p>
            <a:pPr>
              <a:lnSpc>
                <a:spcPct val="118000"/>
              </a:lnSpc>
              <a:spcAft>
                <a:spcPts val="936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kRobotRadiusMeters = 0.150</a:t>
            </a:r>
            <a:r>
              <a:rPr sz="1300">
                <a:solidFill>
                  <a:srgbClr val="E6EDF8"/>
                </a:solidFill>
                <a:latin typeface="Segoe UI"/>
              </a:rPr>
              <a:t> — é a única constante geométrica que a odometria usa para converter arco em radianos.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5559552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9848" y="579729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72184" y="5650992"/>
            <a:ext cx="964691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Constants nomeia as rodas como traseira (motor 1), frontal direita (motor 2) e frontal esquerda (motor 3) — essa é a ordem dos vetores em todo o código.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CINEMÁTICA INVERSA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Do movimento desejado para a velocidade de cada roda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2 — 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10469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93A6C4"/>
                </a:solidFill>
                <a:latin typeface="Segoe UI"/>
              </a:rPr>
              <a:t>Projetamos o movimento do chassi na direção de tração de cada roda e somamos o arco do giro: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514600"/>
            <a:ext cx="10469880" cy="1874519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>
              <a:lnSpc>
                <a:spcPct val="132000"/>
              </a:lnSpc>
            </a:pPr>
            <a:r>
              <a:rPr sz="2200">
                <a:solidFill>
                  <a:srgbClr val="FFFFFF"/>
                </a:solidFill>
                <a:latin typeface="Consolas"/>
              </a:rPr>
              <a:t>v1  =  −vx                      +  ω</a:t>
            </a:r>
          </a:p>
          <a:p>
            <a:pPr algn="ctr">
              <a:lnSpc>
                <a:spcPct val="132000"/>
              </a:lnSpc>
            </a:pPr>
            <a:r>
              <a:rPr sz="2200">
                <a:solidFill>
                  <a:srgbClr val="FFFFFF"/>
                </a:solidFill>
                <a:latin typeface="Consolas"/>
              </a:rPr>
              <a:t>v2  =  0.5·vx  +  (√3/2)·vy     +  ω</a:t>
            </a:r>
          </a:p>
          <a:p>
            <a:pPr algn="ctr">
              <a:lnSpc>
                <a:spcPct val="132000"/>
              </a:lnSpc>
            </a:pPr>
            <a:r>
              <a:rPr sz="2200">
                <a:solidFill>
                  <a:srgbClr val="FFFFFF"/>
                </a:solidFill>
                <a:latin typeface="Consolas"/>
              </a:rPr>
              <a:t>v3  =  0.5·vx  −  (√3/2)·vy     +  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663440"/>
            <a:ext cx="6903720" cy="123444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1220" i="1">
                <a:solidFill>
                  <a:srgbClr val="6B82A6"/>
                </a:solidFill>
                <a:latin typeface="Consolas"/>
              </a:rPr>
              <a:t>// Cinematica holonomica de 3 rodas a 120 graus</a:t>
            </a:r>
          </a:p>
          <a:p>
            <a:pPr algn="l">
              <a:lnSpc>
                <a:spcPct val="120000"/>
              </a:lnSpc>
            </a:pPr>
            <a:r>
              <a:rPr sz="1220">
                <a:solidFill>
                  <a:srgbClr val="A78BFA"/>
                </a:solidFill>
                <a:latin typeface="Consolas"/>
              </a:rPr>
              <a:t>double</a:t>
            </a:r>
            <a:r>
              <a:rPr sz="1220">
                <a:solidFill>
                  <a:srgbClr val="E6EDF8"/>
                </a:solidFill>
                <a:latin typeface="Consolas"/>
              </a:rPr>
              <a:t> targetPercent1 = -vx + wz;</a:t>
            </a:r>
          </a:p>
          <a:p>
            <a:pPr algn="l">
              <a:lnSpc>
                <a:spcPct val="120000"/>
              </a:lnSpc>
            </a:pPr>
            <a:r>
              <a:rPr sz="1220">
                <a:solidFill>
                  <a:srgbClr val="A78BFA"/>
                </a:solidFill>
                <a:latin typeface="Consolas"/>
              </a:rPr>
              <a:t>double</a:t>
            </a:r>
            <a:r>
              <a:rPr sz="1220">
                <a:solidFill>
                  <a:srgbClr val="E6EDF8"/>
                </a:solidFill>
                <a:latin typeface="Consolas"/>
              </a:rPr>
              <a:t> targetPercent2 = </a:t>
            </a:r>
            <a:r>
              <a:rPr sz="1220">
                <a:solidFill>
                  <a:srgbClr val="F472B6"/>
                </a:solidFill>
                <a:latin typeface="Consolas"/>
              </a:rPr>
              <a:t>0.5</a:t>
            </a:r>
            <a:r>
              <a:rPr sz="1220">
                <a:solidFill>
                  <a:srgbClr val="E6EDF8"/>
                </a:solidFill>
                <a:latin typeface="Consolas"/>
              </a:rPr>
              <a:t> * vx + (</a:t>
            </a:r>
            <a:r>
              <a:rPr sz="1220">
                <a:solidFill>
                  <a:srgbClr val="34D399"/>
                </a:solidFill>
                <a:latin typeface="Consolas"/>
              </a:rPr>
              <a:t>Math</a:t>
            </a:r>
            <a:r>
              <a:rPr sz="1220">
                <a:solidFill>
                  <a:srgbClr val="E6EDF8"/>
                </a:solidFill>
                <a:latin typeface="Consolas"/>
              </a:rPr>
              <a:t>.sqrt(</a:t>
            </a:r>
            <a:r>
              <a:rPr sz="1220">
                <a:solidFill>
                  <a:srgbClr val="F472B6"/>
                </a:solidFill>
                <a:latin typeface="Consolas"/>
              </a:rPr>
              <a:t>3</a:t>
            </a:r>
            <a:r>
              <a:rPr sz="1220">
                <a:solidFill>
                  <a:srgbClr val="E6EDF8"/>
                </a:solidFill>
                <a:latin typeface="Consolas"/>
              </a:rPr>
              <a:t>) / </a:t>
            </a:r>
            <a:r>
              <a:rPr sz="1220">
                <a:solidFill>
                  <a:srgbClr val="F472B6"/>
                </a:solidFill>
                <a:latin typeface="Consolas"/>
              </a:rPr>
              <a:t>2.0</a:t>
            </a:r>
            <a:r>
              <a:rPr sz="1220">
                <a:solidFill>
                  <a:srgbClr val="E6EDF8"/>
                </a:solidFill>
                <a:latin typeface="Consolas"/>
              </a:rPr>
              <a:t>) * vy + wz;</a:t>
            </a:r>
          </a:p>
          <a:p>
            <a:pPr algn="l">
              <a:lnSpc>
                <a:spcPct val="120000"/>
              </a:lnSpc>
            </a:pPr>
            <a:r>
              <a:rPr sz="1220">
                <a:solidFill>
                  <a:srgbClr val="A78BFA"/>
                </a:solidFill>
                <a:latin typeface="Consolas"/>
              </a:rPr>
              <a:t>double</a:t>
            </a:r>
            <a:r>
              <a:rPr sz="1220">
                <a:solidFill>
                  <a:srgbClr val="E6EDF8"/>
                </a:solidFill>
                <a:latin typeface="Consolas"/>
              </a:rPr>
              <a:t> targetPercent3 = </a:t>
            </a:r>
            <a:r>
              <a:rPr sz="1220">
                <a:solidFill>
                  <a:srgbClr val="F472B6"/>
                </a:solidFill>
                <a:latin typeface="Consolas"/>
              </a:rPr>
              <a:t>0.5</a:t>
            </a:r>
            <a:r>
              <a:rPr sz="1220">
                <a:solidFill>
                  <a:srgbClr val="E6EDF8"/>
                </a:solidFill>
                <a:latin typeface="Consolas"/>
              </a:rPr>
              <a:t> * vx - (</a:t>
            </a:r>
            <a:r>
              <a:rPr sz="1220">
                <a:solidFill>
                  <a:srgbClr val="34D399"/>
                </a:solidFill>
                <a:latin typeface="Consolas"/>
              </a:rPr>
              <a:t>Math</a:t>
            </a:r>
            <a:r>
              <a:rPr sz="1220">
                <a:solidFill>
                  <a:srgbClr val="E6EDF8"/>
                </a:solidFill>
                <a:latin typeface="Consolas"/>
              </a:rPr>
              <a:t>.sqrt(</a:t>
            </a:r>
            <a:r>
              <a:rPr sz="1220">
                <a:solidFill>
                  <a:srgbClr val="F472B6"/>
                </a:solidFill>
                <a:latin typeface="Consolas"/>
              </a:rPr>
              <a:t>3</a:t>
            </a:r>
            <a:r>
              <a:rPr sz="1220">
                <a:solidFill>
                  <a:srgbClr val="E6EDF8"/>
                </a:solidFill>
                <a:latin typeface="Consolas"/>
              </a:rPr>
              <a:t>) / </a:t>
            </a:r>
            <a:r>
              <a:rPr sz="1220">
                <a:solidFill>
                  <a:srgbClr val="F472B6"/>
                </a:solidFill>
                <a:latin typeface="Consolas"/>
              </a:rPr>
              <a:t>2.0</a:t>
            </a:r>
            <a:r>
              <a:rPr sz="1220">
                <a:solidFill>
                  <a:srgbClr val="E6EDF8"/>
                </a:solidFill>
                <a:latin typeface="Consolas"/>
              </a:rPr>
              <a:t>) * vy + wz;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1" y="4507992"/>
            <a:ext cx="1792224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driveRobotOriented()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4617720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72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>
                <a:solidFill>
                  <a:srgbClr val="E6EDF8"/>
                </a:solidFill>
                <a:latin typeface="Segoe UI"/>
              </a:rPr>
              <a:t>Três equações, três incógnitas</a:t>
            </a:r>
          </a:p>
          <a:p>
            <a:pPr>
              <a:lnSpc>
                <a:spcPct val="118000"/>
              </a:lnSpc>
              <a:spcAft>
                <a:spcPts val="72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>
                <a:solidFill>
                  <a:srgbClr val="E6EDF8"/>
                </a:solidFill>
                <a:latin typeface="Segoe UI"/>
              </a:rPr>
              <a:t>Sistema LINEAR → vale para % , m/s ou metros</a:t>
            </a:r>
          </a:p>
          <a:p>
            <a:pPr>
              <a:lnSpc>
                <a:spcPct val="118000"/>
              </a:lnSpc>
              <a:spcAft>
                <a:spcPts val="72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>
                <a:solidFill>
                  <a:srgbClr val="E6EDF8"/>
                </a:solidFill>
                <a:latin typeface="Segoe UI"/>
              </a:rPr>
              <a:t>ω aparece igual nas três (mesmo R)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CONFERINDO NA MÃO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Três casos que você deve saber de cabeça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2 — 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057400"/>
            <a:ext cx="10469880" cy="457200"/>
          </a:xfrm>
          <a:prstGeom prst="rect">
            <a:avLst/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14983" y="2057400"/>
            <a:ext cx="215798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Movimento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92424" y="2057400"/>
            <a:ext cx="4663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vx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78224" y="2057400"/>
            <a:ext cx="4663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vy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2057400"/>
            <a:ext cx="4663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9824" y="2057400"/>
            <a:ext cx="6492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v1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2057400"/>
            <a:ext cx="6492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v2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4" y="2057400"/>
            <a:ext cx="6492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v3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057400"/>
            <a:ext cx="32095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Leitura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3" y="2514600"/>
            <a:ext cx="215798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translação eixo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2424" y="2514600"/>
            <a:ext cx="4663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8224" y="2514600"/>
            <a:ext cx="4663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4024" y="2514600"/>
            <a:ext cx="4663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9824" y="2514600"/>
            <a:ext cx="6492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−1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2514600"/>
            <a:ext cx="6492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+0.5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4" y="2514600"/>
            <a:ext cx="6492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+0.5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55864" y="2514600"/>
            <a:ext cx="32095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roda 1 contra, 2 e 3 a meia força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2971800"/>
            <a:ext cx="10469880" cy="457200"/>
          </a:xfrm>
          <a:prstGeom prst="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4983" y="2971800"/>
            <a:ext cx="215798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translação eixo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92424" y="2971800"/>
            <a:ext cx="4663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78224" y="2971800"/>
            <a:ext cx="4663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4024" y="2971800"/>
            <a:ext cx="4663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9824" y="2971800"/>
            <a:ext cx="6492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8504" y="2971800"/>
            <a:ext cx="6492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+0.87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87184" y="2971800"/>
            <a:ext cx="6492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−0.87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55864" y="2971800"/>
            <a:ext cx="32095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roda 1 só desliza, 2 e 3 opostas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3" y="3429000"/>
            <a:ext cx="215798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giro puro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92424" y="3429000"/>
            <a:ext cx="4663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78224" y="3429000"/>
            <a:ext cx="4663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64024" y="3429000"/>
            <a:ext cx="4663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9824" y="3429000"/>
            <a:ext cx="6492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+1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8504" y="3429000"/>
            <a:ext cx="6492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+1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87184" y="3429000"/>
            <a:ext cx="6492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+1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55864" y="3429000"/>
            <a:ext cx="32095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as três iguais → gira no lugar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3886200"/>
            <a:ext cx="10469880" cy="457200"/>
          </a:xfrm>
          <a:prstGeom prst="rect">
            <a:avLst/>
          </a:prstGeom>
          <a:solidFill>
            <a:srgbClr val="16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14983" y="3886200"/>
            <a:ext cx="215798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diagonal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92424" y="3886200"/>
            <a:ext cx="4663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78224" y="3886200"/>
            <a:ext cx="4663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64024" y="3886200"/>
            <a:ext cx="4663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9824" y="3886200"/>
            <a:ext cx="6492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−1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18504" y="3886200"/>
            <a:ext cx="6492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+1.37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87184" y="3886200"/>
            <a:ext cx="64922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−0.37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55864" y="3886200"/>
            <a:ext cx="32095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DF8"/>
                </a:solidFill>
                <a:latin typeface="Consolas"/>
              </a:rPr>
              <a:t>passou de 1 → precisa normalizar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8680" y="4572000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69848" y="480974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72184" y="4663440"/>
            <a:ext cx="964691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O caso do giro puro é o teste mais útil: se as três rodas recebem o MESMO valor e o robô translada em vez de girar, uma roda está montada ou invertida errado.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" y="5440680"/>
            <a:ext cx="10469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864"/>
              </a:spcAft>
            </a:pPr>
            <a:r>
              <a:rPr sz="1450">
                <a:solidFill>
                  <a:srgbClr val="38D9F0"/>
                </a:solidFill>
                <a:latin typeface="Segoe UI"/>
              </a:rPr>
              <a:t>▸  </a:t>
            </a:r>
            <a:r>
              <a:rPr sz="1450" b="1">
                <a:solidFill>
                  <a:srgbClr val="FBBF24"/>
                </a:solidFill>
                <a:latin typeface="Segoe UI"/>
              </a:rPr>
              <a:t>Linha 4 é o motivo da normalização: </a:t>
            </a:r>
            <a:r>
              <a:rPr sz="1450">
                <a:solidFill>
                  <a:srgbClr val="E6EDF8"/>
                </a:solidFill>
                <a:latin typeface="Segoe UI"/>
              </a:rPr>
              <a:t>o somatório estourou o alcance do motor (|v2| = 1.37 &gt; 1). Sem tratar, o motor satura e a DIREÇÃO do movimento muda.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NORMALIZAÇÃO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Saturar sem distorcer a direção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2 — 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6583680" cy="192024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1092" i="1">
                <a:solidFill>
                  <a:srgbClr val="6B82A6"/>
                </a:solidFill>
                <a:latin typeface="Consolas"/>
              </a:rPr>
              <a:t>// Normalizacao de velocidade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A78BFA"/>
                </a:solidFill>
                <a:latin typeface="Consolas"/>
              </a:rPr>
              <a:t>double</a:t>
            </a:r>
            <a:r>
              <a:rPr sz="1092">
                <a:solidFill>
                  <a:srgbClr val="E6EDF8"/>
                </a:solidFill>
                <a:latin typeface="Consolas"/>
              </a:rPr>
              <a:t> maxSpeed = </a:t>
            </a:r>
            <a:r>
              <a:rPr sz="1092">
                <a:solidFill>
                  <a:srgbClr val="34D399"/>
                </a:solidFill>
                <a:latin typeface="Consolas"/>
              </a:rPr>
              <a:t>Math</a:t>
            </a:r>
            <a:r>
              <a:rPr sz="1092">
                <a:solidFill>
                  <a:srgbClr val="E6EDF8"/>
                </a:solidFill>
                <a:latin typeface="Consolas"/>
              </a:rPr>
              <a:t>.max(</a:t>
            </a:r>
            <a:r>
              <a:rPr sz="1092">
                <a:solidFill>
                  <a:srgbClr val="34D399"/>
                </a:solidFill>
                <a:latin typeface="Consolas"/>
              </a:rPr>
              <a:t>Math</a:t>
            </a:r>
            <a:r>
              <a:rPr sz="1092">
                <a:solidFill>
                  <a:srgbClr val="E6EDF8"/>
                </a:solidFill>
                <a:latin typeface="Consolas"/>
              </a:rPr>
              <a:t>.abs(targetPercent1),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                </a:t>
            </a:r>
            <a:r>
              <a:rPr sz="1092">
                <a:solidFill>
                  <a:srgbClr val="34D399"/>
                </a:solidFill>
                <a:latin typeface="Consolas"/>
              </a:rPr>
              <a:t>Math</a:t>
            </a:r>
            <a:r>
              <a:rPr sz="1092">
                <a:solidFill>
                  <a:srgbClr val="E6EDF8"/>
                </a:solidFill>
                <a:latin typeface="Consolas"/>
              </a:rPr>
              <a:t>.max(</a:t>
            </a:r>
            <a:r>
              <a:rPr sz="1092">
                <a:solidFill>
                  <a:srgbClr val="34D399"/>
                </a:solidFill>
                <a:latin typeface="Consolas"/>
              </a:rPr>
              <a:t>Math</a:t>
            </a:r>
            <a:r>
              <a:rPr sz="1092">
                <a:solidFill>
                  <a:srgbClr val="E6EDF8"/>
                </a:solidFill>
                <a:latin typeface="Consolas"/>
              </a:rPr>
              <a:t>.abs(targetPercent2), </a:t>
            </a:r>
            <a:r>
              <a:rPr sz="1092">
                <a:solidFill>
                  <a:srgbClr val="34D399"/>
                </a:solidFill>
                <a:latin typeface="Consolas"/>
              </a:rPr>
              <a:t>Math</a:t>
            </a:r>
            <a:r>
              <a:rPr sz="1092">
                <a:solidFill>
                  <a:srgbClr val="E6EDF8"/>
                </a:solidFill>
                <a:latin typeface="Consolas"/>
              </a:rPr>
              <a:t>.abs(targetPercent3)));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A78BFA"/>
                </a:solidFill>
                <a:latin typeface="Consolas"/>
              </a:rPr>
              <a:t>if</a:t>
            </a:r>
            <a:r>
              <a:rPr sz="1092">
                <a:solidFill>
                  <a:srgbClr val="E6EDF8"/>
                </a:solidFill>
                <a:latin typeface="Consolas"/>
              </a:rPr>
              <a:t> (maxSpeed &gt; </a:t>
            </a:r>
            <a:r>
              <a:rPr sz="1092">
                <a:solidFill>
                  <a:srgbClr val="F472B6"/>
                </a:solidFill>
                <a:latin typeface="Consolas"/>
              </a:rPr>
              <a:t>1.0</a:t>
            </a:r>
            <a:r>
              <a:rPr sz="1092">
                <a:solidFill>
                  <a:srgbClr val="E6EDF8"/>
                </a:solidFill>
                <a:latin typeface="Consolas"/>
              </a:rPr>
              <a:t>) {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targetPercent1 /= maxSpeed;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targetPercent2 /= maxSpeed;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  targetPercent3 /= maxSpeed;</a:t>
            </a:r>
          </a:p>
          <a:p>
            <a:pPr algn="l">
              <a:lnSpc>
                <a:spcPct val="120000"/>
              </a:lnSpc>
            </a:pPr>
            <a:r>
              <a:rPr sz="1092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1792224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driveRobotOriented()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0624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Divide as TRÊS pelo mesmo fator. </a:t>
            </a:r>
            <a:r>
              <a:rPr sz="1400">
                <a:solidFill>
                  <a:srgbClr val="E6EDF8"/>
                </a:solidFill>
                <a:latin typeface="Segoe UI"/>
              </a:rPr>
              <a:t>O vetor fica mais curto, mas aponta exatamente para o mesmo lado.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Cortar individualmente (clamp) seria o erro: </a:t>
            </a:r>
            <a:r>
              <a:rPr sz="1400">
                <a:solidFill>
                  <a:srgbClr val="E6EDF8"/>
                </a:solidFill>
                <a:latin typeface="Segoe UI"/>
              </a:rPr>
              <a:t>só a roda que estourou seria reduzida, e o robô sairia torto.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Efeito prático: </a:t>
            </a:r>
            <a:r>
              <a:rPr sz="1400">
                <a:solidFill>
                  <a:srgbClr val="E6EDF8"/>
                </a:solidFill>
                <a:latin typeface="Segoe UI"/>
              </a:rPr>
              <a:t>na diagonal o robô fica mais lento que na reta — e isso é fisicamente inevitável.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2103120"/>
            <a:ext cx="3639312" cy="3337560"/>
          </a:xfrm>
          <a:prstGeom prst="roundRect">
            <a:avLst>
              <a:gd name="adj" fmla="val 6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8503920" y="4480560"/>
            <a:ext cx="2560320" cy="0"/>
          </a:xfrm>
          <a:prstGeom prst="line">
            <a:avLst/>
          </a:prstGeom>
          <a:ln w="12700">
            <a:solidFill>
              <a:srgbClr val="93A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8686800" y="2560320"/>
            <a:ext cx="0" cy="2103120"/>
          </a:xfrm>
          <a:prstGeom prst="line">
            <a:avLst/>
          </a:prstGeom>
          <a:ln w="12700">
            <a:solidFill>
              <a:srgbClr val="93A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686800" y="2868105"/>
            <a:ext cx="2048252" cy="1612455"/>
          </a:xfrm>
          <a:prstGeom prst="line">
            <a:avLst/>
          </a:prstGeom>
          <a:ln w="27940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3107338">
            <a:off x="10744200" y="2697480"/>
            <a:ext cx="182880" cy="182880"/>
          </a:xfrm>
          <a:prstGeom prst="triangl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 flipV="1">
            <a:off x="8686800" y="3415538"/>
            <a:ext cx="1352408" cy="1065022"/>
          </a:xfrm>
          <a:prstGeom prst="line">
            <a:avLst/>
          </a:prstGeom>
          <a:ln w="3302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3106774">
            <a:off x="10049256" y="3227832"/>
            <a:ext cx="201168" cy="201168"/>
          </a:xfrm>
          <a:prstGeom prst="triangl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09560" y="228600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pedido vs. normalizado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48920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3A6C4"/>
                </a:solidFill>
                <a:latin typeface="Segoe UI"/>
              </a:rPr>
              <a:t>rosa = pedido (estourou)   ·   verde = enviado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3A6C4"/>
                </a:solidFill>
                <a:latin typeface="Segoe UI"/>
              </a:rPr>
              <a:t>mesma direção, módulo menor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MALHA FECHADA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De “porcentagem” a RPM controlado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2 — 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103120"/>
            <a:ext cx="1291916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8D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joystick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X, Y, Z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15460" y="2427732"/>
            <a:ext cx="128016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398340" y="2103120"/>
            <a:ext cx="1291916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8D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deadband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+ rescale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745121" y="2427732"/>
            <a:ext cx="128016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928001" y="2103120"/>
            <a:ext cx="1291916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SlewRate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Limiter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274781" y="2427732"/>
            <a:ext cx="128016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57661" y="2103120"/>
            <a:ext cx="1291916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campo → robô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rotação de -θ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804442" y="2427732"/>
            <a:ext cx="128016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987322" y="2103120"/>
            <a:ext cx="1291916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cinemática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inversa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334102" y="2427732"/>
            <a:ext cx="128016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516982" y="2103120"/>
            <a:ext cx="1291916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normaliza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|max| ≤ 1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863763" y="2427732"/>
            <a:ext cx="128016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046643" y="2103120"/>
            <a:ext cx="1291916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× kMaxRPM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PID por roda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520440"/>
            <a:ext cx="6583680" cy="196596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998" i="1">
                <a:solidFill>
                  <a:srgbClr val="6B82A6"/>
                </a:solidFill>
                <a:latin typeface="Consolas"/>
              </a:rPr>
              <a:t>// Converte em RPM Alvo</a:t>
            </a:r>
          </a:p>
          <a:p>
            <a:pPr algn="l">
              <a:lnSpc>
                <a:spcPct val="120000"/>
              </a:lnSpc>
            </a:pPr>
            <a:r>
              <a:rPr sz="998">
                <a:solidFill>
                  <a:srgbClr val="A78BFA"/>
                </a:solidFill>
                <a:latin typeface="Consolas"/>
              </a:rPr>
              <a:t>double</a:t>
            </a:r>
            <a:r>
              <a:rPr sz="998">
                <a:solidFill>
                  <a:srgbClr val="E6EDF8"/>
                </a:solidFill>
                <a:latin typeface="Consolas"/>
              </a:rPr>
              <a:t> targetRPM1 = targetPercent1 * </a:t>
            </a:r>
            <a:r>
              <a:rPr sz="998">
                <a:solidFill>
                  <a:srgbClr val="34D399"/>
                </a:solidFill>
                <a:latin typeface="Consolas"/>
              </a:rPr>
              <a:t>DriveConstants</a:t>
            </a:r>
            <a:r>
              <a:rPr sz="998">
                <a:solidFill>
                  <a:srgbClr val="E6EDF8"/>
                </a:solidFill>
                <a:latin typeface="Consolas"/>
              </a:rPr>
              <a:t>.kMaxRPM;   </a:t>
            </a:r>
            <a:r>
              <a:rPr sz="998" i="1">
                <a:solidFill>
                  <a:srgbClr val="6B82A6"/>
                </a:solidFill>
                <a:latin typeface="Consolas"/>
              </a:rPr>
              <a:t>// ... 2 e 3 idem</a:t>
            </a:r>
          </a:p>
          <a:p>
            <a:pPr algn="l">
              <a:lnSpc>
                <a:spcPct val="120000"/>
              </a:lnSpc>
            </a:pPr>
            <a:endParaRPr sz="998" i="1">
              <a:solidFill>
                <a:srgbClr val="6B82A6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998" i="1">
                <a:solidFill>
                  <a:srgbClr val="6B82A6"/>
                </a:solidFill>
                <a:latin typeface="Consolas"/>
              </a:rPr>
              <a:t>// Leitura real dos encoders</a:t>
            </a:r>
          </a:p>
          <a:p>
            <a:pPr algn="l">
              <a:lnSpc>
                <a:spcPct val="120000"/>
              </a:lnSpc>
            </a:pPr>
            <a:r>
              <a:rPr sz="998">
                <a:solidFill>
                  <a:srgbClr val="A78BFA"/>
                </a:solidFill>
                <a:latin typeface="Consolas"/>
              </a:rPr>
              <a:t>double</a:t>
            </a:r>
            <a:r>
              <a:rPr sz="998">
                <a:solidFill>
                  <a:srgbClr val="E6EDF8"/>
                </a:solidFill>
                <a:latin typeface="Consolas"/>
              </a:rPr>
              <a:t> currentRPM1 = motor1.getRPM();</a:t>
            </a:r>
          </a:p>
          <a:p>
            <a:pPr algn="l">
              <a:lnSpc>
                <a:spcPct val="120000"/>
              </a:lnSpc>
            </a:pPr>
            <a:endParaRPr sz="998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998" i="1">
                <a:solidFill>
                  <a:srgbClr val="6B82A6"/>
                </a:solidFill>
                <a:latin typeface="Consolas"/>
              </a:rPr>
              <a:t>// Correcao PID</a:t>
            </a:r>
          </a:p>
          <a:p>
            <a:pPr algn="l">
              <a:lnSpc>
                <a:spcPct val="120000"/>
              </a:lnSpc>
            </a:pPr>
            <a:r>
              <a:rPr sz="998">
                <a:solidFill>
                  <a:srgbClr val="A78BFA"/>
                </a:solidFill>
                <a:latin typeface="Consolas"/>
              </a:rPr>
              <a:t>double</a:t>
            </a:r>
            <a:r>
              <a:rPr sz="998">
                <a:solidFill>
                  <a:srgbClr val="E6EDF8"/>
                </a:solidFill>
                <a:latin typeface="Consolas"/>
              </a:rPr>
              <a:t> output1 = pid1.calculate(currentRPM1, targetRPM1);</a:t>
            </a:r>
          </a:p>
          <a:p>
            <a:pPr algn="l">
              <a:lnSpc>
                <a:spcPct val="120000"/>
              </a:lnSpc>
            </a:pPr>
            <a:r>
              <a:rPr sz="998">
                <a:solidFill>
                  <a:srgbClr val="E6EDF8"/>
                </a:solidFill>
                <a:latin typeface="Consolas"/>
              </a:rPr>
              <a:t>motor1.set(output1);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3271" y="3364992"/>
            <a:ext cx="1792224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driveRobotOriented()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56616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Malha aberta </a:t>
            </a:r>
            <a:r>
              <a:rPr sz="1250">
                <a:solidFill>
                  <a:srgbClr val="E6EDF8"/>
                </a:solidFill>
                <a:latin typeface="Segoe UI"/>
              </a:rPr>
              <a:t>= mandar % direto no motor. Bateria baixa ou tapete pesado → robô mais lento.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Malha fechada </a:t>
            </a:r>
            <a:r>
              <a:rPr sz="1250">
                <a:solidFill>
                  <a:srgbClr val="E6EDF8"/>
                </a:solidFill>
                <a:latin typeface="Segoe UI"/>
              </a:rPr>
              <a:t>= medir o RPM e corrigir. O robô anda igual com bateria cheia ou meia.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Um PID por roda </a:t>
            </a:r>
            <a:r>
              <a:rPr sz="1250">
                <a:solidFill>
                  <a:srgbClr val="E6EDF8"/>
                </a:solidFill>
                <a:latin typeface="Segoe UI"/>
              </a:rPr>
              <a:t>porque cada roda tem seu próprio atrito e carga.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559552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579729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72184" y="5650992"/>
            <a:ext cx="964691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Atenção à assinatura antiga do WPILib: pid.calculate(medida, setpoint) — a MEDIDA vem primeiro. Trocar a ordem inverte o sinal do erro e o robô foge do alvo.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PID POR RODA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que cada ganho faz na sua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2 — 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57400"/>
            <a:ext cx="10469880" cy="100584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2157984"/>
            <a:ext cx="50292" cy="804672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221284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8D9F0"/>
                </a:solidFill>
                <a:latin typeface="Segoe UI"/>
              </a:rPr>
              <a:t>P — Proporcional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569464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Consolas"/>
              </a:rPr>
              <a:t>kP = 0.005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212848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Reage ao erro de agora. Erro de 100 RPM → saída 0.5. Muito alto: oscila e a roda “chia”. Muito baixo: nunca chega no alvo.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209544"/>
            <a:ext cx="10469880" cy="100584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68680" y="3310127"/>
            <a:ext cx="50292" cy="80467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3364991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BBF24"/>
                </a:solidFill>
                <a:latin typeface="Segoe UI"/>
              </a:rPr>
              <a:t>I — Integral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721608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Consolas"/>
              </a:rPr>
              <a:t>kI = 0.001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64991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Acumula erro pequeno e persistente — vence o atrito que o P sozinho não vence. Muito alto: sobressinal e windup.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361688"/>
            <a:ext cx="10469880" cy="1005840"/>
          </a:xfrm>
          <a:prstGeom prst="roundRect">
            <a:avLst>
              <a:gd name="adj" fmla="val 10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68680" y="4462272"/>
            <a:ext cx="50292" cy="80467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4517136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A78BFA"/>
                </a:solidFill>
                <a:latin typeface="Segoe UI"/>
              </a:rPr>
              <a:t>D — Derivativo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4873752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FFFFFF"/>
                </a:solidFill>
                <a:latin typeface="Consolas"/>
              </a:rPr>
              <a:t>kD = 0.000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517136"/>
            <a:ext cx="822960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E6EDF8"/>
                </a:solidFill>
                <a:latin typeface="Segoe UI"/>
              </a:rPr>
              <a:t>Reage à variação do erro, freia a oscilação. Desligado aqui: encoder quantizado gera ruído e o D amplifica ruído.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5559552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9848" y="579729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72184" y="5650992"/>
            <a:ext cx="964691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stop() chama pid.reset() de propósito: sem isso o termo I guarda o erro da manobra anterior e o próximo comando começa com um empurrão fantasma.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SLEWRATELIMITER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Rampa de aceleração: proteger o robô de você mesmo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2 — 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10469880" cy="169164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1071">
                <a:solidFill>
                  <a:srgbClr val="A78BFA"/>
                </a:solidFill>
                <a:latin typeface="Consolas"/>
              </a:rPr>
              <a:t>private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A78BFA"/>
                </a:solidFill>
                <a:latin typeface="Consolas"/>
              </a:rPr>
              <a:t>final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34D399"/>
                </a:solidFill>
                <a:latin typeface="Consolas"/>
              </a:rPr>
              <a:t>SlewRateLimiter</a:t>
            </a:r>
            <a:r>
              <a:rPr sz="1071">
                <a:solidFill>
                  <a:srgbClr val="E6EDF8"/>
                </a:solidFill>
                <a:latin typeface="Consolas"/>
              </a:rPr>
              <a:t> xLimiter = </a:t>
            </a:r>
            <a:r>
              <a:rPr sz="1071">
                <a:solidFill>
                  <a:srgbClr val="A78BFA"/>
                </a:solidFill>
                <a:latin typeface="Consolas"/>
              </a:rPr>
              <a:t>new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34D399"/>
                </a:solidFill>
                <a:latin typeface="Consolas"/>
              </a:rPr>
              <a:t>SlewRateLimiter</a:t>
            </a:r>
            <a:r>
              <a:rPr sz="1071">
                <a:solidFill>
                  <a:srgbClr val="E6EDF8"/>
                </a:solidFill>
                <a:latin typeface="Consolas"/>
              </a:rPr>
              <a:t>(</a:t>
            </a:r>
            <a:r>
              <a:rPr sz="1071">
                <a:solidFill>
                  <a:srgbClr val="34D399"/>
                </a:solidFill>
                <a:latin typeface="Consolas"/>
              </a:rPr>
              <a:t>DriveConstants</a:t>
            </a:r>
            <a:r>
              <a:rPr sz="1071">
                <a:solidFill>
                  <a:srgbClr val="E6EDF8"/>
                </a:solidFill>
                <a:latin typeface="Consolas"/>
              </a:rPr>
              <a:t>.kSlewRateX);</a:t>
            </a:r>
          </a:p>
          <a:p>
            <a:pPr algn="l">
              <a:lnSpc>
                <a:spcPct val="120000"/>
              </a:lnSpc>
            </a:pPr>
            <a:r>
              <a:rPr sz="1071">
                <a:solidFill>
                  <a:srgbClr val="A78BFA"/>
                </a:solidFill>
                <a:latin typeface="Consolas"/>
              </a:rPr>
              <a:t>private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A78BFA"/>
                </a:solidFill>
                <a:latin typeface="Consolas"/>
              </a:rPr>
              <a:t>final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34D399"/>
                </a:solidFill>
                <a:latin typeface="Consolas"/>
              </a:rPr>
              <a:t>SlewRateLimiter</a:t>
            </a:r>
            <a:r>
              <a:rPr sz="1071">
                <a:solidFill>
                  <a:srgbClr val="E6EDF8"/>
                </a:solidFill>
                <a:latin typeface="Consolas"/>
              </a:rPr>
              <a:t> yLimiter = </a:t>
            </a:r>
            <a:r>
              <a:rPr sz="1071">
                <a:solidFill>
                  <a:srgbClr val="A78BFA"/>
                </a:solidFill>
                <a:latin typeface="Consolas"/>
              </a:rPr>
              <a:t>new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34D399"/>
                </a:solidFill>
                <a:latin typeface="Consolas"/>
              </a:rPr>
              <a:t>SlewRateLimiter</a:t>
            </a:r>
            <a:r>
              <a:rPr sz="1071">
                <a:solidFill>
                  <a:srgbClr val="E6EDF8"/>
                </a:solidFill>
                <a:latin typeface="Consolas"/>
              </a:rPr>
              <a:t>(</a:t>
            </a:r>
            <a:r>
              <a:rPr sz="1071">
                <a:solidFill>
                  <a:srgbClr val="34D399"/>
                </a:solidFill>
                <a:latin typeface="Consolas"/>
              </a:rPr>
              <a:t>DriveConstants</a:t>
            </a:r>
            <a:r>
              <a:rPr sz="1071">
                <a:solidFill>
                  <a:srgbClr val="E6EDF8"/>
                </a:solidFill>
                <a:latin typeface="Consolas"/>
              </a:rPr>
              <a:t>.kSlewRateY);</a:t>
            </a:r>
          </a:p>
          <a:p>
            <a:pPr algn="l">
              <a:lnSpc>
                <a:spcPct val="120000"/>
              </a:lnSpc>
            </a:pPr>
            <a:r>
              <a:rPr sz="1071">
                <a:solidFill>
                  <a:srgbClr val="A78BFA"/>
                </a:solidFill>
                <a:latin typeface="Consolas"/>
              </a:rPr>
              <a:t>private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A78BFA"/>
                </a:solidFill>
                <a:latin typeface="Consolas"/>
              </a:rPr>
              <a:t>final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34D399"/>
                </a:solidFill>
                <a:latin typeface="Consolas"/>
              </a:rPr>
              <a:t>SlewRateLimiter</a:t>
            </a:r>
            <a:r>
              <a:rPr sz="1071">
                <a:solidFill>
                  <a:srgbClr val="E6EDF8"/>
                </a:solidFill>
                <a:latin typeface="Consolas"/>
              </a:rPr>
              <a:t> zLimiter = </a:t>
            </a:r>
            <a:r>
              <a:rPr sz="1071">
                <a:solidFill>
                  <a:srgbClr val="A78BFA"/>
                </a:solidFill>
                <a:latin typeface="Consolas"/>
              </a:rPr>
              <a:t>new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34D399"/>
                </a:solidFill>
                <a:latin typeface="Consolas"/>
              </a:rPr>
              <a:t>SlewRateLimiter</a:t>
            </a:r>
            <a:r>
              <a:rPr sz="1071">
                <a:solidFill>
                  <a:srgbClr val="E6EDF8"/>
                </a:solidFill>
                <a:latin typeface="Consolas"/>
              </a:rPr>
              <a:t>(</a:t>
            </a:r>
            <a:r>
              <a:rPr sz="1071">
                <a:solidFill>
                  <a:srgbClr val="34D399"/>
                </a:solidFill>
                <a:latin typeface="Consolas"/>
              </a:rPr>
              <a:t>DriveConstants</a:t>
            </a:r>
            <a:r>
              <a:rPr sz="1071">
                <a:solidFill>
                  <a:srgbClr val="E6EDF8"/>
                </a:solidFill>
                <a:latin typeface="Consolas"/>
              </a:rPr>
              <a:t>.kSlewRateZ);</a:t>
            </a:r>
          </a:p>
          <a:p>
            <a:pPr algn="l">
              <a:lnSpc>
                <a:spcPct val="120000"/>
              </a:lnSpc>
            </a:pPr>
            <a:endParaRPr sz="1071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1071">
                <a:solidFill>
                  <a:srgbClr val="A78BFA"/>
                </a:solidFill>
                <a:latin typeface="Consolas"/>
              </a:rPr>
              <a:t>double</a:t>
            </a:r>
            <a:r>
              <a:rPr sz="1071">
                <a:solidFill>
                  <a:srgbClr val="E6EDF8"/>
                </a:solidFill>
                <a:latin typeface="Consolas"/>
              </a:rPr>
              <a:t> smoothVx = xLimiter.calculate(fieldVx);   </a:t>
            </a:r>
            <a:r>
              <a:rPr sz="1071" i="1">
                <a:solidFill>
                  <a:srgbClr val="6B82A6"/>
                </a:solidFill>
                <a:latin typeface="Consolas"/>
              </a:rPr>
              <a:t>// kSlewRateX = 2.0  -&gt; 0 a 100% em 0,5 s</a:t>
            </a:r>
          </a:p>
          <a:p>
            <a:pPr algn="l">
              <a:lnSpc>
                <a:spcPct val="120000"/>
              </a:lnSpc>
            </a:pPr>
            <a:r>
              <a:rPr sz="1071">
                <a:solidFill>
                  <a:srgbClr val="A78BFA"/>
                </a:solidFill>
                <a:latin typeface="Consolas"/>
              </a:rPr>
              <a:t>double</a:t>
            </a:r>
            <a:r>
              <a:rPr sz="1071">
                <a:solidFill>
                  <a:srgbClr val="E6EDF8"/>
                </a:solidFill>
                <a:latin typeface="Consolas"/>
              </a:rPr>
              <a:t> smoothVy = yLimiter.calculate(fieldVy);   </a:t>
            </a:r>
            <a:r>
              <a:rPr sz="1071" i="1">
                <a:solidFill>
                  <a:srgbClr val="6B82A6"/>
                </a:solidFill>
                <a:latin typeface="Consolas"/>
              </a:rPr>
              <a:t>// kSlewRateY = 2.0</a:t>
            </a:r>
          </a:p>
          <a:p>
            <a:pPr algn="l">
              <a:lnSpc>
                <a:spcPct val="120000"/>
              </a:lnSpc>
            </a:pPr>
            <a:r>
              <a:rPr sz="1071">
                <a:solidFill>
                  <a:srgbClr val="A78BFA"/>
                </a:solidFill>
                <a:latin typeface="Consolas"/>
              </a:rPr>
              <a:t>double</a:t>
            </a:r>
            <a:r>
              <a:rPr sz="1071">
                <a:solidFill>
                  <a:srgbClr val="E6EDF8"/>
                </a:solidFill>
                <a:latin typeface="Consolas"/>
              </a:rPr>
              <a:t> smoothWz = zLimiter.calculate(wz);        </a:t>
            </a:r>
            <a:r>
              <a:rPr sz="1071" i="1">
                <a:solidFill>
                  <a:srgbClr val="6B82A6"/>
                </a:solidFill>
                <a:latin typeface="Consolas"/>
              </a:rPr>
              <a:t>// kSlewRateZ = 3.0  -&gt; giro responde mais rapido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1640433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OmnidriveSubsystem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977639"/>
            <a:ext cx="5120640" cy="2057400"/>
          </a:xfrm>
          <a:prstGeom prst="roundRect">
            <a:avLst>
              <a:gd name="adj" fmla="val 6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1417319" y="5577840"/>
            <a:ext cx="4114801" cy="0"/>
          </a:xfrm>
          <a:prstGeom prst="line">
            <a:avLst/>
          </a:prstGeom>
          <a:ln w="12700">
            <a:solidFill>
              <a:srgbClr val="93A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417319" y="4297679"/>
            <a:ext cx="0" cy="1280161"/>
          </a:xfrm>
          <a:prstGeom prst="line">
            <a:avLst/>
          </a:prstGeom>
          <a:ln w="12700">
            <a:solidFill>
              <a:srgbClr val="93A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417319" y="4389120"/>
            <a:ext cx="915" cy="0"/>
          </a:xfrm>
          <a:prstGeom prst="line">
            <a:avLst/>
          </a:prstGeom>
          <a:ln w="15875">
            <a:solidFill>
              <a:srgbClr val="93A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17319" y="5577840"/>
            <a:ext cx="777241" cy="0"/>
          </a:xfrm>
          <a:prstGeom prst="line">
            <a:avLst/>
          </a:prstGeom>
          <a:ln w="27940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194560" y="4389120"/>
            <a:ext cx="0" cy="1188720"/>
          </a:xfrm>
          <a:prstGeom prst="line">
            <a:avLst/>
          </a:prstGeom>
          <a:ln w="27940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194560" y="4389120"/>
            <a:ext cx="3246120" cy="0"/>
          </a:xfrm>
          <a:prstGeom prst="line">
            <a:avLst/>
          </a:prstGeom>
          <a:ln w="27940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17319" y="5577840"/>
            <a:ext cx="777241" cy="0"/>
          </a:xfrm>
          <a:prstGeom prst="line">
            <a:avLst/>
          </a:prstGeom>
          <a:ln w="2794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194560" y="4389120"/>
            <a:ext cx="1417319" cy="1188720"/>
          </a:xfrm>
          <a:prstGeom prst="line">
            <a:avLst/>
          </a:prstGeom>
          <a:ln w="3048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611879" y="4389120"/>
            <a:ext cx="1828801" cy="0"/>
          </a:xfrm>
          <a:prstGeom prst="line">
            <a:avLst/>
          </a:prstGeom>
          <a:ln w="3048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97280" y="4105655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degrau (rosa) vs. rampa (verde)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5669279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3A6C4"/>
                </a:solidFill>
                <a:latin typeface="Segoe UI"/>
              </a:rPr>
              <a:t>tempo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3192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Unidade: </a:t>
            </a:r>
            <a:r>
              <a:rPr sz="1300">
                <a:solidFill>
                  <a:srgbClr val="E6EDF8"/>
                </a:solidFill>
                <a:latin typeface="Segoe UI"/>
              </a:rPr>
              <a:t>variação máxima por segundo. 2.0 → vai de 0 a 1 em 0,5 s.</a:t>
            </a:r>
          </a:p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Por que importa: </a:t>
            </a:r>
            <a:r>
              <a:rPr sz="1300">
                <a:solidFill>
                  <a:srgbClr val="E6EDF8"/>
                </a:solidFill>
                <a:latin typeface="Segoe UI"/>
              </a:rPr>
              <a:t>degrau de potência faz a roda “cantar”, escorregar e estragar a odometria.</a:t>
            </a:r>
          </a:p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Giro mais rápido (3.0) </a:t>
            </a:r>
            <a:r>
              <a:rPr sz="1300">
                <a:solidFill>
                  <a:srgbClr val="E6EDF8"/>
                </a:solidFill>
                <a:latin typeface="Segoe UI"/>
              </a:rPr>
              <a:t>porque girar envolve menos inércia do que arrancar.</a:t>
            </a:r>
          </a:p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Aplicado ANTES </a:t>
            </a:r>
            <a:r>
              <a:rPr sz="1300">
                <a:solidFill>
                  <a:srgbClr val="E6EDF8"/>
                </a:solidFill>
                <a:latin typeface="Segoe UI"/>
              </a:rPr>
              <a:t>da rotação campo→robô e da cinemática.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FIELD-ORIENTED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“Para frente” é do campo, não do robô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2 — 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31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9144000" y="2394813"/>
            <a:ext cx="0" cy="1628547"/>
          </a:xfrm>
          <a:prstGeom prst="line">
            <a:avLst/>
          </a:prstGeom>
          <a:ln w="17780">
            <a:solidFill>
              <a:srgbClr val="93A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>
            <a:off x="9066276" y="2208276"/>
            <a:ext cx="155448" cy="155448"/>
          </a:xfrm>
          <a:prstGeom prst="triangle">
            <a:avLst/>
          </a:prstGeom>
          <a:solidFill>
            <a:srgbClr val="93A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9568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93A6C4"/>
                </a:solidFill>
                <a:latin typeface="Segoe UI"/>
              </a:rPr>
              <a:t>X campo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7515453" y="4023360"/>
            <a:ext cx="1628547" cy="0"/>
          </a:xfrm>
          <a:prstGeom prst="line">
            <a:avLst/>
          </a:prstGeom>
          <a:ln w="17780">
            <a:solidFill>
              <a:srgbClr val="93A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/>
          <p:cNvSpPr/>
          <p:nvPr/>
        </p:nvSpPr>
        <p:spPr>
          <a:xfrm rot="16200000">
            <a:off x="7328915" y="3945636"/>
            <a:ext cx="155448" cy="155448"/>
          </a:xfrm>
          <a:prstGeom prst="triangle">
            <a:avLst/>
          </a:prstGeom>
          <a:solidFill>
            <a:srgbClr val="93A6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93A6C4"/>
                </a:solidFill>
                <a:latin typeface="Segoe UI"/>
              </a:rPr>
              <a:t>Y campo</a:t>
            </a:r>
          </a:p>
        </p:txBody>
      </p:sp>
      <p:sp>
        <p:nvSpPr>
          <p:cNvPr id="14" name="Oval 13"/>
          <p:cNvSpPr/>
          <p:nvPr/>
        </p:nvSpPr>
        <p:spPr>
          <a:xfrm>
            <a:off x="8183879" y="3063240"/>
            <a:ext cx="1920240" cy="1920240"/>
          </a:xfrm>
          <a:prstGeom prst="ellipse">
            <a:avLst/>
          </a:prstGeom>
          <a:solidFill>
            <a:srgbClr val="162238"/>
          </a:solidFill>
          <a:ln w="1651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Arc 14"/>
          <p:cNvSpPr/>
          <p:nvPr/>
        </p:nvSpPr>
        <p:spPr>
          <a:xfrm rot="16200000">
            <a:off x="8540496" y="3419856"/>
            <a:ext cx="1207008" cy="1207008"/>
          </a:xfrm>
          <a:prstGeom prst="arc">
            <a:avLst/>
          </a:prstGeom>
          <a:noFill/>
          <a:ln w="1778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85632" y="30906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1">
                <a:solidFill>
                  <a:srgbClr val="34D399"/>
                </a:solidFill>
                <a:latin typeface="Segoe UI"/>
              </a:rPr>
              <a:t>θ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8378373" y="3043402"/>
            <a:ext cx="765627" cy="979958"/>
          </a:xfrm>
          <a:prstGeom prst="line">
            <a:avLst/>
          </a:prstGeom>
          <a:ln w="2667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19320000">
            <a:off x="8208118" y="2851084"/>
            <a:ext cx="182880" cy="182880"/>
          </a:xfrm>
          <a:prstGeom prst="triangl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2709753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i="0">
                <a:solidFill>
                  <a:srgbClr val="FBBF24"/>
                </a:solidFill>
                <a:latin typeface="Segoe UI"/>
              </a:rPr>
              <a:t>frente do robô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8365077" y="4023360"/>
            <a:ext cx="778923" cy="608560"/>
          </a:xfrm>
          <a:prstGeom prst="line">
            <a:avLst/>
          </a:prstGeom>
          <a:ln w="1905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3920000">
            <a:off x="8201607" y="4621189"/>
            <a:ext cx="155448" cy="155448"/>
          </a:xfrm>
          <a:prstGeom prst="triangl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 flipV="1">
            <a:off x="9144000" y="2582569"/>
            <a:ext cx="536108" cy="1440791"/>
          </a:xfrm>
          <a:prstGeom prst="line">
            <a:avLst/>
          </a:prstGeom>
          <a:ln w="30480">
            <a:solidFill>
              <a:srgbClr val="38D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224593">
            <a:off x="9628632" y="2350008"/>
            <a:ext cx="201168" cy="201168"/>
          </a:xfrm>
          <a:prstGeom prst="triangle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93808" y="2212848"/>
            <a:ext cx="192024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38D9F0"/>
                </a:solidFill>
                <a:latin typeface="Segoe UI"/>
              </a:rPr>
              <a:t>comando do</a:t>
            </a:r>
          </a:p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38D9F0"/>
                </a:solidFill>
                <a:latin typeface="Segoe UI"/>
              </a:rPr>
              <a:t>joystick (campo)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210312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Robot-oriented: </a:t>
            </a:r>
            <a:r>
              <a:rPr sz="1350">
                <a:solidFill>
                  <a:srgbClr val="E6EDF8"/>
                </a:solidFill>
                <a:latin typeface="Segoe UI"/>
              </a:rPr>
              <a:t>empurrar o joystick para frente move o robô na direção que ELE está apontando. Se o robô girou, o piloto se perde.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Field-oriented: </a:t>
            </a:r>
            <a:r>
              <a:rPr sz="1350">
                <a:solidFill>
                  <a:srgbClr val="E6EDF8"/>
                </a:solidFill>
                <a:latin typeface="Segoe UI"/>
              </a:rPr>
              <a:t>empurrar para frente move o robô para o fundo do campo, não importa como ele está girado.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Como: </a:t>
            </a:r>
            <a:r>
              <a:rPr sz="1350">
                <a:solidFill>
                  <a:srgbClr val="E6EDF8"/>
                </a:solidFill>
                <a:latin typeface="Segoe UI"/>
              </a:rPr>
              <a:t>girar o vetor de comando de −θ, levando-o do referencial do campo para o do robô, antes da cinemática.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θ vem da IMU </a:t>
            </a:r>
            <a:r>
              <a:rPr sz="1350">
                <a:solidFill>
                  <a:srgbClr val="E6EDF8"/>
                </a:solidFill>
                <a:latin typeface="Segoe UI"/>
              </a:rPr>
              <a:t>— a mesma fonte que a odometria usa, de propósito.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5029200"/>
            <a:ext cx="4937760" cy="105156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>
              <a:lnSpc>
                <a:spcPct val="132000"/>
              </a:lnSpc>
            </a:pPr>
            <a:r>
              <a:rPr sz="1550">
                <a:solidFill>
                  <a:srgbClr val="FFFFFF"/>
                </a:solidFill>
                <a:latin typeface="Consolas"/>
              </a:rPr>
              <a:t>vx_robô =  vx·cosθ + vy·senθ</a:t>
            </a:r>
          </a:p>
          <a:p>
            <a:pPr algn="ctr">
              <a:lnSpc>
                <a:spcPct val="132000"/>
              </a:lnSpc>
            </a:pPr>
            <a:r>
              <a:rPr sz="1550">
                <a:solidFill>
                  <a:srgbClr val="FFFFFF"/>
                </a:solidFill>
                <a:latin typeface="Consolas"/>
              </a:rPr>
              <a:t>vy_robô = −vx·senθ + vy·cosθ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FIELD-ORIENTED NO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Seis linhas que mudam a experiência do piloto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2 — 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7132320" cy="288036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1073">
                <a:solidFill>
                  <a:srgbClr val="A78BFA"/>
                </a:solidFill>
                <a:latin typeface="Consolas"/>
              </a:rPr>
              <a:t>public</a:t>
            </a:r>
            <a:r>
              <a:rPr sz="1073">
                <a:solidFill>
                  <a:srgbClr val="E6EDF8"/>
                </a:solidFill>
                <a:latin typeface="Consolas"/>
              </a:rPr>
              <a:t> </a:t>
            </a:r>
            <a:r>
              <a:rPr sz="1073">
                <a:solidFill>
                  <a:srgbClr val="A78BFA"/>
                </a:solidFill>
                <a:latin typeface="Consolas"/>
              </a:rPr>
              <a:t>void</a:t>
            </a:r>
            <a:r>
              <a:rPr sz="1073">
                <a:solidFill>
                  <a:srgbClr val="E6EDF8"/>
                </a:solidFill>
                <a:latin typeface="Consolas"/>
              </a:rPr>
              <a:t> driveFieldOriented(</a:t>
            </a:r>
            <a:r>
              <a:rPr sz="1073">
                <a:solidFill>
                  <a:srgbClr val="A78BFA"/>
                </a:solidFill>
                <a:latin typeface="Consolas"/>
              </a:rPr>
              <a:t>double</a:t>
            </a:r>
            <a:r>
              <a:rPr sz="1073">
                <a:solidFill>
                  <a:srgbClr val="E6EDF8"/>
                </a:solidFill>
                <a:latin typeface="Consolas"/>
              </a:rPr>
              <a:t> fieldVx, </a:t>
            </a:r>
            <a:r>
              <a:rPr sz="1073">
                <a:solidFill>
                  <a:srgbClr val="A78BFA"/>
                </a:solidFill>
                <a:latin typeface="Consolas"/>
              </a:rPr>
              <a:t>double</a:t>
            </a:r>
            <a:r>
              <a:rPr sz="1073">
                <a:solidFill>
                  <a:srgbClr val="E6EDF8"/>
                </a:solidFill>
                <a:latin typeface="Consolas"/>
              </a:rPr>
              <a:t> fieldVy, </a:t>
            </a:r>
            <a:r>
              <a:rPr sz="1073">
                <a:solidFill>
                  <a:srgbClr val="A78BFA"/>
                </a:solidFill>
                <a:latin typeface="Consolas"/>
              </a:rPr>
              <a:t>double</a:t>
            </a:r>
            <a:r>
              <a:rPr sz="1073">
                <a:solidFill>
                  <a:srgbClr val="E6EDF8"/>
                </a:solidFill>
                <a:latin typeface="Consolas"/>
              </a:rPr>
              <a:t> wz) {</a:t>
            </a:r>
          </a:p>
          <a:p>
            <a:pPr algn="l">
              <a:lnSpc>
                <a:spcPct val="120000"/>
              </a:lnSpc>
            </a:pPr>
            <a:r>
              <a:rPr sz="1073">
                <a:solidFill>
                  <a:srgbClr val="E6EDF8"/>
                </a:solidFill>
                <a:latin typeface="Consolas"/>
              </a:rPr>
              <a:t>  </a:t>
            </a:r>
            <a:r>
              <a:rPr sz="1073">
                <a:solidFill>
                  <a:srgbClr val="A78BFA"/>
                </a:solidFill>
                <a:latin typeface="Consolas"/>
              </a:rPr>
              <a:t>double</a:t>
            </a:r>
            <a:r>
              <a:rPr sz="1073">
                <a:solidFill>
                  <a:srgbClr val="E6EDF8"/>
                </a:solidFill>
                <a:latin typeface="Consolas"/>
              </a:rPr>
              <a:t> smoothVx = xLimiter.calculate(fieldVx);</a:t>
            </a:r>
          </a:p>
          <a:p>
            <a:pPr algn="l">
              <a:lnSpc>
                <a:spcPct val="120000"/>
              </a:lnSpc>
            </a:pPr>
            <a:r>
              <a:rPr sz="1073">
                <a:solidFill>
                  <a:srgbClr val="E6EDF8"/>
                </a:solidFill>
                <a:latin typeface="Consolas"/>
              </a:rPr>
              <a:t>  </a:t>
            </a:r>
            <a:r>
              <a:rPr sz="1073">
                <a:solidFill>
                  <a:srgbClr val="A78BFA"/>
                </a:solidFill>
                <a:latin typeface="Consolas"/>
              </a:rPr>
              <a:t>double</a:t>
            </a:r>
            <a:r>
              <a:rPr sz="1073">
                <a:solidFill>
                  <a:srgbClr val="E6EDF8"/>
                </a:solidFill>
                <a:latin typeface="Consolas"/>
              </a:rPr>
              <a:t> smoothVy = yLimiter.calculate(fieldVy);</a:t>
            </a:r>
          </a:p>
          <a:p>
            <a:pPr algn="l">
              <a:lnSpc>
                <a:spcPct val="120000"/>
              </a:lnSpc>
            </a:pPr>
            <a:r>
              <a:rPr sz="1073">
                <a:solidFill>
                  <a:srgbClr val="E6EDF8"/>
                </a:solidFill>
                <a:latin typeface="Consolas"/>
              </a:rPr>
              <a:t>  </a:t>
            </a:r>
            <a:r>
              <a:rPr sz="1073">
                <a:solidFill>
                  <a:srgbClr val="A78BFA"/>
                </a:solidFill>
                <a:latin typeface="Consolas"/>
              </a:rPr>
              <a:t>double</a:t>
            </a:r>
            <a:r>
              <a:rPr sz="1073">
                <a:solidFill>
                  <a:srgbClr val="E6EDF8"/>
                </a:solidFill>
                <a:latin typeface="Consolas"/>
              </a:rPr>
              <a:t> smoothWz = zLimiter.calculate(wz);</a:t>
            </a:r>
          </a:p>
          <a:p>
            <a:pPr algn="l">
              <a:lnSpc>
                <a:spcPct val="120000"/>
              </a:lnSpc>
            </a:pPr>
            <a:endParaRPr sz="1073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1073">
                <a:solidFill>
                  <a:srgbClr val="E6EDF8"/>
                </a:solidFill>
                <a:latin typeface="Consolas"/>
              </a:rPr>
              <a:t>  </a:t>
            </a:r>
            <a:r>
              <a:rPr sz="1073" i="1">
                <a:solidFill>
                  <a:srgbClr val="6B82A6"/>
                </a:solidFill>
                <a:latin typeface="Consolas"/>
              </a:rPr>
              <a:t>// Rotacao campo -&gt; robo: gira o vetor de -theta. Mesma fonte de rumo</a:t>
            </a:r>
          </a:p>
          <a:p>
            <a:pPr algn="l">
              <a:lnSpc>
                <a:spcPct val="120000"/>
              </a:lnSpc>
            </a:pPr>
            <a:r>
              <a:rPr sz="1073">
                <a:solidFill>
                  <a:srgbClr val="E6EDF8"/>
                </a:solidFill>
                <a:latin typeface="Consolas"/>
              </a:rPr>
              <a:t>  </a:t>
            </a:r>
            <a:r>
              <a:rPr sz="1073" i="1">
                <a:solidFill>
                  <a:srgbClr val="6B82A6"/>
                </a:solidFill>
                <a:latin typeface="Consolas"/>
              </a:rPr>
              <a:t>// que a odometria usa, para as duas nao divergirem de convencao.</a:t>
            </a:r>
          </a:p>
          <a:p>
            <a:pPr algn="l">
              <a:lnSpc>
                <a:spcPct val="120000"/>
              </a:lnSpc>
            </a:pPr>
            <a:r>
              <a:rPr sz="1073">
                <a:solidFill>
                  <a:srgbClr val="E6EDF8"/>
                </a:solidFill>
                <a:latin typeface="Consolas"/>
              </a:rPr>
              <a:t>  </a:t>
            </a:r>
            <a:r>
              <a:rPr sz="1073">
                <a:solidFill>
                  <a:srgbClr val="34D399"/>
                </a:solidFill>
                <a:latin typeface="Consolas"/>
              </a:rPr>
              <a:t>Rotation2d</a:t>
            </a:r>
            <a:r>
              <a:rPr sz="1073">
                <a:solidFill>
                  <a:srgbClr val="E6EDF8"/>
                </a:solidFill>
                <a:latin typeface="Consolas"/>
              </a:rPr>
              <a:t> angle = getRotation2d();</a:t>
            </a:r>
          </a:p>
          <a:p>
            <a:pPr algn="l">
              <a:lnSpc>
                <a:spcPct val="120000"/>
              </a:lnSpc>
            </a:pPr>
            <a:r>
              <a:rPr sz="1073">
                <a:solidFill>
                  <a:srgbClr val="E6EDF8"/>
                </a:solidFill>
                <a:latin typeface="Consolas"/>
              </a:rPr>
              <a:t>  </a:t>
            </a:r>
            <a:r>
              <a:rPr sz="1073">
                <a:solidFill>
                  <a:srgbClr val="A78BFA"/>
                </a:solidFill>
                <a:latin typeface="Consolas"/>
              </a:rPr>
              <a:t>double</a:t>
            </a:r>
            <a:r>
              <a:rPr sz="1073">
                <a:solidFill>
                  <a:srgbClr val="E6EDF8"/>
                </a:solidFill>
                <a:latin typeface="Consolas"/>
              </a:rPr>
              <a:t> robotVx =  smoothVx * angle.getCos() + smoothVy * angle.getSin();</a:t>
            </a:r>
          </a:p>
          <a:p>
            <a:pPr algn="l">
              <a:lnSpc>
                <a:spcPct val="120000"/>
              </a:lnSpc>
            </a:pPr>
            <a:r>
              <a:rPr sz="1073">
                <a:solidFill>
                  <a:srgbClr val="E6EDF8"/>
                </a:solidFill>
                <a:latin typeface="Consolas"/>
              </a:rPr>
              <a:t>  </a:t>
            </a:r>
            <a:r>
              <a:rPr sz="1073">
                <a:solidFill>
                  <a:srgbClr val="A78BFA"/>
                </a:solidFill>
                <a:latin typeface="Consolas"/>
              </a:rPr>
              <a:t>double</a:t>
            </a:r>
            <a:r>
              <a:rPr sz="1073">
                <a:solidFill>
                  <a:srgbClr val="E6EDF8"/>
                </a:solidFill>
                <a:latin typeface="Consolas"/>
              </a:rPr>
              <a:t> robotVy = -smoothVx * angle.getSin() + smoothVy * angle.getCos();</a:t>
            </a:r>
          </a:p>
          <a:p>
            <a:pPr algn="l">
              <a:lnSpc>
                <a:spcPct val="120000"/>
              </a:lnSpc>
            </a:pPr>
            <a:endParaRPr sz="1073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1073">
                <a:solidFill>
                  <a:srgbClr val="E6EDF8"/>
                </a:solidFill>
                <a:latin typeface="Consolas"/>
              </a:rPr>
              <a:t>  driveRobotOriented(robotVx, robotVy, smoothWz);</a:t>
            </a:r>
          </a:p>
          <a:p>
            <a:pPr algn="l">
              <a:lnSpc>
                <a:spcPct val="120000"/>
              </a:lnSpc>
            </a:pPr>
            <a:r>
              <a:rPr sz="1073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1792224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driveFieldOriented()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074920"/>
            <a:ext cx="7132320" cy="118872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1150">
                <a:solidFill>
                  <a:srgbClr val="A78BFA"/>
                </a:solidFill>
                <a:latin typeface="Consolas"/>
              </a:rPr>
              <a:t>public</a:t>
            </a:r>
            <a:r>
              <a:rPr sz="1150">
                <a:solidFill>
                  <a:srgbClr val="E6EDF8"/>
                </a:solidFill>
                <a:latin typeface="Consolas"/>
              </a:rPr>
              <a:t> </a:t>
            </a:r>
            <a:r>
              <a:rPr sz="1150">
                <a:solidFill>
                  <a:srgbClr val="34D399"/>
                </a:solidFill>
                <a:latin typeface="Consolas"/>
              </a:rPr>
              <a:t>Rotation2d</a:t>
            </a:r>
            <a:r>
              <a:rPr sz="1150">
                <a:solidFill>
                  <a:srgbClr val="E6EDF8"/>
                </a:solidFill>
                <a:latin typeface="Consolas"/>
              </a:rPr>
              <a:t> getRotation2d() {   </a:t>
            </a:r>
            <a:r>
              <a:rPr sz="1150" i="1">
                <a:solidFill>
                  <a:srgbClr val="6B82A6"/>
                </a:solidFill>
                <a:latin typeface="Consolas"/>
              </a:rPr>
              <a:t>// unica porta de entrada do angulo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E6EDF8"/>
                </a:solidFill>
                <a:latin typeface="Consolas"/>
              </a:rPr>
              <a:t>  </a:t>
            </a:r>
            <a:r>
              <a:rPr sz="1150">
                <a:solidFill>
                  <a:srgbClr val="A78BFA"/>
                </a:solidFill>
                <a:latin typeface="Consolas"/>
              </a:rPr>
              <a:t>return</a:t>
            </a:r>
            <a:r>
              <a:rPr sz="1150">
                <a:solidFill>
                  <a:srgbClr val="E6EDF8"/>
                </a:solidFill>
                <a:latin typeface="Consolas"/>
              </a:rPr>
              <a:t> </a:t>
            </a:r>
            <a:r>
              <a:rPr sz="1150">
                <a:solidFill>
                  <a:srgbClr val="34D399"/>
                </a:solidFill>
                <a:latin typeface="Consolas"/>
              </a:rPr>
              <a:t>Rotation2d</a:t>
            </a:r>
            <a:r>
              <a:rPr sz="1150">
                <a:solidFill>
                  <a:srgbClr val="E6EDF8"/>
                </a:solidFill>
                <a:latin typeface="Consolas"/>
              </a:rPr>
              <a:t>.fromDegrees(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E6EDF8"/>
                </a:solidFill>
                <a:latin typeface="Consolas"/>
              </a:rPr>
              <a:t>      </a:t>
            </a:r>
            <a:r>
              <a:rPr sz="1150">
                <a:solidFill>
                  <a:srgbClr val="34D399"/>
                </a:solidFill>
                <a:latin typeface="Consolas"/>
              </a:rPr>
              <a:t>DriveConstants</a:t>
            </a:r>
            <a:r>
              <a:rPr sz="1150">
                <a:solidFill>
                  <a:srgbClr val="E6EDF8"/>
                </a:solidFill>
                <a:latin typeface="Consolas"/>
              </a:rPr>
              <a:t>.kGyroReversed ? -getHeading() : getHeading());</a:t>
            </a:r>
          </a:p>
          <a:p>
            <a:pPr algn="l">
              <a:lnSpc>
                <a:spcPct val="120000"/>
              </a:lnSpc>
            </a:pPr>
            <a:r>
              <a:rPr sz="1150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1" y="4919472"/>
            <a:ext cx="1412748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getRotation2d()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Ordem: </a:t>
            </a:r>
            <a:r>
              <a:rPr sz="1250">
                <a:solidFill>
                  <a:srgbClr val="E6EDF8"/>
                </a:solidFill>
                <a:latin typeface="Segoe UI"/>
              </a:rPr>
              <a:t>rampa → rotação → cinemática → normalização → PID. Cada etapa é independente.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ω não gira. </a:t>
            </a:r>
            <a:r>
              <a:rPr sz="1250">
                <a:solidFill>
                  <a:srgbClr val="E6EDF8"/>
                </a:solidFill>
                <a:latin typeface="Segoe UI"/>
              </a:rPr>
              <a:t>Velocidade angular é a mesma nos dois referenciais.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getRotation2d() </a:t>
            </a:r>
            <a:r>
              <a:rPr sz="1250">
                <a:solidFill>
                  <a:srgbClr val="E6EDF8"/>
                </a:solidFill>
                <a:latin typeface="Segoe UI"/>
              </a:rPr>
              <a:t>é a ÚNICA porta de entrada do ângulo: aplica kGyroReversed e entrega na convenção WPILib (anti-horário positivo).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526280"/>
            <a:ext cx="3108960" cy="1737360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0768" y="525780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4617720"/>
            <a:ext cx="228600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Teste de bancada: gire o robô 90° na mão e empurre o joystick para frente. Ele deve ir para a mesma direção do campo de antes. Se andar 90° errado, inverta kGyroReversed.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RESETHEADING()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Reancorar o campo — e por que a pose vai junto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2 — 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10469880" cy="105156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1005">
                <a:solidFill>
                  <a:srgbClr val="A78BFA"/>
                </a:solidFill>
                <a:latin typeface="Consolas"/>
              </a:rPr>
              <a:t>public</a:t>
            </a:r>
            <a:r>
              <a:rPr sz="1005">
                <a:solidFill>
                  <a:srgbClr val="E6EDF8"/>
                </a:solidFill>
                <a:latin typeface="Consolas"/>
              </a:rPr>
              <a:t> </a:t>
            </a:r>
            <a:r>
              <a:rPr sz="1005">
                <a:solidFill>
                  <a:srgbClr val="A78BFA"/>
                </a:solidFill>
                <a:latin typeface="Consolas"/>
              </a:rPr>
              <a:t>void</a:t>
            </a:r>
            <a:r>
              <a:rPr sz="1005">
                <a:solidFill>
                  <a:srgbClr val="E6EDF8"/>
                </a:solidFill>
                <a:latin typeface="Consolas"/>
              </a:rPr>
              <a:t> resetHeading() {</a:t>
            </a:r>
          </a:p>
          <a:p>
            <a:pPr algn="l">
              <a:lnSpc>
                <a:spcPct val="120000"/>
              </a:lnSpc>
            </a:pPr>
            <a:r>
              <a:rPr sz="1005">
                <a:solidFill>
                  <a:srgbClr val="E6EDF8"/>
                </a:solidFill>
                <a:latin typeface="Consolas"/>
              </a:rPr>
              <a:t>  ahrs.reset();                                     </a:t>
            </a:r>
            <a:r>
              <a:rPr sz="1005" i="1">
                <a:solidFill>
                  <a:srgbClr val="6B82A6"/>
                </a:solidFill>
                <a:latin typeface="Consolas"/>
              </a:rPr>
              <a:t>// IMU: rumo atual passa a ser 0</a:t>
            </a:r>
          </a:p>
          <a:p>
            <a:pPr algn="l">
              <a:lnSpc>
                <a:spcPct val="120000"/>
              </a:lnSpc>
            </a:pPr>
            <a:r>
              <a:rPr sz="1005">
                <a:solidFill>
                  <a:srgbClr val="E6EDF8"/>
                </a:solidFill>
                <a:latin typeface="Consolas"/>
              </a:rPr>
              <a:t>  odometry.resetPose(</a:t>
            </a:r>
            <a:r>
              <a:rPr sz="1005">
                <a:solidFill>
                  <a:srgbClr val="A78BFA"/>
                </a:solidFill>
                <a:latin typeface="Consolas"/>
              </a:rPr>
              <a:t>new</a:t>
            </a:r>
            <a:r>
              <a:rPr sz="1005">
                <a:solidFill>
                  <a:srgbClr val="E6EDF8"/>
                </a:solidFill>
                <a:latin typeface="Consolas"/>
              </a:rPr>
              <a:t> </a:t>
            </a:r>
            <a:r>
              <a:rPr sz="1005">
                <a:solidFill>
                  <a:srgbClr val="34D399"/>
                </a:solidFill>
                <a:latin typeface="Consolas"/>
              </a:rPr>
              <a:t>Pose2d</a:t>
            </a:r>
            <a:r>
              <a:rPr sz="1005">
                <a:solidFill>
                  <a:srgbClr val="E6EDF8"/>
                </a:solidFill>
                <a:latin typeface="Consolas"/>
              </a:rPr>
              <a:t>(), getRotation2d()); </a:t>
            </a:r>
            <a:r>
              <a:rPr sz="1005" i="1">
                <a:solidFill>
                  <a:srgbClr val="6B82A6"/>
                </a:solidFill>
                <a:latin typeface="Consolas"/>
              </a:rPr>
              <a:t>// pose volta para a origem</a:t>
            </a:r>
          </a:p>
          <a:p>
            <a:pPr algn="l">
              <a:lnSpc>
                <a:spcPct val="120000"/>
              </a:lnSpc>
            </a:pPr>
            <a:r>
              <a:rPr sz="1005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1640433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OmnidriveSubsystem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29000"/>
            <a:ext cx="10469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450">
                <a:solidFill>
                  <a:srgbClr val="38D9F0"/>
                </a:solidFill>
                <a:latin typeface="Segoe UI"/>
              </a:rPr>
              <a:t>▸  </a:t>
            </a:r>
            <a:r>
              <a:rPr sz="1450" b="1">
                <a:solidFill>
                  <a:srgbClr val="FBBF24"/>
                </a:solidFill>
                <a:latin typeface="Segoe UI"/>
              </a:rPr>
              <a:t>O que o botão faz: </a:t>
            </a:r>
            <a:r>
              <a:rPr sz="1450">
                <a:solidFill>
                  <a:srgbClr val="E6EDF8"/>
                </a:solidFill>
                <a:latin typeface="Segoe UI"/>
              </a:rPr>
              <a:t>a posição e o rumo atuais passam a ser a origem (0, 0) apontando para 0°. O piloto usa isso quando perde a referência.</a:t>
            </a:r>
          </a:p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450">
                <a:solidFill>
                  <a:srgbClr val="38D9F0"/>
                </a:solidFill>
                <a:latin typeface="Segoe UI"/>
              </a:rPr>
              <a:t>▸  </a:t>
            </a:r>
            <a:r>
              <a:rPr sz="1450" b="1">
                <a:solidFill>
                  <a:srgbClr val="FBBF24"/>
                </a:solidFill>
                <a:latin typeface="Segoe UI"/>
              </a:rPr>
              <a:t>Por que zerar a pose também: </a:t>
            </a:r>
            <a:r>
              <a:rPr sz="1450">
                <a:solidFill>
                  <a:srgbClr val="E6EDF8"/>
                </a:solidFill>
                <a:latin typeface="Segoe UI"/>
              </a:rPr>
              <a:t>o eixo de referência girou. Manter o x,y antigo com um θ novo deixaria a posição num referencial e o ângulo em outro — a pose viraria lixo silenciosamente.</a:t>
            </a:r>
          </a:p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450">
                <a:solidFill>
                  <a:srgbClr val="38D9F0"/>
                </a:solidFill>
                <a:latin typeface="Segoe UI"/>
              </a:rPr>
              <a:t>▸  </a:t>
            </a:r>
            <a:r>
              <a:rPr sz="1450" b="1">
                <a:solidFill>
                  <a:srgbClr val="FBBF24"/>
                </a:solidFill>
                <a:latin typeface="Segoe UI"/>
              </a:rPr>
              <a:t>Onde fica o binding: </a:t>
            </a:r>
            <a:r>
              <a:rPr sz="1450">
                <a:solidFill>
                  <a:srgbClr val="E6EDF8"/>
                </a:solidFill>
                <a:latin typeface="Segoe UI"/>
              </a:rPr>
              <a:t>RobotContainer, no trigger (botão 1) do joystick, via InstantCommand(driveSubsystem::resetHeading).</a:t>
            </a:r>
          </a:p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450">
                <a:solidFill>
                  <a:srgbClr val="38D9F0"/>
                </a:solidFill>
                <a:latin typeface="Segoe UI"/>
              </a:rPr>
              <a:t>▸  </a:t>
            </a:r>
            <a:r>
              <a:rPr sz="1450" b="1">
                <a:solidFill>
                  <a:srgbClr val="FBBF24"/>
                </a:solidFill>
                <a:latin typeface="Segoe UI"/>
              </a:rPr>
              <a:t>Diferente de resetPose(): </a:t>
            </a:r>
            <a:r>
              <a:rPr sz="1450">
                <a:solidFill>
                  <a:srgbClr val="E6EDF8"/>
                </a:solidFill>
                <a:latin typeface="Segoe UI"/>
              </a:rPr>
              <a:t>resetHeading joga tudo para a origem; resetPose declara uma pose conhecida SEM mexer na IMU.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559552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9848" y="579729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2184" y="5650992"/>
            <a:ext cx="964691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SquareAutoCommand começa com resetHeading(): o rumo em que o robô foi colocado no tapete passa a ser o 0° daquele trajeto.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CUIDADO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Convenção de eixos: o erro mais comum deste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2 — OmniDrive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10469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O mesmo par de números tem dois nomes no projeto. </a:t>
            </a:r>
            <a:r>
              <a:rPr sz="1350">
                <a:solidFill>
                  <a:srgbClr val="E6EDF8"/>
                </a:solidFill>
                <a:latin typeface="Segoe UI"/>
              </a:rPr>
              <a:t>O Javadoc de Odometry.forwardKinematics chama a primeira saída de “para frente”; o de DriveDistanceCommand chama dirX de “componente lateral”.</a:t>
            </a:r>
          </a:p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Pela montagem de Constants </a:t>
            </a:r>
            <a:r>
              <a:rPr sz="1350">
                <a:solidFill>
                  <a:srgbClr val="E6EDF8"/>
                </a:solidFill>
                <a:latin typeface="Segoe UI"/>
              </a:rPr>
              <a:t>(1 traseira, 2 frontal direita, 3 frontal esquerda), a roda traseira é a que empurra o robô de LADO — e é ela que aparece sozinha na primeira equação.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401568"/>
            <a:ext cx="10469880" cy="73152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>
              <a:lnSpc>
                <a:spcPct val="132000"/>
              </a:lnSpc>
            </a:pPr>
            <a:r>
              <a:rPr sz="1700">
                <a:solidFill>
                  <a:srgbClr val="FBBF24"/>
                </a:solidFill>
                <a:latin typeface="Consolas"/>
              </a:rPr>
              <a:t>v1 = −vx   →   a roda traseira só responde a vx   →   vx é o eixo LATERAL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15968"/>
            <a:ext cx="10469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Consequência: </a:t>
            </a:r>
            <a:r>
              <a:rPr sz="1350">
                <a:solidFill>
                  <a:srgbClr val="E6EDF8"/>
                </a:solidFill>
                <a:latin typeface="Segoe UI"/>
              </a:rPr>
              <a:t>a pose publicada (Odom X / Odom Y) pode estar girada 90° em relação ao que o nome sugere. O quadrado continua fechando — só é percorrido girado.</a:t>
            </a:r>
          </a:p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Como verificar em 30 segundos: </a:t>
            </a:r>
            <a:r>
              <a:rPr sz="1350">
                <a:solidFill>
                  <a:srgbClr val="E6EDF8"/>
                </a:solidFill>
                <a:latin typeface="Segoe UI"/>
              </a:rPr>
              <a:t>robô desabilitado no tapete, empurre-o para a frente 1 metro na mão. Se “Odom Y” mudou e “Odom X” não, o nome está trocado.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559552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9848" y="579729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2184" y="5650992"/>
            <a:ext cx="964691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Nenhuma fórmula aqui está errada — o que precisa casar é NOME × MONTAGEM FÍSICA. Meça no robô e corrija os nomes (ou os sinais) antes de confiar na odometria.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0" y="1325880"/>
            <a:ext cx="292608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0" b="1" i="0">
                <a:solidFill>
                  <a:srgbClr val="1E2E4A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39572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34D399"/>
                </a:solidFill>
                <a:latin typeface="Segoe UI"/>
              </a:rPr>
              <a:t>PARTE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743200"/>
            <a:ext cx="95097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703320"/>
            <a:ext cx="8961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93A6C4"/>
                </a:solidFill>
                <a:latin typeface="Segoe UI"/>
              </a:rPr>
              <a:t>Invertendo a cinemática para saber onde o robô está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4526280"/>
            <a:ext cx="879652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Pose2d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3548" y="4526280"/>
            <a:ext cx="1855317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Cinemática direta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6882" y="4526280"/>
            <a:ext cx="968349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Twist2d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13248" y="4526280"/>
            <a:ext cx="790956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exp()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2220" y="4526280"/>
            <a:ext cx="879652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Resets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39888" y="4526280"/>
            <a:ext cx="879652" cy="365760"/>
          </a:xfrm>
          <a:prstGeom prst="roundRect">
            <a:avLst>
              <a:gd name="adj" fmla="val 45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93A6C4"/>
                </a:solidFill>
                <a:latin typeface="Segoe UI"/>
              </a:rPr>
              <a:t>Testes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O QUE É 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Três números que respondem “onde eu estou?”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3 — 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10469880" cy="105156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>
              <a:lnSpc>
                <a:spcPct val="132000"/>
              </a:lnSpc>
            </a:pPr>
            <a:r>
              <a:rPr sz="1800">
                <a:solidFill>
                  <a:srgbClr val="FFFFFF"/>
                </a:solidFill>
                <a:latin typeface="Consolas"/>
              </a:rPr>
              <a:t>Pose2d = ( x [m],  y [m],  θ )     no referencial do CAMPO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383280"/>
            <a:ext cx="5029200" cy="128016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3511296"/>
            <a:ext cx="50292" cy="1024127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566160"/>
            <a:ext cx="45537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8D9F0"/>
                </a:solidFill>
                <a:latin typeface="Segoe UI"/>
              </a:rPr>
              <a:t>Para que 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913632"/>
            <a:ext cx="4553712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Autônomo que vai a um ponto, retorno a uma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posição conhecida, correção por visão, gráfico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da trajetória no dashboard.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3383280"/>
            <a:ext cx="5029200" cy="128016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53912" y="3511296"/>
            <a:ext cx="50292" cy="1024127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3566160"/>
            <a:ext cx="45537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4D399"/>
                </a:solidFill>
                <a:latin typeface="Segoe UI"/>
              </a:rPr>
              <a:t>De onde vem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3913632"/>
            <a:ext cx="4553712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Encoders (quanto cada roda andou) +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IMU (para onde o robô aponta).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Nada de GPS, nada de tempo.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846320"/>
            <a:ext cx="5029200" cy="128016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68680" y="4974336"/>
            <a:ext cx="50292" cy="1024127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5029200"/>
            <a:ext cx="45537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BF24"/>
                </a:solidFill>
                <a:latin typeface="Segoe UI"/>
              </a:rPr>
              <a:t>Convenção WPILib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376672"/>
            <a:ext cx="4553712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x para a frente do campo, y para a esquerda,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θ positivo no sentido anti-horário.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Ângulos em Rotation2d, nunca em double solto.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3912" y="4846320"/>
            <a:ext cx="5029200" cy="128016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53912" y="4974336"/>
            <a:ext cx="50292" cy="1024127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28232" y="5029200"/>
            <a:ext cx="45537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472B6"/>
                </a:solidFill>
                <a:latin typeface="Segoe UI"/>
              </a:rPr>
              <a:t>Limitação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5376672"/>
            <a:ext cx="4553712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É estimativa acumulada: o erro só cresce.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Boa por metros e segundos, não por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uma partida inteira sem correção.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CINEMÁTICA DIRETA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Invertendo o sistema: das rodas para o chassi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3 — 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469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3A6C4"/>
                </a:solidFill>
                <a:latin typeface="Segoe UI"/>
              </a:rPr>
              <a:t>Partimos das três equações das rodas — agora em METROS percorridos — e isolamos o movimento do chassi: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77440"/>
            <a:ext cx="5074920" cy="132588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l">
              <a:lnSpc>
                <a:spcPct val="132000"/>
              </a:lnSpc>
            </a:pPr>
            <a:r>
              <a:rPr sz="1550">
                <a:solidFill>
                  <a:srgbClr val="93A6C4"/>
                </a:solidFill>
                <a:latin typeface="Consolas"/>
              </a:rPr>
              <a:t>d1 = −dx            + R·dθ</a:t>
            </a:r>
          </a:p>
          <a:p>
            <a:pPr algn="l">
              <a:lnSpc>
                <a:spcPct val="132000"/>
              </a:lnSpc>
            </a:pPr>
            <a:r>
              <a:rPr sz="1550">
                <a:solidFill>
                  <a:srgbClr val="93A6C4"/>
                </a:solidFill>
                <a:latin typeface="Consolas"/>
              </a:rPr>
              <a:t>d2 = 0.5dx + k·dy   + R·dθ</a:t>
            </a:r>
          </a:p>
          <a:p>
            <a:pPr algn="l">
              <a:lnSpc>
                <a:spcPct val="132000"/>
              </a:lnSpc>
            </a:pPr>
            <a:r>
              <a:rPr sz="1550">
                <a:solidFill>
                  <a:srgbClr val="93A6C4"/>
                </a:solidFill>
                <a:latin typeface="Consolas"/>
              </a:rPr>
              <a:t>d3 = 0.5dx − k·dy   + R·dθ</a:t>
            </a:r>
          </a:p>
          <a:p>
            <a:pPr algn="l">
              <a:lnSpc>
                <a:spcPct val="132000"/>
              </a:lnSpc>
            </a:pPr>
            <a:r>
              <a:rPr sz="1550">
                <a:solidFill>
                  <a:srgbClr val="93A6C4"/>
                </a:solidFill>
                <a:latin typeface="Consolas"/>
              </a:rPr>
              <a:t>           k = √3/2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144768" y="2926080"/>
            <a:ext cx="457200" cy="274320"/>
          </a:xfrm>
          <a:prstGeom prst="rightArrow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12280" y="2377440"/>
            <a:ext cx="4526280" cy="132588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l">
              <a:lnSpc>
                <a:spcPct val="132000"/>
              </a:lnSpc>
            </a:pPr>
            <a:r>
              <a:rPr sz="1550">
                <a:solidFill>
                  <a:srgbClr val="FFFFFF"/>
                </a:solidFill>
                <a:latin typeface="Consolas"/>
              </a:rPr>
              <a:t>arco = (d1 + d2 + d3) / 3</a:t>
            </a:r>
          </a:p>
          <a:p>
            <a:pPr algn="l">
              <a:lnSpc>
                <a:spcPct val="132000"/>
              </a:lnSpc>
            </a:pPr>
            <a:r>
              <a:rPr sz="1550">
                <a:solidFill>
                  <a:srgbClr val="FFFFFF"/>
                </a:solidFill>
                <a:latin typeface="Consolas"/>
              </a:rPr>
              <a:t>dx   = arco − d1</a:t>
            </a:r>
          </a:p>
          <a:p>
            <a:pPr algn="l">
              <a:lnSpc>
                <a:spcPct val="132000"/>
              </a:lnSpc>
            </a:pPr>
            <a:r>
              <a:rPr sz="1550">
                <a:solidFill>
                  <a:srgbClr val="FFFFFF"/>
                </a:solidFill>
                <a:latin typeface="Consolas"/>
              </a:rPr>
              <a:t>dy   = (d2 − d3) / √3</a:t>
            </a:r>
          </a:p>
          <a:p>
            <a:pPr algn="l">
              <a:lnSpc>
                <a:spcPct val="132000"/>
              </a:lnSpc>
            </a:pPr>
            <a:r>
              <a:rPr sz="1550">
                <a:solidFill>
                  <a:srgbClr val="FFFFFF"/>
                </a:solidFill>
                <a:latin typeface="Consolas"/>
              </a:rPr>
              <a:t>dθ   = arco / 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767328"/>
            <a:ext cx="10469880" cy="65836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395935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2184" y="3858768"/>
            <a:ext cx="964691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A mágica: somando as três equações, dx e dy se cancelam (−1+0.5+0.5 = 0 e +k−k = 0) e sobra d1+d2+d3 = 3·R·dθ. Esse é o arco comum de rotação. O resto sai por substituição.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617720"/>
            <a:ext cx="7589520" cy="169164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937">
                <a:solidFill>
                  <a:srgbClr val="A78BFA"/>
                </a:solidFill>
                <a:latin typeface="Consolas"/>
              </a:rPr>
              <a:t>public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A78BFA"/>
                </a:solidFill>
                <a:latin typeface="Consolas"/>
              </a:rPr>
              <a:t>static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A78BFA"/>
                </a:solidFill>
                <a:latin typeface="Consolas"/>
              </a:rPr>
              <a:t>double</a:t>
            </a:r>
            <a:r>
              <a:rPr sz="937">
                <a:solidFill>
                  <a:srgbClr val="E6EDF8"/>
                </a:solidFill>
                <a:latin typeface="Consolas"/>
              </a:rPr>
              <a:t>[] forwardKinematics(</a:t>
            </a:r>
            <a:r>
              <a:rPr sz="937">
                <a:solidFill>
                  <a:srgbClr val="A78BFA"/>
                </a:solidFill>
                <a:latin typeface="Consolas"/>
              </a:rPr>
              <a:t>double</a:t>
            </a:r>
            <a:r>
              <a:rPr sz="937">
                <a:solidFill>
                  <a:srgbClr val="E6EDF8"/>
                </a:solidFill>
                <a:latin typeface="Consolas"/>
              </a:rPr>
              <a:t> d1, </a:t>
            </a:r>
            <a:r>
              <a:rPr sz="937">
                <a:solidFill>
                  <a:srgbClr val="A78BFA"/>
                </a:solidFill>
                <a:latin typeface="Consolas"/>
              </a:rPr>
              <a:t>double</a:t>
            </a:r>
            <a:r>
              <a:rPr sz="937">
                <a:solidFill>
                  <a:srgbClr val="E6EDF8"/>
                </a:solidFill>
                <a:latin typeface="Consolas"/>
              </a:rPr>
              <a:t> d2, </a:t>
            </a:r>
            <a:r>
              <a:rPr sz="937">
                <a:solidFill>
                  <a:srgbClr val="A78BFA"/>
                </a:solidFill>
                <a:latin typeface="Consolas"/>
              </a:rPr>
              <a:t>double</a:t>
            </a:r>
            <a:r>
              <a:rPr sz="937">
                <a:solidFill>
                  <a:srgbClr val="E6EDF8"/>
                </a:solidFill>
                <a:latin typeface="Consolas"/>
              </a:rPr>
              <a:t> d3) {</a:t>
            </a:r>
          </a:p>
          <a:p>
            <a:pPr algn="l">
              <a:lnSpc>
                <a:spcPct val="120000"/>
              </a:lnSpc>
            </a:pPr>
            <a:r>
              <a:rPr sz="937">
                <a:solidFill>
                  <a:srgbClr val="E6EDF8"/>
                </a:solidFill>
                <a:latin typeface="Consolas"/>
              </a:rPr>
              <a:t>  </a:t>
            </a:r>
            <a:r>
              <a:rPr sz="937" i="1">
                <a:solidFill>
                  <a:srgbClr val="6B82A6"/>
                </a:solidFill>
                <a:latin typeface="Consolas"/>
              </a:rPr>
              <a:t>// Componente comum as tres rodas: o arco percorrido na rotacao pura</a:t>
            </a:r>
          </a:p>
          <a:p>
            <a:pPr algn="l">
              <a:lnSpc>
                <a:spcPct val="120000"/>
              </a:lnSpc>
            </a:pPr>
            <a:r>
              <a:rPr sz="937">
                <a:solidFill>
                  <a:srgbClr val="E6EDF8"/>
                </a:solidFill>
                <a:latin typeface="Consolas"/>
              </a:rPr>
              <a:t>  </a:t>
            </a:r>
            <a:r>
              <a:rPr sz="937">
                <a:solidFill>
                  <a:srgbClr val="A78BFA"/>
                </a:solidFill>
                <a:latin typeface="Consolas"/>
              </a:rPr>
              <a:t>double</a:t>
            </a:r>
            <a:r>
              <a:rPr sz="937">
                <a:solidFill>
                  <a:srgbClr val="E6EDF8"/>
                </a:solidFill>
                <a:latin typeface="Consolas"/>
              </a:rPr>
              <a:t> rotationArc = (d1 + d2 + d3) / </a:t>
            </a:r>
            <a:r>
              <a:rPr sz="937">
                <a:solidFill>
                  <a:srgbClr val="F472B6"/>
                </a:solidFill>
                <a:latin typeface="Consolas"/>
              </a:rPr>
              <a:t>3.0</a:t>
            </a:r>
            <a:r>
              <a:rPr sz="937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37">
                <a:solidFill>
                  <a:srgbClr val="E6EDF8"/>
                </a:solidFill>
                <a:latin typeface="Consolas"/>
              </a:rPr>
              <a:t>  </a:t>
            </a:r>
            <a:r>
              <a:rPr sz="937">
                <a:solidFill>
                  <a:srgbClr val="A78BFA"/>
                </a:solidFill>
                <a:latin typeface="Consolas"/>
              </a:rPr>
              <a:t>double</a:t>
            </a:r>
            <a:r>
              <a:rPr sz="937">
                <a:solidFill>
                  <a:srgbClr val="E6EDF8"/>
                </a:solidFill>
                <a:latin typeface="Consolas"/>
              </a:rPr>
              <a:t> dx     = rotationArc - d1;</a:t>
            </a:r>
          </a:p>
          <a:p>
            <a:pPr algn="l">
              <a:lnSpc>
                <a:spcPct val="120000"/>
              </a:lnSpc>
            </a:pPr>
            <a:r>
              <a:rPr sz="937">
                <a:solidFill>
                  <a:srgbClr val="E6EDF8"/>
                </a:solidFill>
                <a:latin typeface="Consolas"/>
              </a:rPr>
              <a:t>  </a:t>
            </a:r>
            <a:r>
              <a:rPr sz="937">
                <a:solidFill>
                  <a:srgbClr val="A78BFA"/>
                </a:solidFill>
                <a:latin typeface="Consolas"/>
              </a:rPr>
              <a:t>double</a:t>
            </a:r>
            <a:r>
              <a:rPr sz="937">
                <a:solidFill>
                  <a:srgbClr val="E6EDF8"/>
                </a:solidFill>
                <a:latin typeface="Consolas"/>
              </a:rPr>
              <a:t> dy     = (d2 - d3) / </a:t>
            </a:r>
            <a:r>
              <a:rPr sz="937">
                <a:solidFill>
                  <a:srgbClr val="34D399"/>
                </a:solidFill>
                <a:latin typeface="Consolas"/>
              </a:rPr>
              <a:t>Math</a:t>
            </a:r>
            <a:r>
              <a:rPr sz="937">
                <a:solidFill>
                  <a:srgbClr val="E6EDF8"/>
                </a:solidFill>
                <a:latin typeface="Consolas"/>
              </a:rPr>
              <a:t>.sqrt(</a:t>
            </a:r>
            <a:r>
              <a:rPr sz="937">
                <a:solidFill>
                  <a:srgbClr val="F472B6"/>
                </a:solidFill>
                <a:latin typeface="Consolas"/>
              </a:rPr>
              <a:t>3.0</a:t>
            </a:r>
            <a:r>
              <a:rPr sz="937">
                <a:solidFill>
                  <a:srgbClr val="E6EDF8"/>
                </a:solidFill>
                <a:latin typeface="Consolas"/>
              </a:rPr>
              <a:t>);</a:t>
            </a:r>
          </a:p>
          <a:p>
            <a:pPr algn="l">
              <a:lnSpc>
                <a:spcPct val="120000"/>
              </a:lnSpc>
            </a:pPr>
            <a:r>
              <a:rPr sz="937">
                <a:solidFill>
                  <a:srgbClr val="E6EDF8"/>
                </a:solidFill>
                <a:latin typeface="Consolas"/>
              </a:rPr>
              <a:t>  </a:t>
            </a:r>
            <a:r>
              <a:rPr sz="937">
                <a:solidFill>
                  <a:srgbClr val="A78BFA"/>
                </a:solidFill>
                <a:latin typeface="Consolas"/>
              </a:rPr>
              <a:t>double</a:t>
            </a:r>
            <a:r>
              <a:rPr sz="937">
                <a:solidFill>
                  <a:srgbClr val="E6EDF8"/>
                </a:solidFill>
                <a:latin typeface="Consolas"/>
              </a:rPr>
              <a:t> dTheta = rotationArc / </a:t>
            </a:r>
            <a:r>
              <a:rPr sz="937">
                <a:solidFill>
                  <a:srgbClr val="34D399"/>
                </a:solidFill>
                <a:latin typeface="Consolas"/>
              </a:rPr>
              <a:t>DriveConstants</a:t>
            </a:r>
            <a:r>
              <a:rPr sz="937">
                <a:solidFill>
                  <a:srgbClr val="E6EDF8"/>
                </a:solidFill>
                <a:latin typeface="Consolas"/>
              </a:rPr>
              <a:t>.kRobotRadiusMeters;</a:t>
            </a:r>
          </a:p>
          <a:p>
            <a:pPr algn="l">
              <a:lnSpc>
                <a:spcPct val="120000"/>
              </a:lnSpc>
            </a:pPr>
            <a:r>
              <a:rPr sz="937">
                <a:solidFill>
                  <a:srgbClr val="E6EDF8"/>
                </a:solidFill>
                <a:latin typeface="Consolas"/>
              </a:rPr>
              <a:t>  </a:t>
            </a:r>
            <a:r>
              <a:rPr sz="937">
                <a:solidFill>
                  <a:srgbClr val="A78BFA"/>
                </a:solidFill>
                <a:latin typeface="Consolas"/>
              </a:rPr>
              <a:t>return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A78BFA"/>
                </a:solidFill>
                <a:latin typeface="Consolas"/>
              </a:rPr>
              <a:t>new</a:t>
            </a:r>
            <a:r>
              <a:rPr sz="937">
                <a:solidFill>
                  <a:srgbClr val="E6EDF8"/>
                </a:solidFill>
                <a:latin typeface="Consolas"/>
              </a:rPr>
              <a:t> </a:t>
            </a:r>
            <a:r>
              <a:rPr sz="937">
                <a:solidFill>
                  <a:srgbClr val="A78BFA"/>
                </a:solidFill>
                <a:latin typeface="Consolas"/>
              </a:rPr>
              <a:t>double</a:t>
            </a:r>
            <a:r>
              <a:rPr sz="937">
                <a:solidFill>
                  <a:srgbClr val="E6EDF8"/>
                </a:solidFill>
                <a:latin typeface="Consolas"/>
              </a:rPr>
              <a:t>[] { dx, dy, dTheta };</a:t>
            </a:r>
          </a:p>
          <a:p>
            <a:pPr algn="l">
              <a:lnSpc>
                <a:spcPct val="120000"/>
              </a:lnSpc>
            </a:pPr>
            <a:r>
              <a:rPr sz="937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3271" y="4462272"/>
            <a:ext cx="2399385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Odometry.forwardKinematics()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47091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720"/>
              </a:spcAft>
            </a:pPr>
            <a:r>
              <a:rPr sz="1150">
                <a:solidFill>
                  <a:srgbClr val="38D9F0"/>
                </a:solidFill>
                <a:latin typeface="Segoe UI"/>
              </a:rPr>
              <a:t>▸  </a:t>
            </a:r>
            <a:r>
              <a:rPr sz="1150">
                <a:solidFill>
                  <a:srgbClr val="E6EDF8"/>
                </a:solidFill>
                <a:latin typeface="Segoe UI"/>
              </a:rPr>
              <a:t>static: sem hardware, sem estado</a:t>
            </a:r>
          </a:p>
          <a:p>
            <a:pPr>
              <a:lnSpc>
                <a:spcPct val="118000"/>
              </a:lnSpc>
              <a:spcAft>
                <a:spcPts val="720"/>
              </a:spcAft>
            </a:pPr>
            <a:r>
              <a:rPr sz="1150">
                <a:solidFill>
                  <a:srgbClr val="38D9F0"/>
                </a:solidFill>
                <a:latin typeface="Segoe UI"/>
              </a:rPr>
              <a:t>▸  </a:t>
            </a:r>
            <a:r>
              <a:rPr sz="1150">
                <a:solidFill>
                  <a:srgbClr val="E6EDF8"/>
                </a:solidFill>
                <a:latin typeface="Segoe UI"/>
              </a:rPr>
              <a:t>Vale para metros ou m/s</a:t>
            </a:r>
          </a:p>
          <a:p>
            <a:pPr>
              <a:lnSpc>
                <a:spcPct val="118000"/>
              </a:lnSpc>
              <a:spcAft>
                <a:spcPts val="720"/>
              </a:spcAft>
            </a:pPr>
            <a:r>
              <a:rPr sz="1150">
                <a:solidFill>
                  <a:srgbClr val="38D9F0"/>
                </a:solidFill>
                <a:latin typeface="Segoe UI"/>
              </a:rPr>
              <a:t>▸  </a:t>
            </a:r>
            <a:r>
              <a:rPr sz="1150">
                <a:solidFill>
                  <a:srgbClr val="E6EDF8"/>
                </a:solidFill>
                <a:latin typeface="Segoe UI"/>
              </a:rPr>
              <a:t>Testável no PC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DO TICK AO METRO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A régua do robô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3 — 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10469880" cy="123444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>
              <a:lnSpc>
                <a:spcPct val="132000"/>
              </a:lnSpc>
            </a:pPr>
            <a:r>
              <a:rPr sz="1900">
                <a:solidFill>
                  <a:srgbClr val="FFFFFF"/>
                </a:solidFill>
                <a:latin typeface="Consolas"/>
              </a:rPr>
              <a:t>metros por tick  =  (π · diâmetro da roda) / ticks por volta</a:t>
            </a:r>
          </a:p>
          <a:p>
            <a:pPr algn="ctr">
              <a:lnSpc>
                <a:spcPct val="132000"/>
              </a:lnSpc>
            </a:pPr>
            <a:r>
              <a:rPr sz="1900">
                <a:solidFill>
                  <a:srgbClr val="FFFFFF"/>
                </a:solidFill>
                <a:latin typeface="Consolas"/>
              </a:rPr>
              <a:t>               =  (π · 0.100) / 1464  ≈  0.0002146 m  ≈  0.21 mm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566160"/>
            <a:ext cx="6492240" cy="169164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1177">
                <a:solidFill>
                  <a:srgbClr val="A78BFA"/>
                </a:solidFill>
                <a:latin typeface="Consolas"/>
              </a:rPr>
              <a:t>public</a:t>
            </a:r>
            <a:r>
              <a:rPr sz="1177">
                <a:solidFill>
                  <a:srgbClr val="E6EDF8"/>
                </a:solidFill>
                <a:latin typeface="Consolas"/>
              </a:rPr>
              <a:t> </a:t>
            </a:r>
            <a:r>
              <a:rPr sz="1177">
                <a:solidFill>
                  <a:srgbClr val="A78BFA"/>
                </a:solidFill>
                <a:latin typeface="Consolas"/>
              </a:rPr>
              <a:t>static</a:t>
            </a:r>
            <a:r>
              <a:rPr sz="1177">
                <a:solidFill>
                  <a:srgbClr val="E6EDF8"/>
                </a:solidFill>
                <a:latin typeface="Consolas"/>
              </a:rPr>
              <a:t> </a:t>
            </a:r>
            <a:r>
              <a:rPr sz="1177">
                <a:solidFill>
                  <a:srgbClr val="A78BFA"/>
                </a:solidFill>
                <a:latin typeface="Consolas"/>
              </a:rPr>
              <a:t>final</a:t>
            </a:r>
            <a:r>
              <a:rPr sz="1177">
                <a:solidFill>
                  <a:srgbClr val="E6EDF8"/>
                </a:solidFill>
                <a:latin typeface="Consolas"/>
              </a:rPr>
              <a:t> </a:t>
            </a:r>
            <a:r>
              <a:rPr sz="1177">
                <a:solidFill>
                  <a:srgbClr val="A78BFA"/>
                </a:solidFill>
                <a:latin typeface="Consolas"/>
              </a:rPr>
              <a:t>double</a:t>
            </a:r>
            <a:r>
              <a:rPr sz="1177">
                <a:solidFill>
                  <a:srgbClr val="E6EDF8"/>
                </a:solidFill>
                <a:latin typeface="Consolas"/>
              </a:rPr>
              <a:t> kEncoderDistancePerTick =</a:t>
            </a:r>
          </a:p>
          <a:p>
            <a:pPr algn="l">
              <a:lnSpc>
                <a:spcPct val="120000"/>
              </a:lnSpc>
            </a:pPr>
            <a:r>
              <a:rPr sz="1177">
                <a:solidFill>
                  <a:srgbClr val="E6EDF8"/>
                </a:solidFill>
                <a:latin typeface="Consolas"/>
              </a:rPr>
              <a:t>    (</a:t>
            </a:r>
            <a:r>
              <a:rPr sz="1177">
                <a:solidFill>
                  <a:srgbClr val="34D399"/>
                </a:solidFill>
                <a:latin typeface="Consolas"/>
              </a:rPr>
              <a:t>Math</a:t>
            </a:r>
            <a:r>
              <a:rPr sz="1177">
                <a:solidFill>
                  <a:srgbClr val="E6EDF8"/>
                </a:solidFill>
                <a:latin typeface="Consolas"/>
              </a:rPr>
              <a:t>.</a:t>
            </a:r>
            <a:r>
              <a:rPr sz="1177">
                <a:solidFill>
                  <a:srgbClr val="34D399"/>
                </a:solidFill>
                <a:latin typeface="Consolas"/>
              </a:rPr>
              <a:t>PI</a:t>
            </a:r>
            <a:r>
              <a:rPr sz="1177">
                <a:solidFill>
                  <a:srgbClr val="E6EDF8"/>
                </a:solidFill>
                <a:latin typeface="Consolas"/>
              </a:rPr>
              <a:t> * kWheelDiameterMeters) / kEncoderTicksPerRevolution;</a:t>
            </a:r>
          </a:p>
          <a:p>
            <a:pPr algn="l">
              <a:lnSpc>
                <a:spcPct val="120000"/>
              </a:lnSpc>
            </a:pPr>
            <a:endParaRPr sz="1177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1177" i="1">
                <a:solidFill>
                  <a:srgbClr val="6B82A6"/>
                </a:solidFill>
                <a:latin typeface="Consolas"/>
              </a:rPr>
              <a:t>// O Titan já devolve METROS porque recebeu o fator na criacao do encoder:</a:t>
            </a:r>
          </a:p>
          <a:p>
            <a:pPr algn="l">
              <a:lnSpc>
                <a:spcPct val="120000"/>
              </a:lnSpc>
            </a:pPr>
            <a:r>
              <a:rPr sz="1177">
                <a:solidFill>
                  <a:srgbClr val="E6EDF8"/>
                </a:solidFill>
                <a:latin typeface="Consolas"/>
              </a:rPr>
              <a:t>encoder1 = titan0.getEncoder(</a:t>
            </a:r>
            <a:r>
              <a:rPr sz="1177">
                <a:solidFill>
                  <a:srgbClr val="34D399"/>
                </a:solidFill>
                <a:latin typeface="Consolas"/>
              </a:rPr>
              <a:t>DriveConstants</a:t>
            </a:r>
            <a:r>
              <a:rPr sz="1177">
                <a:solidFill>
                  <a:srgbClr val="E6EDF8"/>
                </a:solidFill>
                <a:latin typeface="Consolas"/>
              </a:rPr>
              <a:t>.kEncoder1Channel,</a:t>
            </a:r>
          </a:p>
          <a:p>
            <a:pPr algn="l">
              <a:lnSpc>
                <a:spcPct val="120000"/>
              </a:lnSpc>
            </a:pPr>
            <a:r>
              <a:rPr sz="1177">
                <a:solidFill>
                  <a:srgbClr val="E6EDF8"/>
                </a:solidFill>
                <a:latin typeface="Consolas"/>
              </a:rPr>
              <a:t>                             </a:t>
            </a:r>
            <a:r>
              <a:rPr sz="1177">
                <a:solidFill>
                  <a:srgbClr val="34D399"/>
                </a:solidFill>
                <a:latin typeface="Consolas"/>
              </a:rPr>
              <a:t>DriveConstants</a:t>
            </a:r>
            <a:r>
              <a:rPr sz="1177">
                <a:solidFill>
                  <a:srgbClr val="E6EDF8"/>
                </a:solidFill>
                <a:latin typeface="Consolas"/>
              </a:rPr>
              <a:t>.kEncoderDistancePerTick);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3271" y="3410712"/>
            <a:ext cx="2551176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Constants + OmnidriveSubsystem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611880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Resolução de 0,21 mm </a:t>
            </a:r>
            <a:r>
              <a:rPr sz="1250">
                <a:solidFill>
                  <a:srgbClr val="E6EDF8"/>
                </a:solidFill>
                <a:latin typeface="Segoe UI"/>
              </a:rPr>
              <a:t>é ótima — o gargalo é o escorregamento, não o encoder.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Erro proporcional: </a:t>
            </a:r>
            <a:r>
              <a:rPr sz="1250">
                <a:solidFill>
                  <a:srgbClr val="E6EDF8"/>
                </a:solidFill>
                <a:latin typeface="Segoe UI"/>
              </a:rPr>
              <a:t>diâmetro 5% errado → toda distância 5% errada.</a:t>
            </a:r>
          </a:p>
          <a:p>
            <a:pPr>
              <a:lnSpc>
                <a:spcPct val="118000"/>
              </a:lnSpc>
              <a:spcAft>
                <a:spcPts val="1152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Meça o diâmetro </a:t>
            </a:r>
            <a:r>
              <a:rPr sz="1250">
                <a:solidFill>
                  <a:srgbClr val="E6EDF8"/>
                </a:solidFill>
                <a:latin typeface="Segoe UI"/>
              </a:rPr>
              <a:t>com o robô no chão, com a roda achatada pelo peso.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559552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579729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2184" y="5650992"/>
            <a:ext cx="964691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Calibração prática: marque 2,00 m no tapete, mande o robô andar 2,00 m e meça o real. Se andou 1,90 m, multiplique kWheelDiameterMeters por 2,00/1,90.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Θ DAS RODAS × Θ DA IMU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A decisão de projeto mais importante da odometria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3 — 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57400"/>
            <a:ext cx="5074920" cy="233172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2185416"/>
            <a:ext cx="50292" cy="2075687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459943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72B6"/>
                </a:solidFill>
                <a:latin typeface="Segoe UI"/>
              </a:rPr>
              <a:t>θ estimado pelas rodas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87752"/>
            <a:ext cx="4599431" cy="16733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dθ = arco / R, com arco = (d1+d2+d3)/3.</a:t>
            </a:r>
          </a:p>
          <a:p>
            <a:pPr algn="l">
              <a:lnSpc>
                <a:spcPct val="120000"/>
              </a:lnSpc>
            </a:pPr>
            <a:endParaRPr sz="1250" b="0" i="0">
              <a:solidFill>
                <a:srgbClr val="E6EDF8"/>
              </a:solidFill>
              <a:latin typeface="Segoe UI"/>
            </a:endParaRP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Funciona na teoria. Na prática: rolos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passivos escorregam, R nunca é exato e o erro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de ângulo é INTEGRADO — ele contamina x e y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em todos os ciclos seguintes.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057400"/>
            <a:ext cx="5074920" cy="2331720"/>
          </a:xfrm>
          <a:prstGeom prst="roundRect">
            <a:avLst>
              <a:gd name="adj" fmla="val 8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2185416"/>
            <a:ext cx="50292" cy="2075687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59" y="2240280"/>
            <a:ext cx="4599431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Segoe UI"/>
              </a:rPr>
              <a:t>θ medido pela IMU (navX)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587752"/>
            <a:ext cx="4599431" cy="16733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Giroscópio integrado, independente de contato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com o chão.</a:t>
            </a:r>
          </a:p>
          <a:p>
            <a:pPr algn="l">
              <a:lnSpc>
                <a:spcPct val="120000"/>
              </a:lnSpc>
            </a:pPr>
            <a:endParaRPr sz="1250" b="0" i="0">
              <a:solidFill>
                <a:srgbClr val="E6EDF8"/>
              </a:solidFill>
              <a:latin typeface="Segoe UI"/>
            </a:endParaRP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Deriva lenta (graus por minuto), sem acoplamento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com escorregamento. É de longe a melhor fonte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de rumo numa base omni.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663440"/>
            <a:ext cx="10469880" cy="86868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>
              <a:lnSpc>
                <a:spcPct val="132000"/>
              </a:lnSpc>
            </a:pPr>
            <a:r>
              <a:rPr sz="2100">
                <a:solidFill>
                  <a:srgbClr val="FBBF24"/>
                </a:solidFill>
                <a:latin typeface="Consolas"/>
              </a:rPr>
              <a:t>Decisão:  dx, dy  vêm das RODAS   ·   θ  vem da IMU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15000"/>
            <a:ext cx="10469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720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forwardKinematics ainda devolve dθ </a:t>
            </a:r>
            <a:r>
              <a:rPr sz="1350">
                <a:solidFill>
                  <a:srgbClr val="E6EDF8"/>
                </a:solidFill>
                <a:latin typeface="Segoe UI"/>
              </a:rPr>
              <a:t>— mas updateWithTime o ignora para a pose e usa o delta da IMU. O dθ das rodas serve só para estimar velocidade angular.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O CICLO DA ODOMETRIA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que acontece a cada 20 ms no periodic()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3 — 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743200"/>
            <a:ext cx="1801368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6EDF8"/>
                </a:solidFill>
                <a:latin typeface="Consolas"/>
              </a:rPr>
              <a:t>3 encoders</a:t>
            </a:r>
          </a:p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6EDF8"/>
                </a:solidFill>
                <a:latin typeface="Consolas"/>
              </a:rPr>
              <a:t>(metros)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24912" y="3067812"/>
            <a:ext cx="256032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035808" y="2743200"/>
            <a:ext cx="1801368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6EDF8"/>
                </a:solidFill>
                <a:latin typeface="Consolas"/>
              </a:rPr>
              <a:t>Δ do ciclo</a:t>
            </a:r>
          </a:p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6EDF8"/>
                </a:solidFill>
                <a:latin typeface="Consolas"/>
              </a:rPr>
              <a:t>d - d_anterior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92040" y="3067812"/>
            <a:ext cx="256032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202936" y="2743200"/>
            <a:ext cx="1801368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8D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6EDF8"/>
                </a:solidFill>
                <a:latin typeface="Consolas"/>
              </a:rPr>
              <a:t>forwardKinematics</a:t>
            </a:r>
          </a:p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6EDF8"/>
                </a:solidFill>
                <a:latin typeface="Consolas"/>
              </a:rPr>
              <a:t>→ dx, dy, dθ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59168" y="3067812"/>
            <a:ext cx="256032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70064" y="2743200"/>
            <a:ext cx="1801368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6EDF8"/>
                </a:solidFill>
                <a:latin typeface="Consolas"/>
              </a:rPr>
              <a:t>Twist2d</a:t>
            </a:r>
          </a:p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6EDF8"/>
                </a:solidFill>
                <a:latin typeface="Consolas"/>
              </a:rPr>
              <a:t>+ θ da IMU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226296" y="3067812"/>
            <a:ext cx="256032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537192" y="2743200"/>
            <a:ext cx="1801368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6EDF8"/>
                </a:solidFill>
                <a:latin typeface="Consolas"/>
              </a:rPr>
              <a:t>pose.exp()</a:t>
            </a:r>
          </a:p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6EDF8"/>
                </a:solidFill>
                <a:latin typeface="Consolas"/>
              </a:rPr>
              <a:t>→ Pose2d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67144" y="4251960"/>
            <a:ext cx="2011680" cy="502920"/>
          </a:xfrm>
          <a:prstGeom prst="roundRect">
            <a:avLst>
              <a:gd name="adj" fmla="val 20000"/>
            </a:avLst>
          </a:prstGeom>
          <a:solidFill>
            <a:srgbClr val="1E2E4A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FBBF24"/>
                </a:solidFill>
                <a:latin typeface="Consolas"/>
              </a:rPr>
              <a:t>navX IMU  →  θ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7872984" y="3803903"/>
            <a:ext cx="0" cy="448057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>
            <a:off x="7781544" y="3584447"/>
            <a:ext cx="182880" cy="182880"/>
          </a:xfrm>
          <a:prstGeom prst="triangl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11338560" y="2926080"/>
            <a:ext cx="274320" cy="0"/>
          </a:xfrm>
          <a:prstGeom prst="line">
            <a:avLst/>
          </a:prstGeom>
          <a:ln w="15875">
            <a:solidFill>
              <a:srgbClr val="F472B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1612880" y="2286000"/>
            <a:ext cx="0" cy="640080"/>
          </a:xfrm>
          <a:prstGeom prst="line">
            <a:avLst/>
          </a:prstGeom>
          <a:ln w="15875">
            <a:solidFill>
              <a:srgbClr val="F472B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0437876" y="2286000"/>
            <a:ext cx="1175004" cy="0"/>
          </a:xfrm>
          <a:prstGeom prst="line">
            <a:avLst/>
          </a:prstGeom>
          <a:ln w="15875">
            <a:solidFill>
              <a:srgbClr val="F472B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437876" y="2286000"/>
            <a:ext cx="0" cy="305409"/>
          </a:xfrm>
          <a:prstGeom prst="line">
            <a:avLst/>
          </a:prstGeom>
          <a:ln w="16510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10800000">
            <a:off x="10355580" y="2624328"/>
            <a:ext cx="164592" cy="164592"/>
          </a:xfrm>
          <a:prstGeom prst="triangl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11796" y="197510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F472B6"/>
                </a:solidFill>
                <a:latin typeface="Segoe UI"/>
              </a:rPr>
              <a:t>pose anterior realimentada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120640"/>
            <a:ext cx="10469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1. Delta, não absoluto: </a:t>
            </a:r>
            <a:r>
              <a:rPr sz="1400">
                <a:solidFill>
                  <a:srgbClr val="E6EDF8"/>
                </a:solidFill>
                <a:latin typeface="Segoe UI"/>
              </a:rPr>
              <a:t>a odometria guarda a leitura anterior de cada encoder e trabalha com a diferença. Assim ela nunca depende do zero do encoder.</a:t>
            </a:r>
          </a:p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2. Rumo absoluto: </a:t>
            </a:r>
            <a:r>
              <a:rPr sz="1400">
                <a:solidFill>
                  <a:srgbClr val="E6EDF8"/>
                </a:solidFill>
                <a:latin typeface="Segoe UI"/>
              </a:rPr>
              <a:t>θ = IMU + gyroOffset; dθ = θ − θ_anterior.</a:t>
            </a:r>
          </a:p>
          <a:p>
            <a:pPr>
              <a:lnSpc>
                <a:spcPct val="118000"/>
              </a:lnSpc>
              <a:spcAft>
                <a:spcPts val="1008"/>
              </a:spcAft>
            </a:pPr>
            <a:r>
              <a:rPr sz="1400">
                <a:solidFill>
                  <a:srgbClr val="38D9F0"/>
                </a:solidFill>
                <a:latin typeface="Segoe UI"/>
              </a:rPr>
              <a:t>▸  </a:t>
            </a:r>
            <a:r>
              <a:rPr sz="1400" b="1">
                <a:solidFill>
                  <a:srgbClr val="FBBF24"/>
                </a:solidFill>
                <a:latin typeface="Segoe UI"/>
              </a:rPr>
              <a:t>3. Integração: </a:t>
            </a:r>
            <a:r>
              <a:rPr sz="1400">
                <a:solidFill>
                  <a:srgbClr val="E6EDF8"/>
                </a:solidFill>
                <a:latin typeface="Segoe UI"/>
              </a:rPr>
              <a:t>a pose nova sai da pose anterior mais o deslocamento do ciclo.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POSE.EXP()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Integrar o arco, não a corda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3 — 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4663440" cy="2286000"/>
          </a:xfrm>
          <a:prstGeom prst="roundRect">
            <a:avLst>
              <a:gd name="adj" fmla="val 6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06424" y="217627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472B6"/>
                </a:solidFill>
                <a:latin typeface="Segoe UI"/>
              </a:rPr>
              <a:t>Integração em reta (errado)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" y="3767328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3A6C4"/>
                </a:solidFill>
                <a:latin typeface="Segoe UI"/>
              </a:rPr>
              <a:t>assume que o robô andou reto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3A6C4"/>
                </a:solidFill>
                <a:latin typeface="Segoe UI"/>
              </a:rPr>
              <a:t>dentro dos 20 ms</a:t>
            </a:r>
          </a:p>
        </p:txBody>
      </p:sp>
      <p:sp>
        <p:nvSpPr>
          <p:cNvPr id="11" name="Oval 10"/>
          <p:cNvSpPr/>
          <p:nvPr/>
        </p:nvSpPr>
        <p:spPr>
          <a:xfrm>
            <a:off x="1627632" y="3429000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53712" y="2660904"/>
            <a:ext cx="128016" cy="128016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34440" y="35844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93A6C4"/>
                </a:solidFill>
                <a:latin typeface="Segoe UI"/>
              </a:rPr>
              <a:t>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34086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93A6C4"/>
                </a:solidFill>
                <a:latin typeface="Segoe UI"/>
              </a:rPr>
              <a:t>t + 20 ms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691640" y="2757415"/>
            <a:ext cx="2802258" cy="735593"/>
          </a:xfrm>
          <a:prstGeom prst="line">
            <a:avLst/>
          </a:prstGeom>
          <a:ln w="25400">
            <a:solidFill>
              <a:srgbClr val="F472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4517502">
            <a:off x="4526280" y="2633472"/>
            <a:ext cx="182880" cy="182880"/>
          </a:xfrm>
          <a:prstGeom prst="triangl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989320" y="2011680"/>
            <a:ext cx="4663440" cy="2286000"/>
          </a:xfrm>
          <a:prstGeom prst="roundRect">
            <a:avLst>
              <a:gd name="adj" fmla="val 6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27064" y="217627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34D399"/>
                </a:solidFill>
                <a:latin typeface="Segoe UI"/>
              </a:rPr>
              <a:t>pose.exp() — arco (certo)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3767328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3A6C4"/>
                </a:solidFill>
                <a:latin typeface="Segoe UI"/>
              </a:rPr>
              <a:t>integra a trajetória curva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3A6C4"/>
                </a:solidFill>
                <a:latin typeface="Segoe UI"/>
              </a:rPr>
              <a:t>de verdade</a:t>
            </a:r>
          </a:p>
        </p:txBody>
      </p:sp>
      <p:sp>
        <p:nvSpPr>
          <p:cNvPr id="20" name="Oval 19"/>
          <p:cNvSpPr/>
          <p:nvPr/>
        </p:nvSpPr>
        <p:spPr>
          <a:xfrm>
            <a:off x="6748272" y="3429000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674351" y="2660904"/>
            <a:ext cx="128016" cy="12801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35844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93A6C4"/>
                </a:solidFill>
                <a:latin typeface="Segoe UI"/>
              </a:rPr>
              <a:t>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19" y="234086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93A6C4"/>
                </a:solidFill>
                <a:latin typeface="Segoe UI"/>
              </a:rPr>
              <a:t>t + 20 ms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6812280" y="3241008"/>
            <a:ext cx="292608" cy="252000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104888" y="3006156"/>
            <a:ext cx="292608" cy="234852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397496" y="2803924"/>
            <a:ext cx="292608" cy="202232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690104" y="2646589"/>
            <a:ext cx="292608" cy="157335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982712" y="2542032"/>
            <a:ext cx="292607" cy="104557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275319" y="2492969"/>
            <a:ext cx="292609" cy="49063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567928" y="2492969"/>
            <a:ext cx="292608" cy="3717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860536" y="2496686"/>
            <a:ext cx="292607" cy="48613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53143" y="2545299"/>
            <a:ext cx="292608" cy="81232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445751" y="2626531"/>
            <a:ext cx="292608" cy="98381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812280" y="2724912"/>
            <a:ext cx="2926079" cy="768096"/>
          </a:xfrm>
          <a:prstGeom prst="line">
            <a:avLst/>
          </a:prstGeom>
          <a:ln w="12700">
            <a:solidFill>
              <a:srgbClr val="5A6C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68680" y="4498848"/>
            <a:ext cx="10469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864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O problema: </a:t>
            </a:r>
            <a:r>
              <a:rPr sz="1350">
                <a:solidFill>
                  <a:srgbClr val="E6EDF8"/>
                </a:solidFill>
                <a:latin typeface="Segoe UI"/>
              </a:rPr>
              <a:t>se o robô translada E gira no mesmo ciclo, a trajetória dentro dos 20 ms é um arco. Somar o deslocamento como uma reta corta o canto.</a:t>
            </a:r>
          </a:p>
          <a:p>
            <a:pPr>
              <a:lnSpc>
                <a:spcPct val="118000"/>
              </a:lnSpc>
              <a:spcAft>
                <a:spcPts val="864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Twist2d(dx, dy, dθ) </a:t>
            </a:r>
            <a:r>
              <a:rPr sz="1350">
                <a:solidFill>
                  <a:srgbClr val="E6EDF8"/>
                </a:solidFill>
                <a:latin typeface="Segoe UI"/>
              </a:rPr>
              <a:t>descreve esse movimento no referencial do próprio robô: “ande tanto para frente, tanto para o lado, girando tanto”.</a:t>
            </a:r>
          </a:p>
          <a:p>
            <a:pPr>
              <a:lnSpc>
                <a:spcPct val="118000"/>
              </a:lnSpc>
              <a:spcAft>
                <a:spcPts val="864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pose.exp(twist) </a:t>
            </a:r>
            <a:r>
              <a:rPr sz="1350">
                <a:solidFill>
                  <a:srgbClr val="E6EDF8"/>
                </a:solidFill>
                <a:latin typeface="Segoe UI"/>
              </a:rPr>
              <a:t>aplica o mapa exponencial — integra o arco de verdade e devolve a pose nova no campo.</a:t>
            </a:r>
          </a:p>
          <a:p>
            <a:pPr>
              <a:lnSpc>
                <a:spcPct val="118000"/>
              </a:lnSpc>
              <a:spcAft>
                <a:spcPts val="864"/>
              </a:spcAft>
            </a:pPr>
            <a:r>
              <a:rPr sz="1350">
                <a:solidFill>
                  <a:srgbClr val="38D9F0"/>
                </a:solidFill>
                <a:latin typeface="Segoe UI"/>
              </a:rPr>
              <a:t>▸  </a:t>
            </a:r>
            <a:r>
              <a:rPr sz="1350" b="1">
                <a:solidFill>
                  <a:srgbClr val="FBBF24"/>
                </a:solidFill>
                <a:latin typeface="Segoe UI"/>
              </a:rPr>
              <a:t>Quando dθ ≈ 0, </a:t>
            </a:r>
            <a:r>
              <a:rPr sz="1350">
                <a:solidFill>
                  <a:srgbClr val="E6EDF8"/>
                </a:solidFill>
                <a:latin typeface="Segoe UI"/>
              </a:rPr>
              <a:t>exp() cai na soma simples. Você não paga nada em linha reta e ganha precisão nas curvas.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ODOMETRY.UPDATEWITHTIME()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coração, linha por linha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3 — 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7772400" cy="425196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930">
                <a:solidFill>
                  <a:srgbClr val="A78BFA"/>
                </a:solidFill>
                <a:latin typeface="Consolas"/>
              </a:rPr>
              <a:t>public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34D399"/>
                </a:solidFill>
                <a:latin typeface="Consolas"/>
              </a:rPr>
              <a:t>Pose2d</a:t>
            </a:r>
            <a:r>
              <a:rPr sz="930">
                <a:solidFill>
                  <a:srgbClr val="E6EDF8"/>
                </a:solidFill>
                <a:latin typeface="Consolas"/>
              </a:rPr>
              <a:t> updateWithTime(</a:t>
            </a:r>
            <a:r>
              <a:rPr sz="930">
                <a:solidFill>
                  <a:srgbClr val="A78BFA"/>
                </a:solidFill>
                <a:latin typeface="Consolas"/>
              </a:rPr>
              <a:t>double</a:t>
            </a:r>
            <a:r>
              <a:rPr sz="930">
                <a:solidFill>
                  <a:srgbClr val="E6EDF8"/>
                </a:solidFill>
                <a:latin typeface="Consolas"/>
              </a:rPr>
              <a:t> now, </a:t>
            </a:r>
            <a:r>
              <a:rPr sz="930">
                <a:solidFill>
                  <a:srgbClr val="34D399"/>
                </a:solidFill>
                <a:latin typeface="Consolas"/>
              </a:rPr>
              <a:t>Rotation2d</a:t>
            </a:r>
            <a:r>
              <a:rPr sz="930">
                <a:solidFill>
                  <a:srgbClr val="E6EDF8"/>
                </a:solidFill>
                <a:latin typeface="Consolas"/>
              </a:rPr>
              <a:t> gyroAngle,</a:t>
            </a: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                           </a:t>
            </a:r>
            <a:r>
              <a:rPr sz="930">
                <a:solidFill>
                  <a:srgbClr val="A78BFA"/>
                </a:solidFill>
                <a:latin typeface="Consolas"/>
              </a:rPr>
              <a:t>double</a:t>
            </a:r>
            <a:r>
              <a:rPr sz="930">
                <a:solidFill>
                  <a:srgbClr val="E6EDF8"/>
                </a:solidFill>
                <a:latin typeface="Consolas"/>
              </a:rPr>
              <a:t> distance1, </a:t>
            </a:r>
            <a:r>
              <a:rPr sz="930">
                <a:solidFill>
                  <a:srgbClr val="A78BFA"/>
                </a:solidFill>
                <a:latin typeface="Consolas"/>
              </a:rPr>
              <a:t>double</a:t>
            </a:r>
            <a:r>
              <a:rPr sz="930">
                <a:solidFill>
                  <a:srgbClr val="E6EDF8"/>
                </a:solidFill>
                <a:latin typeface="Consolas"/>
              </a:rPr>
              <a:t> distance2, </a:t>
            </a:r>
            <a:r>
              <a:rPr sz="930">
                <a:solidFill>
                  <a:srgbClr val="A78BFA"/>
                </a:solidFill>
                <a:latin typeface="Consolas"/>
              </a:rPr>
              <a:t>double</a:t>
            </a:r>
            <a:r>
              <a:rPr sz="930">
                <a:solidFill>
                  <a:srgbClr val="E6EDF8"/>
                </a:solidFill>
                <a:latin typeface="Consolas"/>
              </a:rPr>
              <a:t> distance3) {</a:t>
            </a: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</a:t>
            </a:r>
            <a:r>
              <a:rPr sz="930">
                <a:solidFill>
                  <a:srgbClr val="A78BFA"/>
                </a:solidFill>
                <a:latin typeface="Consolas"/>
              </a:rPr>
              <a:t>double</a:t>
            </a:r>
            <a:r>
              <a:rPr sz="930">
                <a:solidFill>
                  <a:srgbClr val="E6EDF8"/>
                </a:solidFill>
                <a:latin typeface="Consolas"/>
              </a:rPr>
              <a:t> delta1 = distance1 - lastDistance1;      </a:t>
            </a:r>
            <a:r>
              <a:rPr sz="930" i="1">
                <a:solidFill>
                  <a:srgbClr val="6B82A6"/>
                </a:solidFill>
                <a:latin typeface="Consolas"/>
              </a:rPr>
              <a:t>// 1. delta de cada roda</a:t>
            </a: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</a:t>
            </a:r>
            <a:r>
              <a:rPr sz="930">
                <a:solidFill>
                  <a:srgbClr val="A78BFA"/>
                </a:solidFill>
                <a:latin typeface="Consolas"/>
              </a:rPr>
              <a:t>double</a:t>
            </a:r>
            <a:r>
              <a:rPr sz="930">
                <a:solidFill>
                  <a:srgbClr val="E6EDF8"/>
                </a:solidFill>
                <a:latin typeface="Consolas"/>
              </a:rPr>
              <a:t> delta2 = distance2 - lastDistance2;</a:t>
            </a: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</a:t>
            </a:r>
            <a:r>
              <a:rPr sz="930">
                <a:solidFill>
                  <a:srgbClr val="A78BFA"/>
                </a:solidFill>
                <a:latin typeface="Consolas"/>
              </a:rPr>
              <a:t>double</a:t>
            </a:r>
            <a:r>
              <a:rPr sz="930">
                <a:solidFill>
                  <a:srgbClr val="E6EDF8"/>
                </a:solidFill>
                <a:latin typeface="Consolas"/>
              </a:rPr>
              <a:t> delta3 = distance3 - lastDistance3;</a:t>
            </a: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lastDistance1 = distance1;                      </a:t>
            </a:r>
            <a:r>
              <a:rPr sz="930" i="1">
                <a:solidFill>
                  <a:srgbClr val="6B82A6"/>
                </a:solidFill>
                <a:latin typeface="Consolas"/>
              </a:rPr>
              <a:t>// 2. memoriza p/ o proximo ciclo</a:t>
            </a: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lastDistance2 = distance2;</a:t>
            </a: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lastDistance3 = distance3;</a:t>
            </a:r>
          </a:p>
          <a:p>
            <a:pPr algn="l">
              <a:lnSpc>
                <a:spcPct val="120000"/>
              </a:lnSpc>
            </a:pPr>
            <a:endParaRPr sz="930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</a:t>
            </a:r>
            <a:r>
              <a:rPr sz="930">
                <a:solidFill>
                  <a:srgbClr val="A78BFA"/>
                </a:solidFill>
                <a:latin typeface="Consolas"/>
              </a:rPr>
              <a:t>double</a:t>
            </a:r>
            <a:r>
              <a:rPr sz="930">
                <a:solidFill>
                  <a:srgbClr val="E6EDF8"/>
                </a:solidFill>
                <a:latin typeface="Consolas"/>
              </a:rPr>
              <a:t>[] robotDelta = forwardKinematics(delta1, delta2, delta3);  </a:t>
            </a:r>
            <a:r>
              <a:rPr sz="930" i="1">
                <a:solidFill>
                  <a:srgbClr val="6B82A6"/>
                </a:solidFill>
                <a:latin typeface="Consolas"/>
              </a:rPr>
              <a:t>// 3. rodas -&gt; chassi</a:t>
            </a:r>
          </a:p>
          <a:p>
            <a:pPr algn="l">
              <a:lnSpc>
                <a:spcPct val="120000"/>
              </a:lnSpc>
            </a:pPr>
            <a:endParaRPr sz="930" i="1">
              <a:solidFill>
                <a:srgbClr val="6B82A6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</a:t>
            </a:r>
            <a:r>
              <a:rPr sz="930">
                <a:solidFill>
                  <a:srgbClr val="34D399"/>
                </a:solidFill>
                <a:latin typeface="Consolas"/>
              </a:rPr>
              <a:t>Rotation2d</a:t>
            </a:r>
            <a:r>
              <a:rPr sz="930">
                <a:solidFill>
                  <a:srgbClr val="E6EDF8"/>
                </a:solidFill>
                <a:latin typeface="Consolas"/>
              </a:rPr>
              <a:t> angle = gyroAngle.plus(gyroOffset);        </a:t>
            </a:r>
            <a:r>
              <a:rPr sz="930" i="1">
                <a:solidFill>
                  <a:srgbClr val="6B82A6"/>
                </a:solidFill>
                <a:latin typeface="Consolas"/>
              </a:rPr>
              <a:t>// 4. rumo absoluto</a:t>
            </a: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</a:t>
            </a:r>
            <a:r>
              <a:rPr sz="930">
                <a:solidFill>
                  <a:srgbClr val="A78BFA"/>
                </a:solidFill>
                <a:latin typeface="Consolas"/>
              </a:rPr>
              <a:t>double</a:t>
            </a:r>
            <a:r>
              <a:rPr sz="930">
                <a:solidFill>
                  <a:srgbClr val="E6EDF8"/>
                </a:solidFill>
                <a:latin typeface="Consolas"/>
              </a:rPr>
              <a:t> dTheta = angle.minus(previousAngle).getRadians();</a:t>
            </a:r>
          </a:p>
          <a:p>
            <a:pPr algn="l">
              <a:lnSpc>
                <a:spcPct val="120000"/>
              </a:lnSpc>
            </a:pPr>
            <a:endParaRPr sz="930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</a:t>
            </a:r>
            <a:r>
              <a:rPr sz="930" i="1">
                <a:solidFill>
                  <a:srgbClr val="6B82A6"/>
                </a:solidFill>
                <a:latin typeface="Consolas"/>
              </a:rPr>
              <a:t>// exp() integra o arco de verdade (trajetoria curva), em vez de</a:t>
            </a: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</a:t>
            </a:r>
            <a:r>
              <a:rPr sz="930" i="1">
                <a:solidFill>
                  <a:srgbClr val="6B82A6"/>
                </a:solidFill>
                <a:latin typeface="Consolas"/>
              </a:rPr>
              <a:t>// assumir que o robo andou em linha reta dentro do ciclo</a:t>
            </a: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</a:t>
            </a:r>
            <a:r>
              <a:rPr sz="930">
                <a:solidFill>
                  <a:srgbClr val="34D399"/>
                </a:solidFill>
                <a:latin typeface="Consolas"/>
              </a:rPr>
              <a:t>Pose2d</a:t>
            </a:r>
            <a:r>
              <a:rPr sz="930">
                <a:solidFill>
                  <a:srgbClr val="E6EDF8"/>
                </a:solidFill>
                <a:latin typeface="Consolas"/>
              </a:rPr>
              <a:t> newPose = pose.exp(</a:t>
            </a:r>
            <a:r>
              <a:rPr sz="930">
                <a:solidFill>
                  <a:srgbClr val="A78BFA"/>
                </a:solidFill>
                <a:latin typeface="Consolas"/>
              </a:rPr>
              <a:t>new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34D399"/>
                </a:solidFill>
                <a:latin typeface="Consolas"/>
              </a:rPr>
              <a:t>Twist2d</a:t>
            </a:r>
            <a:r>
              <a:rPr sz="930">
                <a:solidFill>
                  <a:srgbClr val="E6EDF8"/>
                </a:solidFill>
                <a:latin typeface="Consolas"/>
              </a:rPr>
              <a:t>(robotDelta[</a:t>
            </a:r>
            <a:r>
              <a:rPr sz="930">
                <a:solidFill>
                  <a:srgbClr val="F472B6"/>
                </a:solidFill>
                <a:latin typeface="Consolas"/>
              </a:rPr>
              <a:t>0</a:t>
            </a:r>
            <a:r>
              <a:rPr sz="930">
                <a:solidFill>
                  <a:srgbClr val="E6EDF8"/>
                </a:solidFill>
                <a:latin typeface="Consolas"/>
              </a:rPr>
              <a:t>], robotDelta[</a:t>
            </a:r>
            <a:r>
              <a:rPr sz="930">
                <a:solidFill>
                  <a:srgbClr val="F472B6"/>
                </a:solidFill>
                <a:latin typeface="Consolas"/>
              </a:rPr>
              <a:t>1</a:t>
            </a:r>
            <a:r>
              <a:rPr sz="930">
                <a:solidFill>
                  <a:srgbClr val="E6EDF8"/>
                </a:solidFill>
                <a:latin typeface="Consolas"/>
              </a:rPr>
              <a:t>], dTheta));</a:t>
            </a:r>
          </a:p>
          <a:p>
            <a:pPr algn="l">
              <a:lnSpc>
                <a:spcPct val="120000"/>
              </a:lnSpc>
            </a:pPr>
            <a:endParaRPr sz="930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pose = </a:t>
            </a:r>
            <a:r>
              <a:rPr sz="930">
                <a:solidFill>
                  <a:srgbClr val="A78BFA"/>
                </a:solidFill>
                <a:latin typeface="Consolas"/>
              </a:rPr>
              <a:t>new</a:t>
            </a:r>
            <a:r>
              <a:rPr sz="930">
                <a:solidFill>
                  <a:srgbClr val="E6EDF8"/>
                </a:solidFill>
                <a:latin typeface="Consolas"/>
              </a:rPr>
              <a:t> </a:t>
            </a:r>
            <a:r>
              <a:rPr sz="930">
                <a:solidFill>
                  <a:srgbClr val="34D399"/>
                </a:solidFill>
                <a:latin typeface="Consolas"/>
              </a:rPr>
              <a:t>Pose2d</a:t>
            </a:r>
            <a:r>
              <a:rPr sz="930">
                <a:solidFill>
                  <a:srgbClr val="E6EDF8"/>
                </a:solidFill>
                <a:latin typeface="Consolas"/>
              </a:rPr>
              <a:t>(newPose.getTranslation(), angle);   </a:t>
            </a:r>
            <a:r>
              <a:rPr sz="930" i="1">
                <a:solidFill>
                  <a:srgbClr val="6B82A6"/>
                </a:solidFill>
                <a:latin typeface="Consolas"/>
              </a:rPr>
              <a:t>// 5. theta SEMPRE da IMU</a:t>
            </a: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previousAngle = angle;</a:t>
            </a: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updateVelocities(now, robotDelta[</a:t>
            </a:r>
            <a:r>
              <a:rPr sz="930">
                <a:solidFill>
                  <a:srgbClr val="F472B6"/>
                </a:solidFill>
                <a:latin typeface="Consolas"/>
              </a:rPr>
              <a:t>0</a:t>
            </a:r>
            <a:r>
              <a:rPr sz="930">
                <a:solidFill>
                  <a:srgbClr val="E6EDF8"/>
                </a:solidFill>
                <a:latin typeface="Consolas"/>
              </a:rPr>
              <a:t>], robotDelta[</a:t>
            </a:r>
            <a:r>
              <a:rPr sz="930">
                <a:solidFill>
                  <a:srgbClr val="F472B6"/>
                </a:solidFill>
                <a:latin typeface="Consolas"/>
              </a:rPr>
              <a:t>1</a:t>
            </a:r>
            <a:r>
              <a:rPr sz="930">
                <a:solidFill>
                  <a:srgbClr val="E6EDF8"/>
                </a:solidFill>
                <a:latin typeface="Consolas"/>
              </a:rPr>
              <a:t>], dTheta);</a:t>
            </a: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  </a:t>
            </a:r>
            <a:r>
              <a:rPr sz="930">
                <a:solidFill>
                  <a:srgbClr val="A78BFA"/>
                </a:solidFill>
                <a:latin typeface="Consolas"/>
              </a:rPr>
              <a:t>return</a:t>
            </a:r>
            <a:r>
              <a:rPr sz="930">
                <a:solidFill>
                  <a:srgbClr val="E6EDF8"/>
                </a:solidFill>
                <a:latin typeface="Consolas"/>
              </a:rPr>
              <a:t> pose;</a:t>
            </a:r>
          </a:p>
          <a:p>
            <a:pPr algn="l">
              <a:lnSpc>
                <a:spcPct val="120000"/>
              </a:lnSpc>
            </a:pPr>
            <a:r>
              <a:rPr sz="930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1260957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Odometry.java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10312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200">
                <a:solidFill>
                  <a:srgbClr val="38D9F0"/>
                </a:solidFill>
                <a:latin typeface="Segoe UI"/>
              </a:rPr>
              <a:t>▸  </a:t>
            </a:r>
            <a:r>
              <a:rPr sz="1200" b="1">
                <a:solidFill>
                  <a:srgbClr val="FBBF24"/>
                </a:solidFill>
                <a:latin typeface="Segoe UI"/>
              </a:rPr>
              <a:t>Passo 5 </a:t>
            </a:r>
            <a:r>
              <a:rPr sz="1200">
                <a:solidFill>
                  <a:srgbClr val="E6EDF8"/>
                </a:solidFill>
                <a:latin typeface="Segoe UI"/>
              </a:rPr>
              <a:t>é a chave: a translação vem do exp(), mas θ é sobrescrito pela IMU.</a:t>
            </a:r>
          </a:p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200">
                <a:solidFill>
                  <a:srgbClr val="38D9F0"/>
                </a:solidFill>
                <a:latin typeface="Segoe UI"/>
              </a:rPr>
              <a:t>▸  </a:t>
            </a:r>
            <a:r>
              <a:rPr sz="1200" b="1">
                <a:solidFill>
                  <a:srgbClr val="FBBF24"/>
                </a:solidFill>
                <a:latin typeface="Segoe UI"/>
              </a:rPr>
              <a:t>previousAngle </a:t>
            </a:r>
            <a:r>
              <a:rPr sz="1200">
                <a:solidFill>
                  <a:srgbClr val="E6EDF8"/>
                </a:solidFill>
                <a:latin typeface="Segoe UI"/>
              </a:rPr>
              <a:t>só existe para extrair dθ do ciclo.</a:t>
            </a:r>
          </a:p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200">
                <a:solidFill>
                  <a:srgbClr val="38D9F0"/>
                </a:solidFill>
                <a:latin typeface="Segoe UI"/>
              </a:rPr>
              <a:t>▸  </a:t>
            </a:r>
            <a:r>
              <a:rPr sz="1200" b="1">
                <a:solidFill>
                  <a:srgbClr val="FBBF24"/>
                </a:solidFill>
                <a:latin typeface="Segoe UI"/>
              </a:rPr>
              <a:t>Retorna a pose </a:t>
            </a:r>
            <a:r>
              <a:rPr sz="1200">
                <a:solidFill>
                  <a:srgbClr val="E6EDF8"/>
                </a:solidFill>
                <a:latin typeface="Segoe UI"/>
              </a:rPr>
              <a:t>por conveniência — o estado fica guardado no objeto.</a:t>
            </a:r>
          </a:p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200">
                <a:solidFill>
                  <a:srgbClr val="38D9F0"/>
                </a:solidFill>
                <a:latin typeface="Segoe UI"/>
              </a:rPr>
              <a:t>▸  </a:t>
            </a:r>
            <a:r>
              <a:rPr sz="1200" b="1">
                <a:solidFill>
                  <a:srgbClr val="FBBF24"/>
                </a:solidFill>
                <a:latin typeface="Segoe UI"/>
              </a:rPr>
              <a:t>updateWithTime </a:t>
            </a:r>
            <a:r>
              <a:rPr sz="1200">
                <a:solidFill>
                  <a:srgbClr val="E6EDF8"/>
                </a:solidFill>
                <a:latin typeface="Segoe UI"/>
              </a:rPr>
              <a:t>recebe o tempo por fora: é o que permite testar no PC.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RESETPOSE()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Teleportar o robô sem mexer na IMU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3 — 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6583680" cy="132588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1102">
                <a:solidFill>
                  <a:srgbClr val="A78BFA"/>
                </a:solidFill>
                <a:latin typeface="Consolas"/>
              </a:rPr>
              <a:t>public</a:t>
            </a:r>
            <a:r>
              <a:rPr sz="1102">
                <a:solidFill>
                  <a:srgbClr val="E6EDF8"/>
                </a:solidFill>
                <a:latin typeface="Consolas"/>
              </a:rPr>
              <a:t> </a:t>
            </a:r>
            <a:r>
              <a:rPr sz="1102">
                <a:solidFill>
                  <a:srgbClr val="A78BFA"/>
                </a:solidFill>
                <a:latin typeface="Consolas"/>
              </a:rPr>
              <a:t>void</a:t>
            </a:r>
            <a:r>
              <a:rPr sz="1102">
                <a:solidFill>
                  <a:srgbClr val="E6EDF8"/>
                </a:solidFill>
                <a:latin typeface="Consolas"/>
              </a:rPr>
              <a:t> resetPose(</a:t>
            </a:r>
            <a:r>
              <a:rPr sz="1102">
                <a:solidFill>
                  <a:srgbClr val="34D399"/>
                </a:solidFill>
                <a:latin typeface="Consolas"/>
              </a:rPr>
              <a:t>Pose2d</a:t>
            </a:r>
            <a:r>
              <a:rPr sz="1102">
                <a:solidFill>
                  <a:srgbClr val="E6EDF8"/>
                </a:solidFill>
                <a:latin typeface="Consolas"/>
              </a:rPr>
              <a:t> newPose, </a:t>
            </a:r>
            <a:r>
              <a:rPr sz="1102">
                <a:solidFill>
                  <a:srgbClr val="34D399"/>
                </a:solidFill>
                <a:latin typeface="Consolas"/>
              </a:rPr>
              <a:t>Rotation2d</a:t>
            </a:r>
            <a:r>
              <a:rPr sz="1102">
                <a:solidFill>
                  <a:srgbClr val="E6EDF8"/>
                </a:solidFill>
                <a:latin typeface="Consolas"/>
              </a:rPr>
              <a:t> gyroAngle) {</a:t>
            </a:r>
          </a:p>
          <a:p>
            <a:pPr algn="l">
              <a:lnSpc>
                <a:spcPct val="120000"/>
              </a:lnSpc>
            </a:pPr>
            <a:r>
              <a:rPr sz="1102">
                <a:solidFill>
                  <a:srgbClr val="E6EDF8"/>
                </a:solidFill>
                <a:latin typeface="Consolas"/>
              </a:rPr>
              <a:t>  pose = newPose;</a:t>
            </a:r>
          </a:p>
          <a:p>
            <a:pPr algn="l">
              <a:lnSpc>
                <a:spcPct val="120000"/>
              </a:lnSpc>
            </a:pPr>
            <a:r>
              <a:rPr sz="1102">
                <a:solidFill>
                  <a:srgbClr val="E6EDF8"/>
                </a:solidFill>
                <a:latin typeface="Consolas"/>
              </a:rPr>
              <a:t>  previousAngle = newPose.getRotation();</a:t>
            </a:r>
          </a:p>
          <a:p>
            <a:pPr algn="l">
              <a:lnSpc>
                <a:spcPct val="120000"/>
              </a:lnSpc>
            </a:pPr>
            <a:r>
              <a:rPr sz="1102">
                <a:solidFill>
                  <a:srgbClr val="E6EDF8"/>
                </a:solidFill>
                <a:latin typeface="Consolas"/>
              </a:rPr>
              <a:t>  gyroOffset = newPose.getRotation().minus(gyroAngle);   </a:t>
            </a:r>
            <a:r>
              <a:rPr sz="1102" i="1">
                <a:solidFill>
                  <a:srgbClr val="6B82A6"/>
                </a:solidFill>
                <a:latin typeface="Consolas"/>
              </a:rPr>
              <a:t>// guarda a diferenca</a:t>
            </a:r>
          </a:p>
          <a:p>
            <a:pPr algn="l">
              <a:lnSpc>
                <a:spcPct val="120000"/>
              </a:lnSpc>
            </a:pPr>
            <a:r>
              <a:rPr sz="1102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1260957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Odometry.java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657600"/>
            <a:ext cx="6583680" cy="777240"/>
          </a:xfrm>
          <a:prstGeom prst="roundRect">
            <a:avLst>
              <a:gd name="adj" fmla="val 1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>
              <a:lnSpc>
                <a:spcPct val="132000"/>
              </a:lnSpc>
            </a:pPr>
            <a:r>
              <a:rPr sz="1900">
                <a:solidFill>
                  <a:srgbClr val="FBBF24"/>
                </a:solidFill>
                <a:latin typeface="Consolas"/>
              </a:rPr>
              <a:t>θ_pose  =  θ_IMU  +  gyroOffset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2628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864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Para que serve: </a:t>
            </a:r>
            <a:r>
              <a:rPr sz="1300">
                <a:solidFill>
                  <a:srgbClr val="E6EDF8"/>
                </a:solidFill>
                <a:latin typeface="Segoe UI"/>
              </a:rPr>
              <a:t>início do autônomo (“estou no ponto A da arena”), correção por visão, referência de parede ou marcação do tapete.</a:t>
            </a:r>
          </a:p>
          <a:p>
            <a:pPr>
              <a:lnSpc>
                <a:spcPct val="118000"/>
              </a:lnSpc>
              <a:spcAft>
                <a:spcPts val="864"/>
              </a:spcAft>
            </a:pPr>
            <a:r>
              <a:rPr sz="1300">
                <a:solidFill>
                  <a:srgbClr val="38D9F0"/>
                </a:solidFill>
                <a:latin typeface="Segoe UI"/>
              </a:rPr>
              <a:t>▸  </a:t>
            </a:r>
            <a:r>
              <a:rPr sz="1300" b="1">
                <a:solidFill>
                  <a:srgbClr val="FBBF24"/>
                </a:solidFill>
                <a:latin typeface="Segoe UI"/>
              </a:rPr>
              <a:t>Por que offset e não reset da IMU: </a:t>
            </a:r>
            <a:r>
              <a:rPr sz="1300">
                <a:solidFill>
                  <a:srgbClr val="E6EDF8"/>
                </a:solidFill>
                <a:latin typeface="Segoe UI"/>
              </a:rPr>
              <a:t>zerar o giroscópio perde a referência acumulada. O offset é instantâneo e exato.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011680"/>
            <a:ext cx="3639312" cy="269748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996">
                <a:solidFill>
                  <a:srgbClr val="FB8E3C"/>
                </a:solidFill>
                <a:latin typeface="Consolas"/>
              </a:rPr>
              <a:t>@Test</a:t>
            </a: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A78BFA"/>
                </a:solidFill>
                <a:latin typeface="Consolas"/>
              </a:rPr>
              <a:t>public</a:t>
            </a:r>
            <a:r>
              <a:rPr sz="996">
                <a:solidFill>
                  <a:srgbClr val="E6EDF8"/>
                </a:solidFill>
                <a:latin typeface="Consolas"/>
              </a:rPr>
              <a:t> </a:t>
            </a:r>
            <a:r>
              <a:rPr sz="996">
                <a:solidFill>
                  <a:srgbClr val="A78BFA"/>
                </a:solidFill>
                <a:latin typeface="Consolas"/>
              </a:rPr>
              <a:t>void</a:t>
            </a:r>
            <a:r>
              <a:rPr sz="996">
                <a:solidFill>
                  <a:srgbClr val="E6EDF8"/>
                </a:solidFill>
                <a:latin typeface="Consolas"/>
              </a:rPr>
              <a:t> resetPoseMantemORumoDaImu() {</a:t>
            </a: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E6EDF8"/>
                </a:solidFill>
                <a:latin typeface="Consolas"/>
              </a:rPr>
              <a:t>  </a:t>
            </a:r>
            <a:r>
              <a:rPr sz="996">
                <a:solidFill>
                  <a:srgbClr val="34D399"/>
                </a:solidFill>
                <a:latin typeface="Consolas"/>
              </a:rPr>
              <a:t>Rotation2d</a:t>
            </a:r>
            <a:r>
              <a:rPr sz="996">
                <a:solidFill>
                  <a:srgbClr val="E6EDF8"/>
                </a:solidFill>
                <a:latin typeface="Consolas"/>
              </a:rPr>
              <a:t> gyro = fromDegrees(</a:t>
            </a:r>
            <a:r>
              <a:rPr sz="996">
                <a:solidFill>
                  <a:srgbClr val="F472B6"/>
                </a:solidFill>
                <a:latin typeface="Consolas"/>
              </a:rPr>
              <a:t>30.0</a:t>
            </a:r>
            <a:r>
              <a:rPr sz="996">
                <a:solidFill>
                  <a:srgbClr val="E6EDF8"/>
                </a:solidFill>
                <a:latin typeface="Consolas"/>
              </a:rPr>
              <a:t>);</a:t>
            </a: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E6EDF8"/>
                </a:solidFill>
                <a:latin typeface="Consolas"/>
              </a:rPr>
              <a:t>  odometry.resetPose(</a:t>
            </a: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E6EDF8"/>
                </a:solidFill>
                <a:latin typeface="Consolas"/>
              </a:rPr>
              <a:t>      </a:t>
            </a:r>
            <a:r>
              <a:rPr sz="996">
                <a:solidFill>
                  <a:srgbClr val="A78BFA"/>
                </a:solidFill>
                <a:latin typeface="Consolas"/>
              </a:rPr>
              <a:t>new</a:t>
            </a:r>
            <a:r>
              <a:rPr sz="996">
                <a:solidFill>
                  <a:srgbClr val="E6EDF8"/>
                </a:solidFill>
                <a:latin typeface="Consolas"/>
              </a:rPr>
              <a:t> </a:t>
            </a:r>
            <a:r>
              <a:rPr sz="996">
                <a:solidFill>
                  <a:srgbClr val="34D399"/>
                </a:solidFill>
                <a:latin typeface="Consolas"/>
              </a:rPr>
              <a:t>Pose2d</a:t>
            </a:r>
            <a:r>
              <a:rPr sz="996">
                <a:solidFill>
                  <a:srgbClr val="E6EDF8"/>
                </a:solidFill>
                <a:latin typeface="Consolas"/>
              </a:rPr>
              <a:t>(</a:t>
            </a:r>
            <a:r>
              <a:rPr sz="996">
                <a:solidFill>
                  <a:srgbClr val="F472B6"/>
                </a:solidFill>
                <a:latin typeface="Consolas"/>
              </a:rPr>
              <a:t>2.0</a:t>
            </a:r>
            <a:r>
              <a:rPr sz="996">
                <a:solidFill>
                  <a:srgbClr val="E6EDF8"/>
                </a:solidFill>
                <a:latin typeface="Consolas"/>
              </a:rPr>
              <a:t>, </a:t>
            </a:r>
            <a:r>
              <a:rPr sz="996">
                <a:solidFill>
                  <a:srgbClr val="F472B6"/>
                </a:solidFill>
                <a:latin typeface="Consolas"/>
              </a:rPr>
              <a:t>1.0</a:t>
            </a:r>
            <a:r>
              <a:rPr sz="996">
                <a:solidFill>
                  <a:srgbClr val="E6EDF8"/>
                </a:solidFill>
                <a:latin typeface="Consolas"/>
              </a:rPr>
              <a:t>,</a:t>
            </a: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E6EDF8"/>
                </a:solidFill>
                <a:latin typeface="Consolas"/>
              </a:rPr>
              <a:t>          fromDegrees(</a:t>
            </a:r>
            <a:r>
              <a:rPr sz="996">
                <a:solidFill>
                  <a:srgbClr val="F472B6"/>
                </a:solidFill>
                <a:latin typeface="Consolas"/>
              </a:rPr>
              <a:t>90.0</a:t>
            </a:r>
            <a:r>
              <a:rPr sz="996">
                <a:solidFill>
                  <a:srgbClr val="E6EDF8"/>
                </a:solidFill>
                <a:latin typeface="Consolas"/>
              </a:rPr>
              <a:t>)), gyro);</a:t>
            </a:r>
          </a:p>
          <a:p>
            <a:pPr algn="l">
              <a:lnSpc>
                <a:spcPct val="120000"/>
              </a:lnSpc>
            </a:pPr>
            <a:endParaRPr sz="996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E6EDF8"/>
                </a:solidFill>
                <a:latin typeface="Consolas"/>
              </a:rPr>
              <a:t>  </a:t>
            </a:r>
            <a:r>
              <a:rPr sz="996" i="1">
                <a:solidFill>
                  <a:srgbClr val="6B82A6"/>
                </a:solidFill>
                <a:latin typeface="Consolas"/>
              </a:rPr>
              <a:t>// IMU anda 10 graus -&gt;</a:t>
            </a: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E6EDF8"/>
                </a:solidFill>
                <a:latin typeface="Consolas"/>
              </a:rPr>
              <a:t>  </a:t>
            </a:r>
            <a:r>
              <a:rPr sz="996" i="1">
                <a:solidFill>
                  <a:srgbClr val="6B82A6"/>
                </a:solidFill>
                <a:latin typeface="Consolas"/>
              </a:rPr>
              <a:t>// a pose anda os mesmos 10</a:t>
            </a: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E6EDF8"/>
                </a:solidFill>
                <a:latin typeface="Consolas"/>
              </a:rPr>
              <a:t>  odometry.updateWithTime(</a:t>
            </a:r>
            <a:r>
              <a:rPr sz="996">
                <a:solidFill>
                  <a:srgbClr val="F472B6"/>
                </a:solidFill>
                <a:latin typeface="Consolas"/>
              </a:rPr>
              <a:t>0.02</a:t>
            </a:r>
            <a:r>
              <a:rPr sz="996">
                <a:solidFill>
                  <a:srgbClr val="E6EDF8"/>
                </a:solidFill>
                <a:latin typeface="Consolas"/>
              </a:rPr>
              <a:t>,</a:t>
            </a: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E6EDF8"/>
                </a:solidFill>
                <a:latin typeface="Consolas"/>
              </a:rPr>
              <a:t>      fromDegrees(</a:t>
            </a:r>
            <a:r>
              <a:rPr sz="996">
                <a:solidFill>
                  <a:srgbClr val="F472B6"/>
                </a:solidFill>
                <a:latin typeface="Consolas"/>
              </a:rPr>
              <a:t>40.0</a:t>
            </a:r>
            <a:r>
              <a:rPr sz="996">
                <a:solidFill>
                  <a:srgbClr val="E6EDF8"/>
                </a:solidFill>
                <a:latin typeface="Consolas"/>
              </a:rPr>
              <a:t>), </a:t>
            </a:r>
            <a:r>
              <a:rPr sz="996">
                <a:solidFill>
                  <a:srgbClr val="F472B6"/>
                </a:solidFill>
                <a:latin typeface="Consolas"/>
              </a:rPr>
              <a:t>0</a:t>
            </a:r>
            <a:r>
              <a:rPr sz="996">
                <a:solidFill>
                  <a:srgbClr val="E6EDF8"/>
                </a:solidFill>
                <a:latin typeface="Consolas"/>
              </a:rPr>
              <a:t>, </a:t>
            </a:r>
            <a:r>
              <a:rPr sz="996">
                <a:solidFill>
                  <a:srgbClr val="F472B6"/>
                </a:solidFill>
                <a:latin typeface="Consolas"/>
              </a:rPr>
              <a:t>0</a:t>
            </a:r>
            <a:r>
              <a:rPr sz="996">
                <a:solidFill>
                  <a:srgbClr val="E6EDF8"/>
                </a:solidFill>
                <a:latin typeface="Consolas"/>
              </a:rPr>
              <a:t>, </a:t>
            </a:r>
            <a:r>
              <a:rPr sz="996">
                <a:solidFill>
                  <a:srgbClr val="F472B6"/>
                </a:solidFill>
                <a:latin typeface="Consolas"/>
              </a:rPr>
              <a:t>0</a:t>
            </a:r>
            <a:r>
              <a:rPr sz="996">
                <a:solidFill>
                  <a:srgbClr val="E6EDF8"/>
                </a:solidFill>
                <a:latin typeface="Consolas"/>
              </a:rPr>
              <a:t>);</a:t>
            </a: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E6EDF8"/>
                </a:solidFill>
                <a:latin typeface="Consolas"/>
              </a:rPr>
              <a:t>  assertEquals(</a:t>
            </a:r>
            <a:r>
              <a:rPr sz="996">
                <a:solidFill>
                  <a:srgbClr val="F472B6"/>
                </a:solidFill>
                <a:latin typeface="Consolas"/>
              </a:rPr>
              <a:t>100.0</a:t>
            </a:r>
            <a:r>
              <a:rPr sz="996">
                <a:solidFill>
                  <a:srgbClr val="E6EDF8"/>
                </a:solidFill>
                <a:latin typeface="Consolas"/>
              </a:rPr>
              <a:t>, ...);</a:t>
            </a:r>
          </a:p>
          <a:p>
            <a:pPr algn="l">
              <a:lnSpc>
                <a:spcPct val="120000"/>
              </a:lnSpc>
            </a:pPr>
            <a:r>
              <a:rPr sz="996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45552" y="1856232"/>
            <a:ext cx="1185062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OdometryTest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5559552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9848" y="579729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2184" y="5650992"/>
            <a:ext cx="964691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No subsystem: resetPose(pose) repassa getRotation2d() como rumo cru, e resetOdometry() é só resetPose(new Pose2d()).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RESETWHEELBASELINE()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bug clássico — e a defesa contra ele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3 — 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5074920" cy="2148840"/>
          </a:xfrm>
          <a:prstGeom prst="roundRect">
            <a:avLst>
              <a:gd name="adj" fmla="val 7000"/>
            </a:avLst>
          </a:prstGeom>
          <a:solidFill>
            <a:srgbClr val="162238"/>
          </a:solidFill>
          <a:ln w="1651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21945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72B6"/>
                </a:solidFill>
                <a:latin typeface="Segoe UI"/>
              </a:rPr>
              <a:t>Sem reancorar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06040"/>
            <a:ext cx="4617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1. Encoders leem 1,00 m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2. Comando chama resetEncoders() → leitura vai a 0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3. Próximo ciclo: delta = 0 − 1,00 = −1,00 m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4. A odometria “vê” o robô pular 1 metro para trás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011680"/>
            <a:ext cx="5074920" cy="2148840"/>
          </a:xfrm>
          <a:prstGeom prst="roundRect">
            <a:avLst>
              <a:gd name="adj" fmla="val 7000"/>
            </a:avLst>
          </a:prstGeom>
          <a:solidFill>
            <a:srgbClr val="162238"/>
          </a:solidFill>
          <a:ln w="1651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21945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34D399"/>
                </a:solidFill>
                <a:latin typeface="Segoe UI"/>
              </a:rPr>
              <a:t>Com reancoragem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606040"/>
            <a:ext cx="4617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resetEncoders() avisa a odometria que a nova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leitura de referência é 0. O delta do próximo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ciclo volta a ser o movimento real, e a pose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não se move nem um milímetro no reset.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526280"/>
            <a:ext cx="6309360" cy="169164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1071">
                <a:solidFill>
                  <a:srgbClr val="A78BFA"/>
                </a:solidFill>
                <a:latin typeface="Consolas"/>
              </a:rPr>
              <a:t>public</a:t>
            </a:r>
            <a:r>
              <a:rPr sz="1071">
                <a:solidFill>
                  <a:srgbClr val="E6EDF8"/>
                </a:solidFill>
                <a:latin typeface="Consolas"/>
              </a:rPr>
              <a:t> </a:t>
            </a:r>
            <a:r>
              <a:rPr sz="1071">
                <a:solidFill>
                  <a:srgbClr val="A78BFA"/>
                </a:solidFill>
                <a:latin typeface="Consolas"/>
              </a:rPr>
              <a:t>void</a:t>
            </a:r>
            <a:r>
              <a:rPr sz="1071">
                <a:solidFill>
                  <a:srgbClr val="E6EDF8"/>
                </a:solidFill>
                <a:latin typeface="Consolas"/>
              </a:rPr>
              <a:t> resetEncoders() {</a:t>
            </a:r>
          </a:p>
          <a:p>
            <a:pPr algn="l">
              <a:lnSpc>
                <a:spcPct val="120000"/>
              </a:lnSpc>
            </a:pPr>
            <a:r>
              <a:rPr sz="1071">
                <a:solidFill>
                  <a:srgbClr val="E6EDF8"/>
                </a:solidFill>
                <a:latin typeface="Consolas"/>
              </a:rPr>
              <a:t>  encoder1.reset(); encoder2.reset(); encoder3.reset();</a:t>
            </a:r>
          </a:p>
          <a:p>
            <a:pPr algn="l">
              <a:lnSpc>
                <a:spcPct val="120000"/>
              </a:lnSpc>
            </a:pPr>
            <a:endParaRPr sz="1071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1071">
                <a:solidFill>
                  <a:srgbClr val="E6EDF8"/>
                </a:solidFill>
                <a:latin typeface="Consolas"/>
              </a:rPr>
              <a:t>  </a:t>
            </a:r>
            <a:r>
              <a:rPr sz="1071" i="1">
                <a:solidFill>
                  <a:srgbClr val="6B82A6"/>
                </a:solidFill>
                <a:latin typeface="Consolas"/>
              </a:rPr>
              <a:t>// Sem isso o salto da leitura (valor atual -&gt; zero) entraria na</a:t>
            </a:r>
          </a:p>
          <a:p>
            <a:pPr algn="l">
              <a:lnSpc>
                <a:spcPct val="120000"/>
              </a:lnSpc>
            </a:pPr>
            <a:r>
              <a:rPr sz="1071">
                <a:solidFill>
                  <a:srgbClr val="E6EDF8"/>
                </a:solidFill>
                <a:latin typeface="Consolas"/>
              </a:rPr>
              <a:t>  </a:t>
            </a:r>
            <a:r>
              <a:rPr sz="1071" i="1">
                <a:solidFill>
                  <a:srgbClr val="6B82A6"/>
                </a:solidFill>
                <a:latin typeface="Consolas"/>
              </a:rPr>
              <a:t>// odometria como um deslocamento gigante para tras.</a:t>
            </a:r>
          </a:p>
          <a:p>
            <a:pPr algn="l">
              <a:lnSpc>
                <a:spcPct val="120000"/>
              </a:lnSpc>
            </a:pPr>
            <a:r>
              <a:rPr sz="1071">
                <a:solidFill>
                  <a:srgbClr val="E6EDF8"/>
                </a:solidFill>
                <a:latin typeface="Consolas"/>
              </a:rPr>
              <a:t>  odometry.resetWheelBaseline(</a:t>
            </a:r>
            <a:r>
              <a:rPr sz="1071">
                <a:solidFill>
                  <a:srgbClr val="F472B6"/>
                </a:solidFill>
                <a:latin typeface="Consolas"/>
              </a:rPr>
              <a:t>0.0</a:t>
            </a:r>
            <a:r>
              <a:rPr sz="1071">
                <a:solidFill>
                  <a:srgbClr val="E6EDF8"/>
                </a:solidFill>
                <a:latin typeface="Consolas"/>
              </a:rPr>
              <a:t>, </a:t>
            </a:r>
            <a:r>
              <a:rPr sz="1071">
                <a:solidFill>
                  <a:srgbClr val="F472B6"/>
                </a:solidFill>
                <a:latin typeface="Consolas"/>
              </a:rPr>
              <a:t>0.0</a:t>
            </a:r>
            <a:r>
              <a:rPr sz="1071">
                <a:solidFill>
                  <a:srgbClr val="E6EDF8"/>
                </a:solidFill>
                <a:latin typeface="Consolas"/>
              </a:rPr>
              <a:t>, </a:t>
            </a:r>
            <a:r>
              <a:rPr sz="1071">
                <a:solidFill>
                  <a:srgbClr val="F472B6"/>
                </a:solidFill>
                <a:latin typeface="Consolas"/>
              </a:rPr>
              <a:t>0.0</a:t>
            </a:r>
            <a:r>
              <a:rPr sz="1071">
                <a:solidFill>
                  <a:srgbClr val="E6EDF8"/>
                </a:solidFill>
                <a:latin typeface="Consolas"/>
              </a:rPr>
              <a:t>);</a:t>
            </a:r>
          </a:p>
          <a:p>
            <a:pPr algn="l">
              <a:lnSpc>
                <a:spcPct val="120000"/>
              </a:lnSpc>
            </a:pPr>
            <a:r>
              <a:rPr sz="1071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3271" y="4370832"/>
            <a:ext cx="1640433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OmnidriveSubsystem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4526280"/>
            <a:ext cx="3913632" cy="169164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FB8E3C"/>
                </a:solidFill>
                <a:latin typeface="Consolas"/>
              </a:rPr>
              <a:t>@Test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A78BFA"/>
                </a:solidFill>
                <a:latin typeface="Consolas"/>
              </a:rPr>
              <a:t>public</a:t>
            </a:r>
            <a:r>
              <a:rPr sz="1100">
                <a:solidFill>
                  <a:srgbClr val="E6EDF8"/>
                </a:solidFill>
                <a:latin typeface="Consolas"/>
              </a:rPr>
              <a:t> </a:t>
            </a:r>
            <a:r>
              <a:rPr sz="1100">
                <a:solidFill>
                  <a:srgbClr val="A78BFA"/>
                </a:solidFill>
                <a:latin typeface="Consolas"/>
              </a:rPr>
              <a:t>void</a:t>
            </a:r>
            <a:r>
              <a:rPr sz="1100">
                <a:solidFill>
                  <a:srgbClr val="E6EDF8"/>
                </a:solidFill>
                <a:latin typeface="Consolas"/>
              </a:rPr>
              <a:t> zerarEncodersNaoMoveAPose() {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6EDF8"/>
                </a:solidFill>
                <a:latin typeface="Consolas"/>
              </a:rPr>
              <a:t>  </a:t>
            </a:r>
            <a:r>
              <a:rPr sz="1100" i="1">
                <a:solidFill>
                  <a:srgbClr val="6B82A6"/>
                </a:solidFill>
                <a:latin typeface="Consolas"/>
              </a:rPr>
              <a:t>// ... anda 1 m, zera, atualiza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6EDF8"/>
                </a:solidFill>
                <a:latin typeface="Consolas"/>
              </a:rPr>
              <a:t>  assertEquals(</a:t>
            </a:r>
            <a:r>
              <a:rPr sz="1100">
                <a:solidFill>
                  <a:srgbClr val="F472B6"/>
                </a:solidFill>
                <a:latin typeface="Consolas"/>
              </a:rPr>
              <a:t>1.0</a:t>
            </a:r>
            <a:r>
              <a:rPr sz="1100">
                <a:solidFill>
                  <a:srgbClr val="E6EDF8"/>
                </a:solidFill>
                <a:latin typeface="Consolas"/>
              </a:rPr>
              <a:t>, pose.getX(), </a:t>
            </a:r>
            <a:r>
              <a:rPr sz="1100">
                <a:solidFill>
                  <a:srgbClr val="F472B6"/>
                </a:solidFill>
                <a:latin typeface="Consolas"/>
              </a:rPr>
              <a:t>1</a:t>
            </a:r>
            <a:r>
              <a:rPr sz="1100">
                <a:solidFill>
                  <a:srgbClr val="E6EDF8"/>
                </a:solidFill>
                <a:latin typeface="Consolas"/>
              </a:rPr>
              <a:t>e-</a:t>
            </a:r>
            <a:r>
              <a:rPr sz="1100">
                <a:solidFill>
                  <a:srgbClr val="F472B6"/>
                </a:solidFill>
                <a:latin typeface="Consolas"/>
              </a:rPr>
              <a:t>6</a:t>
            </a:r>
            <a:r>
              <a:rPr sz="1100">
                <a:solidFill>
                  <a:srgbClr val="E6EDF8"/>
                </a:solidFill>
                <a:latin typeface="Consolas"/>
              </a:rPr>
              <a:t>);</a:t>
            </a:r>
          </a:p>
          <a:p>
            <a:pPr algn="l">
              <a:lnSpc>
                <a:spcPct val="120000"/>
              </a:lnSpc>
            </a:pPr>
            <a:r>
              <a:rPr sz="1100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71231" y="4370832"/>
            <a:ext cx="1185062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OdometryTest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VELOCIDADE E TELEMETRIA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O mesmo delta serve para duas coisas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3 — 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6492240" cy="224028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1047">
                <a:solidFill>
                  <a:srgbClr val="A78BFA"/>
                </a:solidFill>
                <a:latin typeface="Consolas"/>
              </a:rPr>
              <a:t>private</a:t>
            </a:r>
            <a:r>
              <a:rPr sz="1047">
                <a:solidFill>
                  <a:srgbClr val="E6EDF8"/>
                </a:solidFill>
                <a:latin typeface="Consolas"/>
              </a:rPr>
              <a:t> </a:t>
            </a:r>
            <a:r>
              <a:rPr sz="1047">
                <a:solidFill>
                  <a:srgbClr val="A78BFA"/>
                </a:solidFill>
                <a:latin typeface="Consolas"/>
              </a:rPr>
              <a:t>void</a:t>
            </a:r>
            <a:r>
              <a:rPr sz="1047">
                <a:solidFill>
                  <a:srgbClr val="E6EDF8"/>
                </a:solidFill>
                <a:latin typeface="Consolas"/>
              </a:rPr>
              <a:t> updateVelocities(</a:t>
            </a:r>
            <a:r>
              <a:rPr sz="1047">
                <a:solidFill>
                  <a:srgbClr val="A78BFA"/>
                </a:solidFill>
                <a:latin typeface="Consolas"/>
              </a:rPr>
              <a:t>double</a:t>
            </a:r>
            <a:r>
              <a:rPr sz="1047">
                <a:solidFill>
                  <a:srgbClr val="E6EDF8"/>
                </a:solidFill>
                <a:latin typeface="Consolas"/>
              </a:rPr>
              <a:t> now, </a:t>
            </a:r>
            <a:r>
              <a:rPr sz="1047">
                <a:solidFill>
                  <a:srgbClr val="A78BFA"/>
                </a:solidFill>
                <a:latin typeface="Consolas"/>
              </a:rPr>
              <a:t>double</a:t>
            </a:r>
            <a:r>
              <a:rPr sz="1047">
                <a:solidFill>
                  <a:srgbClr val="E6EDF8"/>
                </a:solidFill>
                <a:latin typeface="Consolas"/>
              </a:rPr>
              <a:t> dx, </a:t>
            </a:r>
            <a:r>
              <a:rPr sz="1047">
                <a:solidFill>
                  <a:srgbClr val="A78BFA"/>
                </a:solidFill>
                <a:latin typeface="Consolas"/>
              </a:rPr>
              <a:t>double</a:t>
            </a:r>
            <a:r>
              <a:rPr sz="1047">
                <a:solidFill>
                  <a:srgbClr val="E6EDF8"/>
                </a:solidFill>
                <a:latin typeface="Consolas"/>
              </a:rPr>
              <a:t> dy, </a:t>
            </a:r>
            <a:r>
              <a:rPr sz="1047">
                <a:solidFill>
                  <a:srgbClr val="A78BFA"/>
                </a:solidFill>
                <a:latin typeface="Consolas"/>
              </a:rPr>
              <a:t>double</a:t>
            </a:r>
            <a:r>
              <a:rPr sz="1047">
                <a:solidFill>
                  <a:srgbClr val="E6EDF8"/>
                </a:solidFill>
                <a:latin typeface="Consolas"/>
              </a:rPr>
              <a:t> dTheta) {</a:t>
            </a: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  </a:t>
            </a:r>
            <a:r>
              <a:rPr sz="1047">
                <a:solidFill>
                  <a:srgbClr val="A78BFA"/>
                </a:solidFill>
                <a:latin typeface="Consolas"/>
              </a:rPr>
              <a:t>double</a:t>
            </a:r>
            <a:r>
              <a:rPr sz="1047">
                <a:solidFill>
                  <a:srgbClr val="E6EDF8"/>
                </a:solidFill>
                <a:latin typeface="Consolas"/>
              </a:rPr>
              <a:t> period = (lastTimestamp &gt;= </a:t>
            </a:r>
            <a:r>
              <a:rPr sz="1047">
                <a:solidFill>
                  <a:srgbClr val="F472B6"/>
                </a:solidFill>
                <a:latin typeface="Consolas"/>
              </a:rPr>
              <a:t>0.0</a:t>
            </a:r>
            <a:r>
              <a:rPr sz="1047">
                <a:solidFill>
                  <a:srgbClr val="E6EDF8"/>
                </a:solidFill>
                <a:latin typeface="Consolas"/>
              </a:rPr>
              <a:t>) ? (now - lastTimestamp) : </a:t>
            </a:r>
            <a:r>
              <a:rPr sz="1047">
                <a:solidFill>
                  <a:srgbClr val="F472B6"/>
                </a:solidFill>
                <a:latin typeface="Consolas"/>
              </a:rPr>
              <a:t>0.0</a:t>
            </a:r>
            <a:r>
              <a:rPr sz="1047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  lastTimestamp = now;</a:t>
            </a:r>
          </a:p>
          <a:p>
            <a:pPr algn="l">
              <a:lnSpc>
                <a:spcPct val="120000"/>
              </a:lnSpc>
            </a:pPr>
            <a:endParaRPr sz="1047">
              <a:solidFill>
                <a:srgbClr val="E6EDF8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  </a:t>
            </a:r>
            <a:r>
              <a:rPr sz="1047">
                <a:solidFill>
                  <a:srgbClr val="A78BFA"/>
                </a:solidFill>
                <a:latin typeface="Consolas"/>
              </a:rPr>
              <a:t>if</a:t>
            </a:r>
            <a:r>
              <a:rPr sz="1047">
                <a:solidFill>
                  <a:srgbClr val="E6EDF8"/>
                </a:solidFill>
                <a:latin typeface="Consolas"/>
              </a:rPr>
              <a:t> (period &gt; </a:t>
            </a:r>
            <a:r>
              <a:rPr sz="1047">
                <a:solidFill>
                  <a:srgbClr val="F472B6"/>
                </a:solidFill>
                <a:latin typeface="Consolas"/>
              </a:rPr>
              <a:t>1</a:t>
            </a:r>
            <a:r>
              <a:rPr sz="1047">
                <a:solidFill>
                  <a:srgbClr val="E6EDF8"/>
                </a:solidFill>
                <a:latin typeface="Consolas"/>
              </a:rPr>
              <a:t>e-</a:t>
            </a:r>
            <a:r>
              <a:rPr sz="1047">
                <a:solidFill>
                  <a:srgbClr val="F472B6"/>
                </a:solidFill>
                <a:latin typeface="Consolas"/>
              </a:rPr>
              <a:t>6</a:t>
            </a:r>
            <a:r>
              <a:rPr sz="1047">
                <a:solidFill>
                  <a:srgbClr val="E6EDF8"/>
                </a:solidFill>
                <a:latin typeface="Consolas"/>
              </a:rPr>
              <a:t>) {                 </a:t>
            </a:r>
            <a:r>
              <a:rPr sz="1047" i="1">
                <a:solidFill>
                  <a:srgbClr val="6B82A6"/>
                </a:solidFill>
                <a:latin typeface="Consolas"/>
              </a:rPr>
              <a:t>// periodo real: nao assume 20 ms exatos</a:t>
            </a: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    vxMetersPerSecond = dx / period;</a:t>
            </a: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    vyMetersPerSecond = dy / period;</a:t>
            </a: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    omegaRadPerSecond = dTheta / period;</a:t>
            </a: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  }</a:t>
            </a:r>
          </a:p>
          <a:p>
            <a:pPr algn="l">
              <a:lnSpc>
                <a:spcPct val="120000"/>
              </a:lnSpc>
            </a:pPr>
            <a:r>
              <a:rPr sz="1047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2323490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Odometry.updateVelocities()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526280"/>
            <a:ext cx="6492240" cy="178308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999">
                <a:solidFill>
                  <a:srgbClr val="A78BFA"/>
                </a:solidFill>
                <a:latin typeface="Consolas"/>
              </a:rPr>
              <a:t>private</a:t>
            </a:r>
            <a:r>
              <a:rPr sz="999">
                <a:solidFill>
                  <a:srgbClr val="E6EDF8"/>
                </a:solidFill>
                <a:latin typeface="Consolas"/>
              </a:rPr>
              <a:t> </a:t>
            </a:r>
            <a:r>
              <a:rPr sz="999">
                <a:solidFill>
                  <a:srgbClr val="A78BFA"/>
                </a:solidFill>
                <a:latin typeface="Consolas"/>
              </a:rPr>
              <a:t>void</a:t>
            </a:r>
            <a:r>
              <a:rPr sz="999">
                <a:solidFill>
                  <a:srgbClr val="E6EDF8"/>
                </a:solidFill>
                <a:latin typeface="Consolas"/>
              </a:rPr>
              <a:t> publishTelemetry() {</a:t>
            </a:r>
          </a:p>
          <a:p>
            <a:pPr algn="l">
              <a:lnSpc>
                <a:spcPct val="120000"/>
              </a:lnSpc>
            </a:pPr>
            <a:r>
              <a:rPr sz="999">
                <a:solidFill>
                  <a:srgbClr val="E6EDF8"/>
                </a:solidFill>
                <a:latin typeface="Consolas"/>
              </a:rPr>
              <a:t>  </a:t>
            </a:r>
            <a:r>
              <a:rPr sz="999">
                <a:solidFill>
                  <a:srgbClr val="34D399"/>
                </a:solidFill>
                <a:latin typeface="Consolas"/>
              </a:rPr>
              <a:t>Pose2d</a:t>
            </a:r>
            <a:r>
              <a:rPr sz="999">
                <a:solidFill>
                  <a:srgbClr val="E6EDF8"/>
                </a:solidFill>
                <a:latin typeface="Consolas"/>
              </a:rPr>
              <a:t> pose = getPose();</a:t>
            </a:r>
          </a:p>
          <a:p>
            <a:pPr algn="l">
              <a:lnSpc>
                <a:spcPct val="120000"/>
              </a:lnSpc>
            </a:pPr>
            <a:r>
              <a:rPr sz="999">
                <a:solidFill>
                  <a:srgbClr val="E6EDF8"/>
                </a:solidFill>
                <a:latin typeface="Consolas"/>
              </a:rPr>
              <a:t>  </a:t>
            </a:r>
            <a:r>
              <a:rPr sz="999">
                <a:solidFill>
                  <a:srgbClr val="34D399"/>
                </a:solidFill>
                <a:latin typeface="Consolas"/>
              </a:rPr>
              <a:t>SmartDashboard</a:t>
            </a:r>
            <a:r>
              <a:rPr sz="999">
                <a:solidFill>
                  <a:srgbClr val="E6EDF8"/>
                </a:solidFill>
                <a:latin typeface="Consolas"/>
              </a:rPr>
              <a:t>.putNumber(</a:t>
            </a:r>
            <a:r>
              <a:rPr sz="999">
                <a:solidFill>
                  <a:srgbClr val="FBBF24"/>
                </a:solidFill>
                <a:latin typeface="Consolas"/>
              </a:rPr>
              <a:t>"Odom X (m)"</a:t>
            </a:r>
            <a:r>
              <a:rPr sz="999">
                <a:solidFill>
                  <a:srgbClr val="E6EDF8"/>
                </a:solidFill>
                <a:latin typeface="Consolas"/>
              </a:rPr>
              <a:t>, pose.getTranslation().getX());</a:t>
            </a:r>
          </a:p>
          <a:p>
            <a:pPr algn="l">
              <a:lnSpc>
                <a:spcPct val="120000"/>
              </a:lnSpc>
            </a:pPr>
            <a:r>
              <a:rPr sz="999">
                <a:solidFill>
                  <a:srgbClr val="E6EDF8"/>
                </a:solidFill>
                <a:latin typeface="Consolas"/>
              </a:rPr>
              <a:t>  </a:t>
            </a:r>
            <a:r>
              <a:rPr sz="999">
                <a:solidFill>
                  <a:srgbClr val="34D399"/>
                </a:solidFill>
                <a:latin typeface="Consolas"/>
              </a:rPr>
              <a:t>SmartDashboard</a:t>
            </a:r>
            <a:r>
              <a:rPr sz="999">
                <a:solidFill>
                  <a:srgbClr val="E6EDF8"/>
                </a:solidFill>
                <a:latin typeface="Consolas"/>
              </a:rPr>
              <a:t>.putNumber(</a:t>
            </a:r>
            <a:r>
              <a:rPr sz="999">
                <a:solidFill>
                  <a:srgbClr val="FBBF24"/>
                </a:solidFill>
                <a:latin typeface="Consolas"/>
              </a:rPr>
              <a:t>"Odom Y (m)"</a:t>
            </a:r>
            <a:r>
              <a:rPr sz="999">
                <a:solidFill>
                  <a:srgbClr val="E6EDF8"/>
                </a:solidFill>
                <a:latin typeface="Consolas"/>
              </a:rPr>
              <a:t>, pose.getTranslation().getY());</a:t>
            </a:r>
          </a:p>
          <a:p>
            <a:pPr algn="l">
              <a:lnSpc>
                <a:spcPct val="120000"/>
              </a:lnSpc>
            </a:pPr>
            <a:r>
              <a:rPr sz="999">
                <a:solidFill>
                  <a:srgbClr val="E6EDF8"/>
                </a:solidFill>
                <a:latin typeface="Consolas"/>
              </a:rPr>
              <a:t>  </a:t>
            </a:r>
            <a:r>
              <a:rPr sz="999">
                <a:solidFill>
                  <a:srgbClr val="34D399"/>
                </a:solidFill>
                <a:latin typeface="Consolas"/>
              </a:rPr>
              <a:t>SmartDashboard</a:t>
            </a:r>
            <a:r>
              <a:rPr sz="999">
                <a:solidFill>
                  <a:srgbClr val="E6EDF8"/>
                </a:solidFill>
                <a:latin typeface="Consolas"/>
              </a:rPr>
              <a:t>.putNumber(</a:t>
            </a:r>
            <a:r>
              <a:rPr sz="999">
                <a:solidFill>
                  <a:srgbClr val="FBBF24"/>
                </a:solidFill>
                <a:latin typeface="Consolas"/>
              </a:rPr>
              <a:t>"Odom Theta (deg)"</a:t>
            </a:r>
            <a:r>
              <a:rPr sz="999">
                <a:solidFill>
                  <a:srgbClr val="E6EDF8"/>
                </a:solidFill>
                <a:latin typeface="Consolas"/>
              </a:rPr>
              <a:t>, pose.getRotation().getDegrees());</a:t>
            </a:r>
          </a:p>
          <a:p>
            <a:pPr algn="l">
              <a:lnSpc>
                <a:spcPct val="120000"/>
              </a:lnSpc>
            </a:pPr>
            <a:r>
              <a:rPr sz="999">
                <a:solidFill>
                  <a:srgbClr val="E6EDF8"/>
                </a:solidFill>
                <a:latin typeface="Consolas"/>
              </a:rPr>
              <a:t>  </a:t>
            </a:r>
            <a:r>
              <a:rPr sz="999">
                <a:solidFill>
                  <a:srgbClr val="34D399"/>
                </a:solidFill>
                <a:latin typeface="Consolas"/>
              </a:rPr>
              <a:t>SmartDashboard</a:t>
            </a:r>
            <a:r>
              <a:rPr sz="999">
                <a:solidFill>
                  <a:srgbClr val="E6EDF8"/>
                </a:solidFill>
                <a:latin typeface="Consolas"/>
              </a:rPr>
              <a:t>.putNumber(</a:t>
            </a:r>
            <a:r>
              <a:rPr sz="999">
                <a:solidFill>
                  <a:srgbClr val="FBBF24"/>
                </a:solidFill>
                <a:latin typeface="Consolas"/>
              </a:rPr>
              <a:t>"Odom Vx (m/s)"</a:t>
            </a:r>
            <a:r>
              <a:rPr sz="999">
                <a:solidFill>
                  <a:srgbClr val="E6EDF8"/>
                </a:solidFill>
                <a:latin typeface="Consolas"/>
              </a:rPr>
              <a:t>, odometry.getVxMetersPerSecond());</a:t>
            </a:r>
          </a:p>
          <a:p>
            <a:pPr algn="l">
              <a:lnSpc>
                <a:spcPct val="120000"/>
              </a:lnSpc>
            </a:pPr>
            <a:r>
              <a:rPr sz="999">
                <a:solidFill>
                  <a:srgbClr val="E6EDF8"/>
                </a:solidFill>
                <a:latin typeface="Consolas"/>
              </a:rPr>
              <a:t>  </a:t>
            </a:r>
            <a:r>
              <a:rPr sz="999">
                <a:solidFill>
                  <a:srgbClr val="34D399"/>
                </a:solidFill>
                <a:latin typeface="Consolas"/>
              </a:rPr>
              <a:t>SmartDashboard</a:t>
            </a:r>
            <a:r>
              <a:rPr sz="999">
                <a:solidFill>
                  <a:srgbClr val="E6EDF8"/>
                </a:solidFill>
                <a:latin typeface="Consolas"/>
              </a:rPr>
              <a:t>.putNumber(</a:t>
            </a:r>
            <a:r>
              <a:rPr sz="999">
                <a:solidFill>
                  <a:srgbClr val="FBBF24"/>
                </a:solidFill>
                <a:latin typeface="Consolas"/>
              </a:rPr>
              <a:t>"Odom Vy (m/s)"</a:t>
            </a:r>
            <a:r>
              <a:rPr sz="999">
                <a:solidFill>
                  <a:srgbClr val="E6EDF8"/>
                </a:solidFill>
                <a:latin typeface="Consolas"/>
              </a:rPr>
              <a:t>, odometry.getVyMetersPerSecond());</a:t>
            </a:r>
          </a:p>
          <a:p>
            <a:pPr algn="l">
              <a:lnSpc>
                <a:spcPct val="120000"/>
              </a:lnSpc>
            </a:pPr>
            <a:r>
              <a:rPr sz="999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1" y="4370832"/>
            <a:ext cx="1640433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publishTelemetry()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103120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Período real </a:t>
            </a:r>
            <a:r>
              <a:rPr sz="1250">
                <a:solidFill>
                  <a:srgbClr val="E6EDF8"/>
                </a:solidFill>
                <a:latin typeface="Segoe UI"/>
              </a:rPr>
              <a:t>e não 0.02 fixo: o scheduler não é um relógio perfeito.</a:t>
            </a:r>
          </a:p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Guarda o 1e-6 </a:t>
            </a:r>
            <a:r>
              <a:rPr sz="1250">
                <a:solidFill>
                  <a:srgbClr val="E6EDF8"/>
                </a:solidFill>
                <a:latin typeface="Segoe UI"/>
              </a:rPr>
              <a:t>para não dividir por zero no primeiro ciclo.</a:t>
            </a:r>
          </a:p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Velocidade medida </a:t>
            </a:r>
            <a:r>
              <a:rPr sz="1250">
                <a:solidFill>
                  <a:srgbClr val="E6EDF8"/>
                </a:solidFill>
                <a:latin typeface="Segoe UI"/>
              </a:rPr>
              <a:t>é ouro para depurar: compare com o que você pediu.</a:t>
            </a:r>
          </a:p>
          <a:p>
            <a:pPr>
              <a:lnSpc>
                <a:spcPct val="118000"/>
              </a:lnSpc>
              <a:spcAft>
                <a:spcPts val="1296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Telemetria sempre, </a:t>
            </a:r>
            <a:r>
              <a:rPr sz="1250">
                <a:solidFill>
                  <a:srgbClr val="E6EDF8"/>
                </a:solidFill>
                <a:latin typeface="Segoe UI"/>
              </a:rPr>
              <a:t>inclusive desabilitado. É o seu osciloscópio.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TESTES SEM ROBÔ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A matemática fecha antes de pisar no tapete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3 — 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7223760" cy="3520440"/>
          </a:xfrm>
          <a:prstGeom prst="roundRect">
            <a:avLst>
              <a:gd name="adj" fmla="val 3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19456" tIns="164592" bIns="91440" rtlCol="0" anchor="t"/>
          <a:lstStyle/>
          <a:p>
            <a:pPr algn="l">
              <a:lnSpc>
                <a:spcPct val="120000"/>
              </a:lnSpc>
            </a:pPr>
            <a:r>
              <a:rPr sz="968">
                <a:solidFill>
                  <a:srgbClr val="E6EDF8"/>
                </a:solidFill>
                <a:latin typeface="Consolas"/>
              </a:rPr>
              <a:t>/** </a:t>
            </a:r>
            <a:r>
              <a:rPr sz="968">
                <a:solidFill>
                  <a:srgbClr val="34D399"/>
                </a:solidFill>
                <a:latin typeface="Consolas"/>
              </a:rPr>
              <a:t>Cinematica</a:t>
            </a:r>
            <a:r>
              <a:rPr sz="968">
                <a:solidFill>
                  <a:srgbClr val="E6EDF8"/>
                </a:solidFill>
                <a:latin typeface="Consolas"/>
              </a:rPr>
              <a:t> inversa: quanto cada roda gira para o chassi se deslocar. */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A78BFA"/>
                </a:solidFill>
                <a:latin typeface="Consolas"/>
              </a:rPr>
              <a:t>private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A78BFA"/>
                </a:solidFill>
                <a:latin typeface="Consolas"/>
              </a:rPr>
              <a:t>static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A78BFA"/>
                </a:solidFill>
                <a:latin typeface="Consolas"/>
              </a:rPr>
              <a:t>double</a:t>
            </a:r>
            <a:r>
              <a:rPr sz="968">
                <a:solidFill>
                  <a:srgbClr val="E6EDF8"/>
                </a:solidFill>
                <a:latin typeface="Consolas"/>
              </a:rPr>
              <a:t>[] wheels(</a:t>
            </a:r>
            <a:r>
              <a:rPr sz="968">
                <a:solidFill>
                  <a:srgbClr val="A78BFA"/>
                </a:solidFill>
                <a:latin typeface="Consolas"/>
              </a:rPr>
              <a:t>double</a:t>
            </a:r>
            <a:r>
              <a:rPr sz="968">
                <a:solidFill>
                  <a:srgbClr val="E6EDF8"/>
                </a:solidFill>
                <a:latin typeface="Consolas"/>
              </a:rPr>
              <a:t> dx, </a:t>
            </a:r>
            <a:r>
              <a:rPr sz="968">
                <a:solidFill>
                  <a:srgbClr val="A78BFA"/>
                </a:solidFill>
                <a:latin typeface="Consolas"/>
              </a:rPr>
              <a:t>double</a:t>
            </a:r>
            <a:r>
              <a:rPr sz="968">
                <a:solidFill>
                  <a:srgbClr val="E6EDF8"/>
                </a:solidFill>
                <a:latin typeface="Consolas"/>
              </a:rPr>
              <a:t> dy, </a:t>
            </a:r>
            <a:r>
              <a:rPr sz="968">
                <a:solidFill>
                  <a:srgbClr val="A78BFA"/>
                </a:solidFill>
                <a:latin typeface="Consolas"/>
              </a:rPr>
              <a:t>double</a:t>
            </a:r>
            <a:r>
              <a:rPr sz="968">
                <a:solidFill>
                  <a:srgbClr val="E6EDF8"/>
                </a:solidFill>
                <a:latin typeface="Consolas"/>
              </a:rPr>
              <a:t> dThetaRad) {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E6EDF8"/>
                </a:solidFill>
                <a:latin typeface="Consolas"/>
              </a:rPr>
              <a:t>  </a:t>
            </a:r>
            <a:r>
              <a:rPr sz="968">
                <a:solidFill>
                  <a:srgbClr val="A78BFA"/>
                </a:solidFill>
                <a:latin typeface="Consolas"/>
              </a:rPr>
              <a:t>double</a:t>
            </a:r>
            <a:r>
              <a:rPr sz="968">
                <a:solidFill>
                  <a:srgbClr val="E6EDF8"/>
                </a:solidFill>
                <a:latin typeface="Consolas"/>
              </a:rPr>
              <a:t> arc = </a:t>
            </a:r>
            <a:r>
              <a:rPr sz="968">
                <a:solidFill>
                  <a:srgbClr val="34D399"/>
                </a:solidFill>
                <a:latin typeface="Consolas"/>
              </a:rPr>
              <a:t>R</a:t>
            </a:r>
            <a:r>
              <a:rPr sz="968">
                <a:solidFill>
                  <a:srgbClr val="E6EDF8"/>
                </a:solidFill>
                <a:latin typeface="Consolas"/>
              </a:rPr>
              <a:t> * dThetaRad;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E6EDF8"/>
                </a:solidFill>
                <a:latin typeface="Consolas"/>
              </a:rPr>
              <a:t>  </a:t>
            </a:r>
            <a:r>
              <a:rPr sz="968">
                <a:solidFill>
                  <a:srgbClr val="A78BFA"/>
                </a:solidFill>
                <a:latin typeface="Consolas"/>
              </a:rPr>
              <a:t>return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A78BFA"/>
                </a:solidFill>
                <a:latin typeface="Consolas"/>
              </a:rPr>
              <a:t>new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A78BFA"/>
                </a:solidFill>
                <a:latin typeface="Consolas"/>
              </a:rPr>
              <a:t>double</a:t>
            </a:r>
            <a:r>
              <a:rPr sz="968">
                <a:solidFill>
                  <a:srgbClr val="E6EDF8"/>
                </a:solidFill>
                <a:latin typeface="Consolas"/>
              </a:rPr>
              <a:t>[] { -dx + arc,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E6EDF8"/>
                </a:solidFill>
                <a:latin typeface="Consolas"/>
              </a:rPr>
              <a:t>                         </a:t>
            </a:r>
            <a:r>
              <a:rPr sz="968">
                <a:solidFill>
                  <a:srgbClr val="F472B6"/>
                </a:solidFill>
                <a:latin typeface="Consolas"/>
              </a:rPr>
              <a:t>0.5</a:t>
            </a:r>
            <a:r>
              <a:rPr sz="968">
                <a:solidFill>
                  <a:srgbClr val="E6EDF8"/>
                </a:solidFill>
                <a:latin typeface="Consolas"/>
              </a:rPr>
              <a:t> * dx + (</a:t>
            </a:r>
            <a:r>
              <a:rPr sz="968">
                <a:solidFill>
                  <a:srgbClr val="34D399"/>
                </a:solidFill>
                <a:latin typeface="Consolas"/>
              </a:rPr>
              <a:t>Math</a:t>
            </a:r>
            <a:r>
              <a:rPr sz="968">
                <a:solidFill>
                  <a:srgbClr val="E6EDF8"/>
                </a:solidFill>
                <a:latin typeface="Consolas"/>
              </a:rPr>
              <a:t>.sqrt(</a:t>
            </a:r>
            <a:r>
              <a:rPr sz="968">
                <a:solidFill>
                  <a:srgbClr val="F472B6"/>
                </a:solidFill>
                <a:latin typeface="Consolas"/>
              </a:rPr>
              <a:t>3.0</a:t>
            </a:r>
            <a:r>
              <a:rPr sz="968">
                <a:solidFill>
                  <a:srgbClr val="E6EDF8"/>
                </a:solidFill>
                <a:latin typeface="Consolas"/>
              </a:rPr>
              <a:t>) / </a:t>
            </a:r>
            <a:r>
              <a:rPr sz="968">
                <a:solidFill>
                  <a:srgbClr val="F472B6"/>
                </a:solidFill>
                <a:latin typeface="Consolas"/>
              </a:rPr>
              <a:t>2.0</a:t>
            </a:r>
            <a:r>
              <a:rPr sz="968">
                <a:solidFill>
                  <a:srgbClr val="E6EDF8"/>
                </a:solidFill>
                <a:latin typeface="Consolas"/>
              </a:rPr>
              <a:t>) * dy + arc,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E6EDF8"/>
                </a:solidFill>
                <a:latin typeface="Consolas"/>
              </a:rPr>
              <a:t>                         </a:t>
            </a:r>
            <a:r>
              <a:rPr sz="968">
                <a:solidFill>
                  <a:srgbClr val="F472B6"/>
                </a:solidFill>
                <a:latin typeface="Consolas"/>
              </a:rPr>
              <a:t>0.5</a:t>
            </a:r>
            <a:r>
              <a:rPr sz="968">
                <a:solidFill>
                  <a:srgbClr val="E6EDF8"/>
                </a:solidFill>
                <a:latin typeface="Consolas"/>
              </a:rPr>
              <a:t> * dx - (</a:t>
            </a:r>
            <a:r>
              <a:rPr sz="968">
                <a:solidFill>
                  <a:srgbClr val="34D399"/>
                </a:solidFill>
                <a:latin typeface="Consolas"/>
              </a:rPr>
              <a:t>Math</a:t>
            </a:r>
            <a:r>
              <a:rPr sz="968">
                <a:solidFill>
                  <a:srgbClr val="E6EDF8"/>
                </a:solidFill>
                <a:latin typeface="Consolas"/>
              </a:rPr>
              <a:t>.sqrt(</a:t>
            </a:r>
            <a:r>
              <a:rPr sz="968">
                <a:solidFill>
                  <a:srgbClr val="F472B6"/>
                </a:solidFill>
                <a:latin typeface="Consolas"/>
              </a:rPr>
              <a:t>3.0</a:t>
            </a:r>
            <a:r>
              <a:rPr sz="968">
                <a:solidFill>
                  <a:srgbClr val="E6EDF8"/>
                </a:solidFill>
                <a:latin typeface="Consolas"/>
              </a:rPr>
              <a:t>) / </a:t>
            </a:r>
            <a:r>
              <a:rPr sz="968">
                <a:solidFill>
                  <a:srgbClr val="F472B6"/>
                </a:solidFill>
                <a:latin typeface="Consolas"/>
              </a:rPr>
              <a:t>2.0</a:t>
            </a:r>
            <a:r>
              <a:rPr sz="968">
                <a:solidFill>
                  <a:srgbClr val="E6EDF8"/>
                </a:solidFill>
                <a:latin typeface="Consolas"/>
              </a:rPr>
              <a:t>) * dy + arc };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E6EDF8"/>
                </a:solidFill>
                <a:latin typeface="Consolas"/>
              </a:rPr>
              <a:t>}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FB8E3C"/>
                </a:solidFill>
                <a:latin typeface="Consolas"/>
              </a:rPr>
              <a:t>@Test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A78BFA"/>
                </a:solidFill>
                <a:latin typeface="Consolas"/>
              </a:rPr>
              <a:t>public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A78BFA"/>
                </a:solidFill>
                <a:latin typeface="Consolas"/>
              </a:rPr>
              <a:t>void</a:t>
            </a:r>
            <a:r>
              <a:rPr sz="968">
                <a:solidFill>
                  <a:srgbClr val="E6EDF8"/>
                </a:solidFill>
                <a:latin typeface="Consolas"/>
              </a:rPr>
              <a:t> quadradoFechaNaOrigem() {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E6EDF8"/>
                </a:solidFill>
                <a:latin typeface="Consolas"/>
              </a:rPr>
              <a:t>  </a:t>
            </a:r>
            <a:r>
              <a:rPr sz="968">
                <a:solidFill>
                  <a:srgbClr val="34D399"/>
                </a:solidFill>
                <a:latin typeface="Consolas"/>
              </a:rPr>
              <a:t>WheelSim</a:t>
            </a:r>
            <a:r>
              <a:rPr sz="968">
                <a:solidFill>
                  <a:srgbClr val="E6EDF8"/>
                </a:solidFill>
                <a:latin typeface="Consolas"/>
              </a:rPr>
              <a:t> sim = </a:t>
            </a:r>
            <a:r>
              <a:rPr sz="968">
                <a:solidFill>
                  <a:srgbClr val="A78BFA"/>
                </a:solidFill>
                <a:latin typeface="Consolas"/>
              </a:rPr>
              <a:t>new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34D399"/>
                </a:solidFill>
                <a:latin typeface="Consolas"/>
              </a:rPr>
              <a:t>WheelSim</a:t>
            </a:r>
            <a:r>
              <a:rPr sz="968">
                <a:solidFill>
                  <a:srgbClr val="E6EDF8"/>
                </a:solidFill>
                <a:latin typeface="Consolas"/>
              </a:rPr>
              <a:t>();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E6EDF8"/>
                </a:solidFill>
                <a:latin typeface="Consolas"/>
              </a:rPr>
              <a:t>  </a:t>
            </a:r>
            <a:r>
              <a:rPr sz="968">
                <a:solidFill>
                  <a:srgbClr val="A78BFA"/>
                </a:solidFill>
                <a:latin typeface="Consolas"/>
              </a:rPr>
              <a:t>double</a:t>
            </a:r>
            <a:r>
              <a:rPr sz="968">
                <a:solidFill>
                  <a:srgbClr val="E6EDF8"/>
                </a:solidFill>
                <a:latin typeface="Consolas"/>
              </a:rPr>
              <a:t> side = </a:t>
            </a:r>
            <a:r>
              <a:rPr sz="968">
                <a:solidFill>
                  <a:srgbClr val="F472B6"/>
                </a:solidFill>
                <a:latin typeface="Consolas"/>
              </a:rPr>
              <a:t>0.5</a:t>
            </a:r>
            <a:r>
              <a:rPr sz="968">
                <a:solidFill>
                  <a:srgbClr val="E6EDF8"/>
                </a:solidFill>
                <a:latin typeface="Consolas"/>
              </a:rPr>
              <a:t>;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E6EDF8"/>
                </a:solidFill>
                <a:latin typeface="Consolas"/>
              </a:rPr>
              <a:t>  sim.drive( side,   </a:t>
            </a:r>
            <a:r>
              <a:rPr sz="968">
                <a:solidFill>
                  <a:srgbClr val="F472B6"/>
                </a:solidFill>
                <a:latin typeface="Consolas"/>
              </a:rPr>
              <a:t>0.0</a:t>
            </a:r>
            <a:r>
              <a:rPr sz="968">
                <a:solidFill>
                  <a:srgbClr val="E6EDF8"/>
                </a:solidFill>
                <a:latin typeface="Consolas"/>
              </a:rPr>
              <a:t>, </a:t>
            </a:r>
            <a:r>
              <a:rPr sz="968">
                <a:solidFill>
                  <a:srgbClr val="F472B6"/>
                </a:solidFill>
                <a:latin typeface="Consolas"/>
              </a:rPr>
              <a:t>0.0</a:t>
            </a:r>
            <a:r>
              <a:rPr sz="968">
                <a:solidFill>
                  <a:srgbClr val="E6EDF8"/>
                </a:solidFill>
                <a:latin typeface="Consolas"/>
              </a:rPr>
              <a:t>, </a:t>
            </a:r>
            <a:r>
              <a:rPr sz="968">
                <a:solidFill>
                  <a:srgbClr val="A78BFA"/>
                </a:solidFill>
                <a:latin typeface="Consolas"/>
              </a:rPr>
              <a:t>new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34D399"/>
                </a:solidFill>
                <a:latin typeface="Consolas"/>
              </a:rPr>
              <a:t>Rotation2d</a:t>
            </a:r>
            <a:r>
              <a:rPr sz="968">
                <a:solidFill>
                  <a:srgbClr val="E6EDF8"/>
                </a:solidFill>
                <a:latin typeface="Consolas"/>
              </a:rPr>
              <a:t>(), </a:t>
            </a:r>
            <a:r>
              <a:rPr sz="968">
                <a:solidFill>
                  <a:srgbClr val="F472B6"/>
                </a:solidFill>
                <a:latin typeface="Consolas"/>
              </a:rPr>
              <a:t>25</a:t>
            </a:r>
            <a:r>
              <a:rPr sz="968">
                <a:solidFill>
                  <a:srgbClr val="E6EDF8"/>
                </a:solidFill>
                <a:latin typeface="Consolas"/>
              </a:rPr>
              <a:t>);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E6EDF8"/>
                </a:solidFill>
                <a:latin typeface="Consolas"/>
              </a:rPr>
              <a:t>  sim.drive(  </a:t>
            </a:r>
            <a:r>
              <a:rPr sz="968">
                <a:solidFill>
                  <a:srgbClr val="F472B6"/>
                </a:solidFill>
                <a:latin typeface="Consolas"/>
              </a:rPr>
              <a:t>0.0</a:t>
            </a:r>
            <a:r>
              <a:rPr sz="968">
                <a:solidFill>
                  <a:srgbClr val="E6EDF8"/>
                </a:solidFill>
                <a:latin typeface="Consolas"/>
              </a:rPr>
              <a:t>,  side, </a:t>
            </a:r>
            <a:r>
              <a:rPr sz="968">
                <a:solidFill>
                  <a:srgbClr val="F472B6"/>
                </a:solidFill>
                <a:latin typeface="Consolas"/>
              </a:rPr>
              <a:t>0.0</a:t>
            </a:r>
            <a:r>
              <a:rPr sz="968">
                <a:solidFill>
                  <a:srgbClr val="E6EDF8"/>
                </a:solidFill>
                <a:latin typeface="Consolas"/>
              </a:rPr>
              <a:t>, </a:t>
            </a:r>
            <a:r>
              <a:rPr sz="968">
                <a:solidFill>
                  <a:srgbClr val="A78BFA"/>
                </a:solidFill>
                <a:latin typeface="Consolas"/>
              </a:rPr>
              <a:t>new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34D399"/>
                </a:solidFill>
                <a:latin typeface="Consolas"/>
              </a:rPr>
              <a:t>Rotation2d</a:t>
            </a:r>
            <a:r>
              <a:rPr sz="968">
                <a:solidFill>
                  <a:srgbClr val="E6EDF8"/>
                </a:solidFill>
                <a:latin typeface="Consolas"/>
              </a:rPr>
              <a:t>(), </a:t>
            </a:r>
            <a:r>
              <a:rPr sz="968">
                <a:solidFill>
                  <a:srgbClr val="F472B6"/>
                </a:solidFill>
                <a:latin typeface="Consolas"/>
              </a:rPr>
              <a:t>25</a:t>
            </a:r>
            <a:r>
              <a:rPr sz="968">
                <a:solidFill>
                  <a:srgbClr val="E6EDF8"/>
                </a:solidFill>
                <a:latin typeface="Consolas"/>
              </a:rPr>
              <a:t>);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E6EDF8"/>
                </a:solidFill>
                <a:latin typeface="Consolas"/>
              </a:rPr>
              <a:t>  sim.drive(-side,   </a:t>
            </a:r>
            <a:r>
              <a:rPr sz="968">
                <a:solidFill>
                  <a:srgbClr val="F472B6"/>
                </a:solidFill>
                <a:latin typeface="Consolas"/>
              </a:rPr>
              <a:t>0.0</a:t>
            </a:r>
            <a:r>
              <a:rPr sz="968">
                <a:solidFill>
                  <a:srgbClr val="E6EDF8"/>
                </a:solidFill>
                <a:latin typeface="Consolas"/>
              </a:rPr>
              <a:t>, </a:t>
            </a:r>
            <a:r>
              <a:rPr sz="968">
                <a:solidFill>
                  <a:srgbClr val="F472B6"/>
                </a:solidFill>
                <a:latin typeface="Consolas"/>
              </a:rPr>
              <a:t>0.0</a:t>
            </a:r>
            <a:r>
              <a:rPr sz="968">
                <a:solidFill>
                  <a:srgbClr val="E6EDF8"/>
                </a:solidFill>
                <a:latin typeface="Consolas"/>
              </a:rPr>
              <a:t>, </a:t>
            </a:r>
            <a:r>
              <a:rPr sz="968">
                <a:solidFill>
                  <a:srgbClr val="A78BFA"/>
                </a:solidFill>
                <a:latin typeface="Consolas"/>
              </a:rPr>
              <a:t>new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34D399"/>
                </a:solidFill>
                <a:latin typeface="Consolas"/>
              </a:rPr>
              <a:t>Rotation2d</a:t>
            </a:r>
            <a:r>
              <a:rPr sz="968">
                <a:solidFill>
                  <a:srgbClr val="E6EDF8"/>
                </a:solidFill>
                <a:latin typeface="Consolas"/>
              </a:rPr>
              <a:t>(), </a:t>
            </a:r>
            <a:r>
              <a:rPr sz="968">
                <a:solidFill>
                  <a:srgbClr val="F472B6"/>
                </a:solidFill>
                <a:latin typeface="Consolas"/>
              </a:rPr>
              <a:t>25</a:t>
            </a:r>
            <a:r>
              <a:rPr sz="968">
                <a:solidFill>
                  <a:srgbClr val="E6EDF8"/>
                </a:solidFill>
                <a:latin typeface="Consolas"/>
              </a:rPr>
              <a:t>);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E6EDF8"/>
                </a:solidFill>
                <a:latin typeface="Consolas"/>
              </a:rPr>
              <a:t>  sim.drive(  </a:t>
            </a:r>
            <a:r>
              <a:rPr sz="968">
                <a:solidFill>
                  <a:srgbClr val="F472B6"/>
                </a:solidFill>
                <a:latin typeface="Consolas"/>
              </a:rPr>
              <a:t>0.0</a:t>
            </a:r>
            <a:r>
              <a:rPr sz="968">
                <a:solidFill>
                  <a:srgbClr val="E6EDF8"/>
                </a:solidFill>
                <a:latin typeface="Consolas"/>
              </a:rPr>
              <a:t>, -side, </a:t>
            </a:r>
            <a:r>
              <a:rPr sz="968">
                <a:solidFill>
                  <a:srgbClr val="F472B6"/>
                </a:solidFill>
                <a:latin typeface="Consolas"/>
              </a:rPr>
              <a:t>0.0</a:t>
            </a:r>
            <a:r>
              <a:rPr sz="968">
                <a:solidFill>
                  <a:srgbClr val="E6EDF8"/>
                </a:solidFill>
                <a:latin typeface="Consolas"/>
              </a:rPr>
              <a:t>, </a:t>
            </a:r>
            <a:r>
              <a:rPr sz="968">
                <a:solidFill>
                  <a:srgbClr val="A78BFA"/>
                </a:solidFill>
                <a:latin typeface="Consolas"/>
              </a:rPr>
              <a:t>new</a:t>
            </a:r>
            <a:r>
              <a:rPr sz="968">
                <a:solidFill>
                  <a:srgbClr val="E6EDF8"/>
                </a:solidFill>
                <a:latin typeface="Consolas"/>
              </a:rPr>
              <a:t> </a:t>
            </a:r>
            <a:r>
              <a:rPr sz="968">
                <a:solidFill>
                  <a:srgbClr val="34D399"/>
                </a:solidFill>
                <a:latin typeface="Consolas"/>
              </a:rPr>
              <a:t>Rotation2d</a:t>
            </a:r>
            <a:r>
              <a:rPr sz="968">
                <a:solidFill>
                  <a:srgbClr val="E6EDF8"/>
                </a:solidFill>
                <a:latin typeface="Consolas"/>
              </a:rPr>
              <a:t>(), </a:t>
            </a:r>
            <a:r>
              <a:rPr sz="968">
                <a:solidFill>
                  <a:srgbClr val="F472B6"/>
                </a:solidFill>
                <a:latin typeface="Consolas"/>
              </a:rPr>
              <a:t>25</a:t>
            </a:r>
            <a:r>
              <a:rPr sz="968">
                <a:solidFill>
                  <a:srgbClr val="E6EDF8"/>
                </a:solidFill>
                <a:latin typeface="Consolas"/>
              </a:rPr>
              <a:t>);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E6EDF8"/>
                </a:solidFill>
                <a:latin typeface="Consolas"/>
              </a:rPr>
              <a:t>  assertEquals(</a:t>
            </a:r>
            <a:r>
              <a:rPr sz="968">
                <a:solidFill>
                  <a:srgbClr val="F472B6"/>
                </a:solidFill>
                <a:latin typeface="Consolas"/>
              </a:rPr>
              <a:t>0.0</a:t>
            </a:r>
            <a:r>
              <a:rPr sz="968">
                <a:solidFill>
                  <a:srgbClr val="E6EDF8"/>
                </a:solidFill>
                <a:latin typeface="Consolas"/>
              </a:rPr>
              <a:t>, sim.pose().getTranslation().getX(), </a:t>
            </a:r>
            <a:r>
              <a:rPr sz="968">
                <a:solidFill>
                  <a:srgbClr val="F472B6"/>
                </a:solidFill>
                <a:latin typeface="Consolas"/>
              </a:rPr>
              <a:t>1</a:t>
            </a:r>
            <a:r>
              <a:rPr sz="968">
                <a:solidFill>
                  <a:srgbClr val="E6EDF8"/>
                </a:solidFill>
                <a:latin typeface="Consolas"/>
              </a:rPr>
              <a:t>e-</a:t>
            </a:r>
            <a:r>
              <a:rPr sz="968">
                <a:solidFill>
                  <a:srgbClr val="F472B6"/>
                </a:solidFill>
                <a:latin typeface="Consolas"/>
              </a:rPr>
              <a:t>6</a:t>
            </a:r>
            <a:r>
              <a:rPr sz="968">
                <a:solidFill>
                  <a:srgbClr val="E6EDF8"/>
                </a:solidFill>
                <a:latin typeface="Consolas"/>
              </a:rPr>
              <a:t>);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E6EDF8"/>
                </a:solidFill>
                <a:latin typeface="Consolas"/>
              </a:rPr>
              <a:t>  assertEquals(</a:t>
            </a:r>
            <a:r>
              <a:rPr sz="968">
                <a:solidFill>
                  <a:srgbClr val="F472B6"/>
                </a:solidFill>
                <a:latin typeface="Consolas"/>
              </a:rPr>
              <a:t>0.0</a:t>
            </a:r>
            <a:r>
              <a:rPr sz="968">
                <a:solidFill>
                  <a:srgbClr val="E6EDF8"/>
                </a:solidFill>
                <a:latin typeface="Consolas"/>
              </a:rPr>
              <a:t>, sim.pose().getTranslation().getY(), </a:t>
            </a:r>
            <a:r>
              <a:rPr sz="968">
                <a:solidFill>
                  <a:srgbClr val="F472B6"/>
                </a:solidFill>
                <a:latin typeface="Consolas"/>
              </a:rPr>
              <a:t>1</a:t>
            </a:r>
            <a:r>
              <a:rPr sz="968">
                <a:solidFill>
                  <a:srgbClr val="E6EDF8"/>
                </a:solidFill>
                <a:latin typeface="Consolas"/>
              </a:rPr>
              <a:t>e-</a:t>
            </a:r>
            <a:r>
              <a:rPr sz="968">
                <a:solidFill>
                  <a:srgbClr val="F472B6"/>
                </a:solidFill>
                <a:latin typeface="Consolas"/>
              </a:rPr>
              <a:t>6</a:t>
            </a:r>
            <a:r>
              <a:rPr sz="968">
                <a:solidFill>
                  <a:srgbClr val="E6EDF8"/>
                </a:solidFill>
                <a:latin typeface="Consolas"/>
              </a:rPr>
              <a:t>);</a:t>
            </a:r>
          </a:p>
          <a:p>
            <a:pPr algn="l">
              <a:lnSpc>
                <a:spcPct val="120000"/>
              </a:lnSpc>
            </a:pPr>
            <a:r>
              <a:rPr sz="968">
                <a:solidFill>
                  <a:srgbClr val="E6EDF8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1" y="1856232"/>
            <a:ext cx="1564538" cy="301752"/>
          </a:xfrm>
          <a:prstGeom prst="roundRect">
            <a:avLst>
              <a:gd name="adj" fmla="val 4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38D9F0"/>
                </a:solidFill>
                <a:latin typeface="Consolas"/>
              </a:rPr>
              <a:t>OdometryTest.java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103120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A ideia: </a:t>
            </a:r>
            <a:r>
              <a:rPr sz="1250">
                <a:solidFill>
                  <a:srgbClr val="E6EDF8"/>
                </a:solidFill>
                <a:latin typeface="Segoe UI"/>
              </a:rPr>
              <a:t>simular os encoders. Do movimento conhecido do chassi, calcular quanto cada roda giraria, e alimentar a odometria.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Ida e volta: </a:t>
            </a:r>
            <a:r>
              <a:rPr sz="1250">
                <a:solidFill>
                  <a:srgbClr val="E6EDF8"/>
                </a:solidFill>
                <a:latin typeface="Segoe UI"/>
              </a:rPr>
              <a:t>se a pose estimada bate com o movimento imposto, a matemática fechou.</a:t>
            </a:r>
          </a:p>
          <a:p>
            <a:pPr>
              <a:lnSpc>
                <a:spcPct val="118000"/>
              </a:lnSpc>
              <a:spcAft>
                <a:spcPts val="1440"/>
              </a:spcAft>
            </a:pPr>
            <a:r>
              <a:rPr sz="1250">
                <a:solidFill>
                  <a:srgbClr val="38D9F0"/>
                </a:solidFill>
                <a:latin typeface="Segoe UI"/>
              </a:rPr>
              <a:t>▸  </a:t>
            </a:r>
            <a:r>
              <a:rPr sz="1250" b="1">
                <a:solidFill>
                  <a:srgbClr val="FBBF24"/>
                </a:solidFill>
                <a:latin typeface="Segoe UI"/>
              </a:rPr>
              <a:t>Sem HAL, sem robô. </a:t>
            </a:r>
            <a:r>
              <a:rPr sz="1250">
                <a:solidFill>
                  <a:srgbClr val="E6EDF8"/>
                </a:solidFill>
                <a:latin typeface="Segoe UI"/>
              </a:rPr>
              <a:t>É por isso que Odometry não toca em hardware.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4956048"/>
            <a:ext cx="2971800" cy="548640"/>
          </a:xfrm>
          <a:prstGeom prst="roundRect">
            <a:avLst>
              <a:gd name="adj" fmla="val 20000"/>
            </a:avLst>
          </a:prstGeom>
          <a:solidFill>
            <a:srgbClr val="1E2E4A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49640" y="5084064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4D399"/>
                </a:solidFill>
                <a:latin typeface="Consolas"/>
              </a:rPr>
              <a:t>./gradlew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5559552"/>
            <a:ext cx="10469880" cy="749808"/>
          </a:xfrm>
          <a:prstGeom prst="roundRect">
            <a:avLst>
              <a:gd name="adj" fmla="val 10000"/>
            </a:avLst>
          </a:prstGeom>
          <a:solidFill>
            <a:srgbClr val="2620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9848" y="579729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FBBF24"/>
                </a:solidFill>
                <a:latin typeface="Segoe UI"/>
              </a:rPr>
              <a:t>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2184" y="5650992"/>
            <a:ext cx="9646919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E6EDF8"/>
                </a:solidFill>
                <a:latin typeface="Segoe UI"/>
              </a:rPr>
              <a:t>Os 11 testes cobrem: as três cinemáticas diretas, andar reto, andar de lado, girar no lugar, o acoplamento ângulo×eixo, o quadrado, os dois resets e a velocidade.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FONTES DE ERRO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Por que a pose “foge” — em ordem de impacto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3 — 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10469880" cy="73152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1560" y="216712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B1220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2231136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472B6"/>
                </a:solidFill>
                <a:latin typeface="Segoe UI"/>
              </a:rPr>
              <a:t>Escorregamento dos rolos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12264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Aceleração brusca, colisão, rampa. A roda gira e o robô não anda. Mitigação: SlewRateLimiter e velocidade moderada.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862072"/>
            <a:ext cx="10469880" cy="73152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1560" y="3017520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B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B1220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308152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8E3C"/>
                </a:solidFill>
                <a:latin typeface="Segoe UI"/>
              </a:rPr>
              <a:t>Diâmetro da roda errado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962656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Erro proporcional em TODA distância. Mitigação: calibrar andando 2 m medidos.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712464"/>
            <a:ext cx="10469880" cy="73152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51560" y="3867912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B1220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393192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BF24"/>
                </a:solidFill>
                <a:latin typeface="Segoe UI"/>
              </a:rPr>
              <a:t>Raio do chassi errado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813048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Só afeta o dθ estimado pelas rodas — aqui, apenas a velocidade angular, já que θ vem da IMU.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562856"/>
            <a:ext cx="10469880" cy="731520"/>
          </a:xfrm>
          <a:prstGeom prst="roundRect">
            <a:avLst>
              <a:gd name="adj" fmla="val 14000"/>
            </a:avLst>
          </a:prstGeom>
          <a:solidFill>
            <a:srgbClr val="0B1220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51560" y="4718304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B1220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478231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78BFA"/>
                </a:solidFill>
                <a:latin typeface="Segoe UI"/>
              </a:rPr>
              <a:t>Deriva da IMU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66344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Graus por minuto. Mitigação: resetHeading entre manobras, ou correção por visão/parede.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413248"/>
            <a:ext cx="10469880" cy="73152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1560" y="5568696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B1220"/>
                </a:solidFill>
                <a:latin typeface="Segoe U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4208" y="5632704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38D9F0"/>
                </a:solidFill>
                <a:latin typeface="Segoe UI"/>
              </a:rPr>
              <a:t>Ciclos perdidos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5513832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E6EDF8"/>
                </a:solidFill>
                <a:latin typeface="Segoe UI"/>
              </a:rPr>
              <a:t>Código bloqueante no periodic faz o passo de integração crescer e a aproximação piorar.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CHECKLIST NO TAPETE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A ordem em que você deve conferir o robô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3 — 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5029200" cy="1188720"/>
          </a:xfrm>
          <a:prstGeom prst="roundRect">
            <a:avLst>
              <a:gd name="adj" fmla="val 9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2139696"/>
            <a:ext cx="50292" cy="932688"/>
          </a:xfrm>
          <a:prstGeom prst="rect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88136" y="2194560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B1220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8488" y="2231136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38D9F0"/>
                </a:solidFill>
                <a:latin typeface="Segoe UI"/>
              </a:rPr>
              <a:t>Rodas na direção certa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2578608"/>
            <a:ext cx="4114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Robô suspenso. Mande giro puro (vx=vy=0, ω=1): as três rodas devem girar no MESMO sentido. Se não, ajuste setInverted().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2011680"/>
            <a:ext cx="5029200" cy="1188720"/>
          </a:xfrm>
          <a:prstGeom prst="roundRect">
            <a:avLst>
              <a:gd name="adj" fmla="val 9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53912" y="2139696"/>
            <a:ext cx="50292" cy="93268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73368" y="2194560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B1220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231136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A78BFA"/>
                </a:solidFill>
                <a:latin typeface="Segoe UI"/>
              </a:rPr>
              <a:t>IMU no sentido certo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578608"/>
            <a:ext cx="4114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Gire o robô no sentido anti-horário na mão: Odom Theta deve AUMENTAR. Se diminuir, inverta kGyroReversed.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383280"/>
            <a:ext cx="5029200" cy="1188720"/>
          </a:xfrm>
          <a:prstGeom prst="roundRect">
            <a:avLst>
              <a:gd name="adj" fmla="val 9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68680" y="3511296"/>
            <a:ext cx="50292" cy="93268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88136" y="3566160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B1220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18488" y="3602736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BBF24"/>
                </a:solidFill>
                <a:latin typeface="Segoe UI"/>
              </a:rPr>
              <a:t>Eixos da odometria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" y="3950208"/>
            <a:ext cx="4114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Empurre 1 m para a frente, desabilitado. Veja qual número (Odom X ou Odom Y) se move e confirme a convenção de nomes.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3383280"/>
            <a:ext cx="5029200" cy="1188720"/>
          </a:xfrm>
          <a:prstGeom prst="roundRect">
            <a:avLst>
              <a:gd name="adj" fmla="val 9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53912" y="3511296"/>
            <a:ext cx="50292" cy="93268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373368" y="3566160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B1220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602736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34D399"/>
                </a:solidFill>
                <a:latin typeface="Segoe UI"/>
              </a:rPr>
              <a:t>Escala da distância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950208"/>
            <a:ext cx="4114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Marque 2,00 m. Se o robô reporta 1,90 m, corrija kWheelDiameterMeters na proporção 2,00/1,90.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4754880"/>
            <a:ext cx="5029200" cy="1188720"/>
          </a:xfrm>
          <a:prstGeom prst="roundRect">
            <a:avLst>
              <a:gd name="adj" fmla="val 9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68680" y="4882896"/>
            <a:ext cx="50292" cy="932688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88136" y="4937760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B1220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18488" y="4974336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472B6"/>
                </a:solidFill>
                <a:latin typeface="Segoe UI"/>
              </a:rPr>
              <a:t>Field-oriented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18488" y="5321808"/>
            <a:ext cx="4114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Gire o robô 90° e empurre o joystick para frente: ele deve ir para a mesma direção do campo de antes.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53912" y="4754880"/>
            <a:ext cx="5029200" cy="1188720"/>
          </a:xfrm>
          <a:prstGeom prst="roundRect">
            <a:avLst>
              <a:gd name="adj" fmla="val 9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53912" y="4882896"/>
            <a:ext cx="50292" cy="932688"/>
          </a:xfrm>
          <a:prstGeom prst="rect">
            <a:avLst/>
          </a:prstGeom>
          <a:solidFill>
            <a:srgbClr val="FB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373368" y="4937760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FB8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B1220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974336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B8E3C"/>
                </a:solidFill>
                <a:latin typeface="Segoe UI"/>
              </a:rPr>
              <a:t>Fechamento do quadrado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5321808"/>
            <a:ext cx="4114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93A6C4"/>
                </a:solidFill>
                <a:latin typeface="Segoe UI"/>
              </a:rPr>
              <a:t>Rode o Auto 2 e marque o ponto de partida com fita. O erro de volta ao ponto é a sua métrica de qualidade.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FECHANDO O CICLO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Do joystick ao campo, e de volta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3 — 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48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194560"/>
            <a:ext cx="1291916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8D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joystick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X, Y, Z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15460" y="2519172"/>
            <a:ext cx="128016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398340" y="2194560"/>
            <a:ext cx="1291916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8D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deadband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+ rescale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745121" y="2519172"/>
            <a:ext cx="128016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928001" y="2194560"/>
            <a:ext cx="1291916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SlewRate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Limiter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274781" y="2519172"/>
            <a:ext cx="128016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57661" y="2194560"/>
            <a:ext cx="1291916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campo → robô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rotação de -θ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804442" y="2519172"/>
            <a:ext cx="128016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987322" y="2194560"/>
            <a:ext cx="1291916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cinemática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inversa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334102" y="2519172"/>
            <a:ext cx="128016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516982" y="2194560"/>
            <a:ext cx="1291916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normaliza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|max| ≤ 1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863763" y="2519172"/>
            <a:ext cx="128016" cy="219456"/>
          </a:xfrm>
          <a:prstGeom prst="rightArrow">
            <a:avLst/>
          </a:prstGeom>
          <a:solidFill>
            <a:srgbClr val="38D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046643" y="2194560"/>
            <a:ext cx="1291916" cy="868680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× kMaxRPM</a:t>
            </a:r>
          </a:p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E6EDF8"/>
                </a:solidFill>
                <a:latin typeface="Consolas"/>
              </a:rPr>
              <a:t>PID por roda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200400"/>
            <a:ext cx="10469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COMANDO  ·  o que o robô deve fazer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6035040" y="3566160"/>
            <a:ext cx="274320" cy="411480"/>
          </a:xfrm>
          <a:prstGeom prst="downArrow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31920" y="4069080"/>
            <a:ext cx="4343400" cy="640080"/>
          </a:xfrm>
          <a:prstGeom prst="roundRect">
            <a:avLst>
              <a:gd name="adj" fmla="val 20000"/>
            </a:avLst>
          </a:prstGeom>
          <a:solidFill>
            <a:srgbClr val="1E2E4A"/>
          </a:solidFill>
          <a:ln w="1778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BBF24"/>
                </a:solidFill>
                <a:latin typeface="Segoe UI"/>
              </a:rPr>
              <a:t>ROBÔ FÍSICO  ·  rodas giram no tapete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6035040" y="4800600"/>
            <a:ext cx="274320" cy="411480"/>
          </a:xfrm>
          <a:prstGeom prst="down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68680" y="5349240"/>
            <a:ext cx="1516380" cy="566928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6EDF8"/>
                </a:solidFill>
                <a:latin typeface="Consolas"/>
              </a:rPr>
              <a:t>3 encoders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439924" y="5522975"/>
            <a:ext cx="164592" cy="219456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659380" y="5349240"/>
            <a:ext cx="1516380" cy="566928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6EDF8"/>
                </a:solidFill>
                <a:latin typeface="Consolas"/>
              </a:rPr>
              <a:t>Δ do ciclo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4230623" y="5522975"/>
            <a:ext cx="164592" cy="219456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450080" y="5349240"/>
            <a:ext cx="1516380" cy="566928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6EDF8"/>
                </a:solidFill>
                <a:latin typeface="Consolas"/>
              </a:rPr>
              <a:t>cinemática direta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021323" y="5522975"/>
            <a:ext cx="164592" cy="219456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240780" y="5349240"/>
            <a:ext cx="1516380" cy="566928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6EDF8"/>
                </a:solidFill>
                <a:latin typeface="Consolas"/>
              </a:rPr>
              <a:t>Twist2d + θ IMU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7812024" y="5522975"/>
            <a:ext cx="164592" cy="219456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031480" y="5349240"/>
            <a:ext cx="1516380" cy="566928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6EDF8"/>
                </a:solidFill>
                <a:latin typeface="Consolas"/>
              </a:rPr>
              <a:t>pose.exp()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602724" y="5522975"/>
            <a:ext cx="164592" cy="219456"/>
          </a:xfrm>
          <a:prstGeom prst="righ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822179" y="5349240"/>
            <a:ext cx="1516380" cy="566928"/>
          </a:xfrm>
          <a:prstGeom prst="roundRect">
            <a:avLst>
              <a:gd name="adj" fmla="val 14000"/>
            </a:avLst>
          </a:prstGeom>
          <a:solidFill>
            <a:srgbClr val="162238"/>
          </a:solidFill>
          <a:ln w="15875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50" b="0">
                <a:solidFill>
                  <a:srgbClr val="E6EDF8"/>
                </a:solidFill>
                <a:latin typeface="Consolas"/>
              </a:rPr>
              <a:t>Pose2d no campo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6053328"/>
            <a:ext cx="10469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34D399"/>
                </a:solidFill>
                <a:latin typeface="Segoe UI"/>
              </a:rPr>
              <a:t>ESTIMATIVA  ·  onde o robô realmente está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1874519"/>
            <a:ext cx="10469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93A6C4"/>
                </a:solidFill>
                <a:latin typeface="Segoe UI"/>
              </a:rPr>
              <a:t>A cinemática inversa e a direta são a MESMA matemática, lida nos dois sentidos.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MÃO NA MASSA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Exercícios em ordem crescente de dificuldade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3 — 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10469880" cy="621792"/>
          </a:xfrm>
          <a:prstGeom prst="roundRect">
            <a:avLst>
              <a:gd name="adj" fmla="val 16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24128" y="2139696"/>
            <a:ext cx="914400" cy="365760"/>
          </a:xfrm>
          <a:prstGeom prst="roundRect">
            <a:avLst>
              <a:gd name="adj" fmla="val 4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B1220"/>
                </a:solidFill>
                <a:latin typeface="Segoe UI"/>
              </a:rPr>
              <a:t>Fácil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048256"/>
            <a:ext cx="9052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Publique no dashboard a distância de cada encoder e confirme, empurrando o robô na mão, os sinais das três rodas.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734056"/>
            <a:ext cx="10469880" cy="621792"/>
          </a:xfrm>
          <a:prstGeom prst="roundRect">
            <a:avLst>
              <a:gd name="adj" fmla="val 16000"/>
            </a:avLst>
          </a:prstGeom>
          <a:solidFill>
            <a:srgbClr val="0B1220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24128" y="2862072"/>
            <a:ext cx="914400" cy="365760"/>
          </a:xfrm>
          <a:prstGeom prst="roundRect">
            <a:avLst>
              <a:gd name="adj" fmla="val 4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B1220"/>
                </a:solidFill>
                <a:latin typeface="Segoe UI"/>
              </a:rPr>
              <a:t>Fácil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770632"/>
            <a:ext cx="9052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Crie um botão que chame resetOdometry() sem zerar a IMU, e explique a diferença em relação ao resetHeading().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456432"/>
            <a:ext cx="10469880" cy="621792"/>
          </a:xfrm>
          <a:prstGeom prst="roundRect">
            <a:avLst>
              <a:gd name="adj" fmla="val 16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4128" y="3584448"/>
            <a:ext cx="914400" cy="365760"/>
          </a:xfrm>
          <a:prstGeom prst="roundRect">
            <a:avLst>
              <a:gd name="adj" fmla="val 4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B1220"/>
                </a:solidFill>
                <a:latin typeface="Segoe UI"/>
              </a:rPr>
              <a:t>Médio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493008"/>
            <a:ext cx="9052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Escreva um TurnToAngleCommand: gira no lugar até getPose() reportar o ângulo alvo, com controlador P e timeout.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178808"/>
            <a:ext cx="10469880" cy="621792"/>
          </a:xfrm>
          <a:prstGeom prst="roundRect">
            <a:avLst>
              <a:gd name="adj" fmla="val 16000"/>
            </a:avLst>
          </a:prstGeom>
          <a:solidFill>
            <a:srgbClr val="0B1220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24128" y="4306824"/>
            <a:ext cx="914400" cy="365760"/>
          </a:xfrm>
          <a:prstGeom prst="roundRect">
            <a:avLst>
              <a:gd name="adj" fmla="val 4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B1220"/>
                </a:solidFill>
                <a:latin typeface="Segoe UI"/>
              </a:rPr>
              <a:t>Médio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215384"/>
            <a:ext cx="9052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Troque o quadrado por um triângulo equilátero de 0,6 m usando só composição de comandos — sem tocar no DriveDistanceCommand.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901184"/>
            <a:ext cx="10469880" cy="621792"/>
          </a:xfrm>
          <a:prstGeom prst="roundRect">
            <a:avLst>
              <a:gd name="adj" fmla="val 16000"/>
            </a:avLst>
          </a:prstGeom>
          <a:solidFill>
            <a:srgbClr val="162238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4128" y="5029200"/>
            <a:ext cx="914400" cy="365760"/>
          </a:xfrm>
          <a:prstGeom prst="roundRect">
            <a:avLst>
              <a:gd name="adj" fmla="val 40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B1220"/>
                </a:solidFill>
                <a:latin typeface="Segoe UI"/>
              </a:rPr>
              <a:t>Difícil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937760"/>
            <a:ext cx="9052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Escreva um DriveToPoseCommand que usa getPose() em malha fechada para ir a (x, y) do campo, em vez de medir deslocamento relativo.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5623560"/>
            <a:ext cx="10469880" cy="621792"/>
          </a:xfrm>
          <a:prstGeom prst="roundRect">
            <a:avLst>
              <a:gd name="adj" fmla="val 16000"/>
            </a:avLst>
          </a:prstGeom>
          <a:solidFill>
            <a:srgbClr val="0B1220"/>
          </a:solidFill>
          <a:ln w="12700">
            <a:solidFill>
              <a:srgbClr val="1E2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24128" y="5751576"/>
            <a:ext cx="914400" cy="365760"/>
          </a:xfrm>
          <a:prstGeom prst="roundRect">
            <a:avLst>
              <a:gd name="adj" fmla="val 40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0B1220"/>
                </a:solidFill>
                <a:latin typeface="Segoe UI"/>
              </a:rPr>
              <a:t>Difícil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660136"/>
            <a:ext cx="9052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Acrescente um teste em OdometryTest que simule escorregamento (uma roda andando 10% menos) e meça o erro final de pose.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8D9F0"/>
                </a:solidFill>
                <a:latin typeface="Segoe UI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As dez frases que você deve levar embora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9344"/>
            <a:ext cx="1371600" cy="4114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3825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Parte 3 — Odometria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 i="0">
                <a:solidFill>
                  <a:srgbClr val="5A6C8A"/>
                </a:solidFill>
                <a:latin typeface="Segoe UI"/>
              </a:rPr>
              <a:t>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38D9F0"/>
                </a:solidFill>
                <a:latin typeface="Consola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1993392"/>
            <a:ext cx="44805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O scheduler roda a cada 20 ms: triggers, comandos, depois os periodic().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201168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38D9F0"/>
                </a:solidFill>
                <a:latin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2552" y="1993392"/>
            <a:ext cx="44805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Um recurso = um subsystem; addRequirements() evita dois donos no mesmo motor.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816352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38D9F0"/>
                </a:solidFill>
                <a:latin typeface="Consola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2798064"/>
            <a:ext cx="44805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Teleop é um default command, não código solto no teleopPeriodic().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2816352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38D9F0"/>
                </a:solidFill>
                <a:latin typeface="Consola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2" y="2798064"/>
            <a:ext cx="44805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Três rodas a 120° dão 3 graus de liberdade: frente, lado e giro, independentes.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621024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38D9F0"/>
                </a:solidFill>
                <a:latin typeface="Consolas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3602736"/>
            <a:ext cx="44805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Cinemática inversa = projetar o movimento do chassi na direção de cada roda.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3621024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38D9F0"/>
                </a:solidFill>
                <a:latin typeface="Consolas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2552" y="3602736"/>
            <a:ext cx="44805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Normalize dividindo as três pelo mesmo fator — nunca corte uma só.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425696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38D9F0"/>
                </a:solidFill>
                <a:latin typeface="Consolas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4407408"/>
            <a:ext cx="44805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Field-oriented é girar o vetor de comando de −θ antes da cinemática.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3912" y="4425696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38D9F0"/>
                </a:solidFill>
                <a:latin typeface="Consolas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4407408"/>
            <a:ext cx="44805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Cinemática direta é a mesma matemática invertida: somar as três isola o giro.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23036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38D9F0"/>
                </a:solidFill>
                <a:latin typeface="Consolas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19" y="5212080"/>
            <a:ext cx="44805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dx e dy vêm das rodas; θ vem da IMU. Nunca confie no ângulo das rodas omni.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53912" y="523036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E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38D9F0"/>
                </a:solidFill>
                <a:latin typeface="Consolas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2552" y="5212080"/>
            <a:ext cx="44805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E6EDF8"/>
                </a:solidFill>
                <a:latin typeface="Segoe UI"/>
              </a:rPr>
              <a:t>pose.exp() integra o arco; resetWheelBaseline evita o salto fantasma no reset.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6035040"/>
            <a:ext cx="1046988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6181344"/>
            <a:ext cx="10469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5A6C8A"/>
                </a:solidFill>
                <a:latin typeface="Segoe UI"/>
              </a:rPr>
              <a:t>lab9OmniDrive  ·  WPILib / Java  ·  ./gradlew test para validar a matemática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18624</Words>
  <Application>Microsoft Office PowerPoint</Application>
  <PresentationFormat>Widescreen</PresentationFormat>
  <Paragraphs>1806</Paragraphs>
  <Slides>54</Slides>
  <Notes>54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54</vt:i4>
      </vt:variant>
    </vt:vector>
  </HeadingPairs>
  <TitlesOfParts>
    <vt:vector size="59" baseType="lpstr">
      <vt:lpstr>Arial</vt:lpstr>
      <vt:lpstr>Calibri</vt:lpstr>
      <vt:lpstr>Consolas</vt:lpstr>
      <vt:lpstr>Segoe UI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Marcio Natal Lopes</cp:lastModifiedBy>
  <cp:revision>2</cp:revision>
  <dcterms:created xsi:type="dcterms:W3CDTF">2013-01-27T09:14:16Z</dcterms:created>
  <dcterms:modified xsi:type="dcterms:W3CDTF">2026-10-29T14:19:46Z</dcterms:modified>
  <cp:category/>
</cp:coreProperties>
</file>