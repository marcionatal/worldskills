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[0:00 - 1:30] ABERTURA</a:t>
            </a:r>
          </a:p>
          <a:p/>
          <a:p>
            <a:r>
              <a:t>Boas-vindas. Energia alta: "hoje voces saem daqui sabendo ler QUALQUER codigo</a:t>
            </a:r>
          </a:p>
          <a:p>
            <a:r>
              <a:t>de robo WPILib e sabendo escrever o seu."</a:t>
            </a:r>
          </a:p>
          <a:p/>
          <a:p>
            <a:r>
              <a:t>Combinado da aula:</a:t>
            </a:r>
          </a:p>
          <a:p>
            <a:r>
              <a:t>- 50 minutos, 5 blocos, codigo real do nosso repositorio (nada de exemplo</a:t>
            </a:r>
          </a:p>
          <a:p>
            <a:r>
              <a:t>  inventado - tudo que aparece no slide esta no projeto lab3Encoder).</a:t>
            </a:r>
          </a:p>
          <a:p>
            <a:r>
              <a:t>- Perguntas: anotem e perguntem no fim de cada bloco (marco com um slide de</a:t>
            </a:r>
          </a:p>
          <a:p>
            <a:r>
              <a:t>  divisoria).</a:t>
            </a:r>
          </a:p>
          <a:p/>
          <a:p>
            <a:r>
              <a:t>Pergunta de aquecimento para a turma (maos ao alto):</a:t>
            </a:r>
          </a:p>
          <a:p>
            <a:r>
              <a:t>"Quem ja escreveu codigo de robo que funcionou no simulador e quebrou na</a:t>
            </a:r>
          </a:p>
          <a:p>
            <a:r>
              <a:t>pista?" - quase todos. "A maior parte desses bugs nao e de matematica, e de</a:t>
            </a:r>
          </a:p>
          <a:p>
            <a:r>
              <a:t>ORGANIZACAO. E isso que o Command-Based resolve."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[1:30 - 3:00] AGENDA</a:t>
            </a:r>
          </a:p>
          <a:p/>
          <a:p>
            <a:r>
              <a:t>Mostre o mapa e seja explicito sobre o contrato de tempo. Dizer os minutos em</a:t>
            </a:r>
          </a:p>
          <a:p>
            <a:r>
              <a:t>voz alta ajuda a turma a aguentar os blocos mais secos (modificadores).</a:t>
            </a:r>
          </a:p>
          <a:p/>
          <a:p>
            <a:r>
              <a:t>Fale a logica da ordem:</a:t>
            </a:r>
          </a:p>
          <a:p>
            <a:r>
              <a:t>"Primeiro o COMO organizar (Command-Based), depois o POR QUE a linguagem</a:t>
            </a:r>
          </a:p>
          <a:p>
            <a:r>
              <a:t>permite organizar assim (POO). Muita gente aprende so o primeiro e fica</a:t>
            </a:r>
          </a:p>
          <a:p>
            <a:r>
              <a:t>copiando e colando para sempre."</a:t>
            </a:r>
          </a:p>
          <a:p/>
          <a:p>
            <a:r>
              <a:t>Se a turma for muito iniciante em Java: avise que o bloco 02 e 03 sao a base -</a:t>
            </a:r>
          </a:p>
          <a:p>
            <a:r>
              <a:t>sem eles o Command-Based parece magia.</a:t>
            </a:r>
          </a:p>
          <a:p>
            <a:r>
              <a:t>Se a turma for avancada: acelere 02 e invista o tempo no bloco 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[3:00] DIVISORIA - BLOCO 01</a:t>
            </a:r>
          </a:p>
          <a:p/>
          <a:p>
            <a:r>
              <a:t>Transicao curta: "Vamos comecar pelo problema que o Command-Based resolve.</a:t>
            </a:r>
          </a:p>
          <a:p>
            <a:r>
              <a:t>Quem entende o problema nunca mais esquece a solucao."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[3:00 - 5:00] O PROBLEMA</a:t>
            </a:r>
          </a:p>
          <a:p/>
          <a:p>
            <a:r>
              <a:t>Leia o codigo da esquerda em voz alta e pare no comentario "quem ganha?".</a:t>
            </a:r>
          </a:p>
          <a:p>
            <a:r>
              <a:t>Pergunte a turma: "se o atleta aperta X e Y juntos, qual velocidade vai para o</a:t>
            </a:r>
          </a:p>
          <a:p>
            <a:r>
              <a:t>motor?" Resposta: a ULTIMA linha executada - ou seja, o comportamento depende</a:t>
            </a:r>
          </a:p>
          <a:p>
            <a:r>
              <a:t>da ordem em que voce digitou o if. Isso e uma bomba na pista.</a:t>
            </a:r>
          </a:p>
          <a:p/>
          <a:p>
            <a:r>
              <a:t>Reforce os 4 pontos da direita, eles sao a justificativa de TUDO que vem</a:t>
            </a:r>
          </a:p>
          <a:p>
            <a:r>
              <a:t>depois:</a:t>
            </a:r>
          </a:p>
          <a:p>
            <a:r>
              <a:t>1. conflito de hardware -&gt; o Scheduler resolve com addRequirements()</a:t>
            </a:r>
          </a:p>
          <a:p>
            <a:r>
              <a:t>2. reaproveitar -&gt; Command e uma peca de Lego</a:t>
            </a:r>
          </a:p>
          <a:p>
            <a:r>
              <a:t>3. testar -&gt; um Command roda sozinho</a:t>
            </a:r>
          </a:p>
          <a:p>
            <a:r>
              <a:t>4. dividir -&gt; cada pessoa num arquivo diferente</a:t>
            </a:r>
          </a:p>
          <a:p/>
          <a:p>
            <a:r>
              <a:t>Frase de ancoragem: "Command-Based nao e um framework bonito. E um sistema de</a:t>
            </a:r>
          </a:p>
          <a:p>
            <a:r>
              <a:t>PREVENCAO DE CONFLITO."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[5:00 - 7:00] A IDEIA CENTRAL</a:t>
            </a:r>
          </a:p>
          <a:p/>
          <a:p>
            <a:r>
              <a:t>Analogia que funciona com adolescente: restaurante.</a:t>
            </a:r>
          </a:p>
          <a:p>
            <a:r>
              <a:t>- Subsystem = a COZINHA. Sabe fritar, cortar, assar. Nao decide o menu.</a:t>
            </a:r>
          </a:p>
          <a:p>
            <a:r>
              <a:t>- Command = o PEDIDO. "Um hamburguer medio." Tem inicio, tem fim.</a:t>
            </a:r>
          </a:p>
          <a:p>
            <a:r>
              <a:t>- Scheduler = o GARCOM/gerente. Garante que dois pedidos nao disputem a mesma</a:t>
            </a:r>
          </a:p>
          <a:p>
            <a:r>
              <a:t>  frigideira ao mesmo tempo.</a:t>
            </a:r>
          </a:p>
          <a:p/>
          <a:p>
            <a:r>
              <a:t>Peca exemplos a turma: "me da um Subsystem e um Command do robo de voces."</a:t>
            </a:r>
          </a:p>
          <a:p>
            <a:r>
              <a:t>Corrija ao vivo os que vierem errados (ex.: "AndarPraFrente" como subsystem -</a:t>
            </a:r>
          </a:p>
          <a:p>
            <a:r>
              <a:t>nao, isso e comportamento, e Command).</a:t>
            </a:r>
          </a:p>
          <a:p/>
          <a:p>
            <a:r>
              <a:t>Aponte o callout: essa e a regra que mais se viola. Command NUNCA faz</a:t>
            </a:r>
          </a:p>
          <a:p>
            <a:r>
              <a:t>motor.set(). Ele faz drive.setMotor1Speed().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[7:00 - 8:30] MAPA DO PROJETO</a:t>
            </a:r>
          </a:p>
          <a:p/>
          <a:p>
            <a:r>
              <a:t>Peca para todos abrirem o projeto AGORA. Momento de sincronizar a turma -</a:t>
            </a:r>
          </a:p>
          <a:p>
            <a:r>
              <a:t>quem nao abriu, abre com o colega.</a:t>
            </a:r>
          </a:p>
          <a:p/>
          <a:p>
            <a:r>
              <a:t>Pontos a dizer:</a:t>
            </a:r>
          </a:p>
          <a:p>
            <a:r>
              <a:t>- Main.java: ninguem mexe, nunca. So chama RobotBase.startRobot().</a:t>
            </a:r>
          </a:p>
          <a:p>
            <a:r>
              <a:t>- Robot.java: so delega. Se voces estao escrevendo logica aqui, algo esta</a:t>
            </a:r>
          </a:p>
          <a:p>
            <a:r>
              <a:t>  errado (exceto o CommandScheduler.getInstance().run()).</a:t>
            </a:r>
          </a:p>
          <a:p>
            <a:r>
              <a:t>- RobotContainer: e aqui que mora o "new". E a unica classe que conhece</a:t>
            </a:r>
          </a:p>
          <a:p>
            <a:r>
              <a:t>  subsystems E commands E joystick ao mesmo tempo.</a:t>
            </a:r>
          </a:p>
          <a:p>
            <a:r>
              <a:t>- Constants: todo numero magico vai pra ca. Mostre que o nosso tem raio da</a:t>
            </a:r>
          </a:p>
          <a:p>
            <a:r>
              <a:t>  roda, pulsos por revolucao, portas dos encoders.</a:t>
            </a:r>
          </a:p>
          <a:p/>
          <a:p>
            <a:r>
              <a:t>Dica de prova: num teste de WorldSkills, a primeira coisa a fazer num projeto</a:t>
            </a:r>
          </a:p>
          <a:p>
            <a:r>
              <a:t>desconhecido e abrir RobotContainer. Em 30 segundos voce sabe o robo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[8:30 - 10:30] O SCHEDULER</a:t>
            </a:r>
          </a:p>
          <a:p/>
          <a:p>
            <a:r>
              <a:t>Este e o slide mais importante do bloco. Se a turma sair entendendo o loop de</a:t>
            </a:r>
          </a:p>
          <a:p>
            <a:r>
              <a:t>20 ms, o resto se encaixa.</a:t>
            </a:r>
          </a:p>
          <a:p/>
          <a:p>
            <a:r>
              <a:t>Explique a volta:</a:t>
            </a:r>
          </a:p>
          <a:p>
            <a:r>
              <a:t>1. le os botoes (poll)</a:t>
            </a:r>
          </a:p>
          <a:p>
            <a:r>
              <a:t>2. agenda comandos novos que foram acionados</a:t>
            </a:r>
          </a:p>
          <a:p>
            <a:r>
              <a:t>3. para cada comando ativo chama execute()</a:t>
            </a:r>
          </a:p>
          <a:p>
            <a:r>
              <a:t>4. chama isFinished(); se true -&gt; end(false)</a:t>
            </a:r>
          </a:p>
          <a:p>
            <a:r>
              <a:t>5. chama periodic() de cada subsystem</a:t>
            </a:r>
          </a:p>
          <a:p/>
          <a:p>
            <a:r>
              <a:t>Enfatize: "voce nao chama execute(). O Scheduler chama. Seu codigo e</a:t>
            </a:r>
          </a:p>
          <a:p>
            <a:r>
              <a:t>PASSIVO - ele responde."</a:t>
            </a:r>
          </a:p>
          <a:p/>
          <a:p>
            <a:r>
              <a:t>Erro classico que ja vi custar prova: colocar um while(encoder &lt; alvo) dentro</a:t>
            </a:r>
          </a:p>
          <a:p>
            <a:r>
              <a:t>do execute(). O robo congela, o watchdog dispara, perde a bateria de pontos.</a:t>
            </a:r>
          </a:p>
          <a:p>
            <a:r>
              <a:t>A forma certa e devolver false no isFinished() e deixar o loop girar.</a:t>
            </a:r>
          </a:p>
          <a:p/>
          <a:p>
            <a:r>
              <a:t>Mostre a conta: 20 ms = 50 Hz. Se execute() demorar 30 ms voce ja perdeu</a:t>
            </a:r>
          </a:p>
          <a:p>
            <a:r>
              <a:t>ciclos. Avise do aviso "Loop time overrun" no console - eles VAO ver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[10:30 - 12:00] ROBOT.JAVA</a:t>
            </a:r>
          </a:p>
          <a:p/>
          <a:p>
            <a:r>
              <a:t>Codigo literal do nosso repositorio - abra o arquivo ao lado do slide.</a:t>
            </a:r>
          </a:p>
          <a:p/>
          <a:p>
            <a:r>
              <a:t>Pontos de parada:</a:t>
            </a:r>
          </a:p>
          <a:p>
            <a:r>
              <a:t>- "extends TimedRobot": heranca. Vamos falar de heranca no bloco 2, mas</a:t>
            </a:r>
          </a:p>
          <a:p>
            <a:r>
              <a:t>  adiante: TimedRobot ja sabe chamar os metodos a cada 20 ms; a gente so</a:t>
            </a:r>
          </a:p>
          <a:p>
            <a:r>
              <a:t>  preenche o que quer.</a:t>
            </a:r>
          </a:p>
          <a:p>
            <a:r>
              <a:t>- robotInit() roda UMA vez, no boot. E ali que nasce o RobotContainer, e no</a:t>
            </a:r>
          </a:p>
          <a:p>
            <a:r>
              <a:t>  construtor dele nasce o robo todo.</a:t>
            </a:r>
          </a:p>
          <a:p>
            <a:r>
              <a:t>- autonomousInit(): schedule() NAO executa. Agenda. Diferenca sutil que cai em</a:t>
            </a:r>
          </a:p>
          <a:p>
            <a:r>
              <a:t>  prova.</a:t>
            </a:r>
          </a:p>
          <a:p>
            <a:r>
              <a:t>- teleopInit() com cancel(): pergunte "o que acontece se eu apagar esse</a:t>
            </a:r>
          </a:p>
          <a:p>
            <a:r>
              <a:t>  cancel?" Resposta: o comando autonomo continua rodando por cima do joystick,</a:t>
            </a:r>
          </a:p>
          <a:p>
            <a:r>
              <a:t>  o robo "briga" consigo mesmo.</a:t>
            </a:r>
          </a:p>
          <a:p/>
          <a:p>
            <a:r>
              <a:t>Nota sobre @Override: insista. E a maneira mais barata de evitar o bug de</a:t>
            </a:r>
          </a:p>
          <a:p>
            <a:r>
              <a:t>escrever "exectue()" e passar a tarde cacando por que nao roda.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[12:00 - 13:30] ROBOTCONTAINER</a:t>
            </a:r>
          </a:p>
          <a:p/>
          <a:p>
            <a:r>
              <a:t>Este e o arquivo que eles mais vao editar na prova. Numere em voz alta os 5</a:t>
            </a:r>
          </a:p>
          <a:p>
            <a:r>
              <a:t>passos - eles sao a receita de qualquer adicao de hardware novo.</a:t>
            </a:r>
          </a:p>
          <a:p/>
          <a:p>
            <a:r>
              <a:t>Destaque a diferenca entre DECLARAR e INSTANCIAR (linha 3 vs linha "drive =</a:t>
            </a:r>
          </a:p>
          <a:p>
            <a:r>
              <a:t>new OmniDrive()"). Isso volta no bloco 2 com forca; aqui so plante a semente:</a:t>
            </a:r>
          </a:p>
          <a:p>
            <a:r>
              <a:t>"declarar e escrever o nome na lista de chamada; instanciar e o aluno entrar na</a:t>
            </a:r>
          </a:p>
          <a:p>
            <a:r>
              <a:t>sala."</a:t>
            </a:r>
          </a:p>
          <a:p/>
          <a:p>
            <a:r>
              <a:t>Sobre o setDefaultCommand com lambda: nao se perca explicando lambda agora.</a:t>
            </a:r>
          </a:p>
          <a:p>
            <a:r>
              <a:t>Diga: "() -&gt; algo e um atalho para 'um pedacinho de codigo para rodar depois'.</a:t>
            </a:r>
          </a:p>
          <a:p>
            <a:r>
              <a:t>Volto nisso no slide de comandos inline."</a:t>
            </a:r>
          </a:p>
          <a:p/>
          <a:p>
            <a:r>
              <a:t>Observacao honesta sobre o nosso codigo: aqui usamos 'public static' para os</a:t>
            </a:r>
          </a:p>
          <a:p>
            <a:r>
              <a:t>subsystems. E o padrao deste repositorio e funciona, mas no bloco 3 vou mostrar</a:t>
            </a:r>
          </a:p>
          <a:p>
            <a:r>
              <a:t>por que o WPILib moderno prefere passar o subsystem pelo construtor. Guardem a</a:t>
            </a:r>
          </a:p>
          <a:p>
            <a:r>
              <a:t>pergunta.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[13:30 - 14:30] SUBSYSTEM: CAMPOS</a:t>
            </a:r>
          </a:p>
          <a:p/>
          <a:p>
            <a:r>
              <a:t>Mostre que a parte de cima de toda classe e so uma LISTA DE PECAS. Chamamos</a:t>
            </a:r>
          </a:p>
          <a:p>
            <a:r>
              <a:t>esses campos de atributos ou variaveis de instancia.</a:t>
            </a:r>
          </a:p>
          <a:p/>
          <a:p>
            <a:r>
              <a:t>Pergunte: "por que private e nao public?" Deixe alguem responder. Complete:</a:t>
            </a:r>
          </a:p>
          <a:p>
            <a:r>
              <a:t>se fosse public, qualquer comando poderia fazer drive.motor1.set(1.0) e eu</a:t>
            </a:r>
          </a:p>
          <a:p>
            <a:r>
              <a:t>perderia o controle - nao teria como aplicar limite, deadband ou log. Private</a:t>
            </a:r>
          </a:p>
          <a:p>
            <a:r>
              <a:t>e o que me permite MUDAR o jeito de acionar o motor sem quebrar os comandos.</a:t>
            </a:r>
          </a:p>
          <a:p/>
          <a:p>
            <a:r>
              <a:t>Sobre final nos encoders: note que motores nao sao final e encoders sao. Isso</a:t>
            </a:r>
          </a:p>
          <a:p>
            <a:r>
              <a:t>e inconsistencia do nosso codigo - oportunidade de dizer: "o ideal e todos</a:t>
            </a:r>
          </a:p>
          <a:p>
            <a:r>
              <a:t>final, porque nenhum deles deveria ser trocado em tempo de execucao."</a:t>
            </a:r>
          </a:p>
          <a:p>
            <a:r>
              <a:t>Anote como tarefa de limpeza.</a:t>
            </a:r>
          </a:p>
          <a:p/>
          <a:p>
            <a:r>
              <a:t>Titan.Motor: aproveite para mostrar o ponto = "dentro de". Como Button dentro</a:t>
            </a:r>
          </a:p>
          <a:p>
            <a:r>
              <a:t>de XboxController (XboxController.Button.kBumperLeft).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[14:30 - 15:30] SUBSYSTEM: CONSTRUTOR</a:t>
            </a:r>
          </a:p>
          <a:p/>
          <a:p>
            <a:r>
              <a:t>Esta e a primeira aparicao formal de CONSTRUTOR - volta com mais calma no</a:t>
            </a:r>
          </a:p>
          <a:p>
            <a:r>
              <a:t>bloco 2, aqui e no contexto.</a:t>
            </a:r>
          </a:p>
          <a:p/>
          <a:p>
            <a:r>
              <a:t>Tres regras do construtor, diga pausadamente:</a:t>
            </a:r>
          </a:p>
          <a:p>
            <a:r>
              <a:t>1. tem exatamente o mesmo nome da classe</a:t>
            </a:r>
          </a:p>
          <a:p>
            <a:r>
              <a:t>2. nao tem tipo de retorno (nem void!)</a:t>
            </a:r>
          </a:p>
          <a:p>
            <a:r>
              <a:t>3. roda automaticamente no new</a:t>
            </a:r>
          </a:p>
          <a:p/>
          <a:p>
            <a:r>
              <a:t>Mostre o encadeamento: Robot.robotInit() -&gt; new RobotContainer() -&gt;</a:t>
            </a:r>
          </a:p>
          <a:p>
            <a:r>
              <a:t>new OmniDrive() -&gt; new Titan(...). Uma cascata que acontece em milissegundos</a:t>
            </a:r>
          </a:p>
          <a:p>
            <a:r>
              <a:t>no boot do robo.</a:t>
            </a:r>
          </a:p>
          <a:p/>
          <a:p>
            <a:r>
              <a:t>setDistancePerPulse: aproveite - "esta e a linha que transforma 'pulsos' em</a:t>
            </a:r>
          </a:p>
          <a:p>
            <a:r>
              <a:t>'milimetros'. Se ela estiver errada, TODO o seu autonomo esta errado, e o</a:t>
            </a:r>
          </a:p>
          <a:p>
            <a:r>
              <a:t>codigo compila lindamente." Conecte com o Constants.wheelDistPerTick e com a</a:t>
            </a:r>
          </a:p>
          <a:p>
            <a:r>
              <a:t>armadilha de divisao inteira do bloco 04.</a:t>
            </a:r>
          </a:p>
          <a:p/>
          <a:p>
            <a:r>
              <a:t>Se sobrar tempo: mostre no VS Code o Ctrl+clique em new Encoder para ver os</a:t>
            </a:r>
          </a:p>
          <a:p>
            <a:r>
              <a:t>parametros.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[15:30 - 16:30] PERIODIC</a:t>
            </a:r>
          </a:p>
          <a:p/>
          <a:p>
            <a:r>
              <a:t>Mostre no nosso codigo real: periodic() do OmniDrive publica heading, pitch,</a:t>
            </a:r>
          </a:p>
          <a:p>
            <a:r>
              <a:t>roll e os tres encoders.</a:t>
            </a:r>
          </a:p>
          <a:p/>
          <a:p>
            <a:r>
              <a:t>Diferenca que confunde todo mundo:</a:t>
            </a:r>
          </a:p>
          <a:p>
            <a:r>
              <a:t>- periodic() do SUBSYSTEM: roda SEMPRE, ate no modo disabled.</a:t>
            </a:r>
          </a:p>
          <a:p>
            <a:r>
              <a:t>- execute() do COMMAND: roda so enquanto aquele comando esta agendado.</a:t>
            </a:r>
          </a:p>
          <a:p/>
          <a:p>
            <a:r>
              <a:t>Pergunta para a turma: "posso ligar o motor no periodic?" Tecnicamente sim.</a:t>
            </a:r>
          </a:p>
          <a:p>
            <a:r>
              <a:t>Mas voce acabou de furar o sistema de requisitos - nenhum Command conseguira</a:t>
            </a:r>
          </a:p>
          <a:p>
            <a:r>
              <a:t>impedir. E bug garantido na pista.</a:t>
            </a:r>
          </a:p>
          <a:p/>
          <a:p>
            <a:r>
              <a:t>Venda o SmartDashboard com forca. Diga: "na bancada voces tem console. Na</a:t>
            </a:r>
          </a:p>
          <a:p>
            <a:r>
              <a:t>prova, com o robo a 3 metros de distancia, voces tem o painel e mais nada."</a:t>
            </a:r>
          </a:p>
          <a:p>
            <a:r>
              <a:t>Se houver tempo e um robo na sala, abra o Shuffleboard/SmartDashboard e mostre</a:t>
            </a:r>
          </a:p>
          <a:p>
            <a:r>
              <a:t>os valores subindo com a roda na mao.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[16:30 - 18:00] CICLO DE VIDA DO COMMAND</a:t>
            </a:r>
          </a:p>
          <a:p/>
          <a:p>
            <a:r>
              <a:t>Slide de decorar. Peca para a turma repetir em voz alta a sequencia:</a:t>
            </a:r>
          </a:p>
          <a:p>
            <a:r>
              <a:t>initialize - execute - isFinished - end. Faca isso de verdade, funciona.</a:t>
            </a:r>
          </a:p>
          <a:p/>
          <a:p>
            <a:r>
              <a:t>Analogia da corrida de 100 m:</a:t>
            </a:r>
          </a:p>
          <a:p>
            <a:r>
              <a:t>- initialize(): posicionar no bloco de partida, zerar o cronometro</a:t>
            </a:r>
          </a:p>
          <a:p>
            <a:r>
              <a:t>- execute(): correr, passada por passada</a:t>
            </a:r>
          </a:p>
          <a:p>
            <a:r>
              <a:t>- isFinished(): "ja cruzei a linha?"</a:t>
            </a:r>
          </a:p>
          <a:p>
            <a:r>
              <a:t>- end(): parar de correr e respirar</a:t>
            </a:r>
          </a:p>
          <a:p/>
          <a:p>
            <a:r>
              <a:t>O parametro boolean do end() e a pergunta mais comum: interrupted = true</a:t>
            </a:r>
          </a:p>
          <a:p>
            <a:r>
              <a:t>significa que OUTRO comando pediu o mesmo subsystem e roubou o lugar. Mesmo</a:t>
            </a:r>
          </a:p>
          <a:p>
            <a:r>
              <a:t>assim seu end() roda - e por isso que parar o motor no end() e obrigatorio.</a:t>
            </a:r>
          </a:p>
          <a:p>
            <a:r>
              <a:t>Conte o caso: aluno esqueceu de parar o motor no end, outro comando interrompeu</a:t>
            </a:r>
          </a:p>
          <a:p>
            <a:r>
              <a:t>no meio, o robo saiu andando sozinho ate bater na parede. Isso acontece.</a:t>
            </a:r>
          </a:p>
          <a:p/>
          <a:p>
            <a:r>
              <a:t>Nota tecnica para voce (nao precisa dizer a turma a menos que perguntem): no</a:t>
            </a:r>
          </a:p>
          <a:p>
            <a:r>
              <a:t>WPILib o metodo correto da interface e isFinished() na versao antiga e</a:t>
            </a:r>
          </a:p>
          <a:p>
            <a:r>
              <a:t>isFinished() continua valido neste projeto 2020; versoes recentes usam</a:t>
            </a:r>
          </a:p>
          <a:p>
            <a:r>
              <a:t>isFinished() tambem em Command. Nosso repo usa isFinished() - mantenha</a:t>
            </a:r>
          </a:p>
          <a:p>
            <a:r>
              <a:t>consistencia com o codigo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[18:00 - 19:30] SIMPLEDRIVE COMPLETO</a:t>
            </a:r>
          </a:p>
          <a:p/>
          <a:p>
            <a:r>
              <a:t>Leia o arquivo inteiro com a turma, de cima para baixo, sem pressa. E o</a:t>
            </a:r>
          </a:p>
          <a:p>
            <a:r>
              <a:t>primeiro Command completo que eles veem.</a:t>
            </a:r>
          </a:p>
          <a:p/>
          <a:p>
            <a:r>
              <a:t>Roteiro de leitura (use as 3 perguntas do callout):</a:t>
            </a:r>
          </a:p>
          <a:p>
            <a:r>
              <a:t>1. "Qual subsystem?" -&gt; drive, via addRequirements</a:t>
            </a:r>
          </a:p>
          <a:p>
            <a:r>
              <a:t>2. "O que faz por ciclo?" -&gt; setMotor1Speed(0.5) e publica telemetria</a:t>
            </a:r>
          </a:p>
          <a:p>
            <a:r>
              <a:t>3. "Como acaba?" -&gt; quando o botao X e apertado</a:t>
            </a:r>
          </a:p>
          <a:p/>
          <a:p>
            <a:r>
              <a:t>Chame atencao no end(): setMotor1Speed(0.0). Pergunte: "se eu apagar essa</a:t>
            </a:r>
          </a:p>
          <a:p>
            <a:r>
              <a:t>linha, o que acontece quando aperto X?" Resposta: o comando termina mas o</a:t>
            </a:r>
          </a:p>
          <a:p>
            <a:r>
              <a:t>motor CONTINUA girando, porque ninguem mandou parar. O motor nao "desliga</a:t>
            </a:r>
          </a:p>
          <a:p>
            <a:r>
              <a:t>sozinho".</a:t>
            </a:r>
          </a:p>
          <a:p/>
          <a:p>
            <a:r>
              <a:t>Sobre 'private static final OmniDrive drive = RobotContainer.drive;':</a:t>
            </a:r>
          </a:p>
          <a:p>
            <a:r>
              <a:t>esse e o estilo deste repositorio. Funciona, mas e acoplado - este Command so</a:t>
            </a:r>
          </a:p>
          <a:p>
            <a:r>
              <a:t>funciona se existir um RobotContainer com um campo static chamado drive.</a:t>
            </a:r>
          </a:p>
          <a:p>
            <a:r>
              <a:t>Mencione que no bloco 3 veremos a alternativa (receber pelo construtor) e por</a:t>
            </a:r>
          </a:p>
          <a:p>
            <a:r>
              <a:t>que ela e melhor. Nao corrija o repo agora, so plante.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[19:30 - 21:00] DRIVETODISTANCE</a:t>
            </a:r>
          </a:p>
          <a:p/>
          <a:p>
            <a:r>
              <a:t>Aqui aparece o grande salto: COMMAND COM PARAMETRO. Pergunte antes de mostrar:</a:t>
            </a:r>
          </a:p>
          <a:p>
            <a:r>
              <a:t>"como eu faco o mesmo comando andar 50 cm numa hora e 2 m noutra?"</a:t>
            </a:r>
          </a:p>
          <a:p/>
          <a:p>
            <a:r>
              <a:t>O fluxo do parametro - desenhe no ar:</a:t>
            </a:r>
          </a:p>
          <a:p>
            <a:r>
              <a:t>new DriveToDistance(0.5) -&gt; construtor recebe metros=0.5 -&gt; multiplica por</a:t>
            </a:r>
          </a:p>
          <a:p>
            <a:r>
              <a:t>1000 -&gt; guarda em distance = 500 -&gt; isFinished compara encoder (mm) com 500.</a:t>
            </a:r>
          </a:p>
          <a:p/>
          <a:p>
            <a:r>
              <a:t>Historia real deste repositorio: havia um commit corrigindo exatamente este</a:t>
            </a:r>
          </a:p>
          <a:p>
            <a:r>
              <a:t>arquivo ("DriveToDistance em metros"). O bug era mistura de unidade - o</a:t>
            </a:r>
          </a:p>
          <a:p>
            <a:r>
              <a:t>encoder reporta mm e o parametro vinha em metros. O codigo compilava e o robo</a:t>
            </a:r>
          </a:p>
          <a:p>
            <a:r>
              <a:t>andava 1000x menos. Use isso: "compilar nao significa estar certo."</a:t>
            </a:r>
          </a:p>
          <a:p/>
          <a:p>
            <a:r>
              <a:t>Regra que eu quero que levem: toda variavel de distancia carrega a unidade no</a:t>
            </a:r>
          </a:p>
          <a:p>
            <a:r>
              <a:t>nome ou no Javadoc. distanceMm, metros, wheelRadiusMeters.</a:t>
            </a:r>
          </a:p>
          <a:p/>
          <a:p>
            <a:r>
              <a:t>Comente o -.5 no holonomicDrive: o sinal negativo e a direcao para frente no</a:t>
            </a:r>
          </a:p>
          <a:p>
            <a:r>
              <a:t>NOSSO robo. Isso e caracteristica de montagem, nao de matematica.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[21:00 - 22:30] REQUISITOS E CONFLITO</a:t>
            </a:r>
          </a:p>
          <a:p/>
          <a:p>
            <a:r>
              <a:t>Encenacao vale ouro aqui. Chame dois voluntarios: um e SimpleDrive, outro e</a:t>
            </a:r>
          </a:p>
          <a:p>
            <a:r>
              <a:t>DriveToDistance, e um objeto na mesa (caneta) e o subsystem drive. Mostre que</a:t>
            </a:r>
          </a:p>
          <a:p>
            <a:r>
              <a:t>so um pode segurar a caneta. Quando o segundo pede, o primeiro TEM que soltar</a:t>
            </a:r>
          </a:p>
          <a:p>
            <a:r>
              <a:t>(end(true)).</a:t>
            </a:r>
          </a:p>
          <a:p/>
          <a:p>
            <a:r>
              <a:t>Aponte o maior perigo: esquecer addRequirements NAO gera erro de compilacao.</a:t>
            </a:r>
          </a:p>
          <a:p>
            <a:r>
              <a:t>O codigo roda. Os dois comandos escrevem no mesmo motor a 50 Hz e o robo faz</a:t>
            </a:r>
          </a:p>
          <a:p>
            <a:r>
              <a:t>coisas aleatorias. Debug infernal.</a:t>
            </a:r>
          </a:p>
          <a:p/>
          <a:p>
            <a:r>
              <a:t>Default command: explique por que o teleop volta a funcionar sozinho depois de</a:t>
            </a:r>
          </a:p>
          <a:p>
            <a:r>
              <a:t>um comando de botao. Nao e magica - e o RunCommand do joystick que esta</a:t>
            </a:r>
          </a:p>
          <a:p>
            <a:r>
              <a:t>registrado como default e volta a ser escolhido quando o drive fica livre.</a:t>
            </a:r>
          </a:p>
          <a:p/>
          <a:p>
            <a:r>
              <a:t>Pergunta de fechamento do bloco: "quantos comandos podem rodar ao mesmo tempo</a:t>
            </a:r>
          </a:p>
          <a:p>
            <a:r>
              <a:t>no robo?" Resposta: quantos quiserem, DESDE QUE usem subsystems diferentes.</a:t>
            </a:r>
          </a:p>
          <a:p>
            <a:r>
              <a:t>Drive + garra + elevador em paralelo: perfeito.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[22:30 - 23:30] BINDINGS</a:t>
            </a:r>
          </a:p>
          <a:p/>
          <a:p>
            <a:r>
              <a:t>Mostre o codigo real e o padrao de 3 linhas. Eles vao repetir esse padrao</a:t>
            </a:r>
          </a:p>
          <a:p>
            <a:r>
              <a:t>dezenas de vezes na prova.</a:t>
            </a:r>
          </a:p>
          <a:p/>
          <a:p>
            <a:r>
              <a:t>Ponto pratico: XboxController.Button.kBumperLeft.value - o .value no fim e o</a:t>
            </a:r>
          </a:p>
          <a:p>
            <a:r>
              <a:t>numero da porta. Esquecer o .value e erro de compilacao comum.</a:t>
            </a:r>
          </a:p>
          <a:p/>
          <a:p>
            <a:r>
              <a:t>A tabela de gatilhos e a mais consultada no dia da prova. Sugira: printem essa</a:t>
            </a:r>
          </a:p>
          <a:p>
            <a:r>
              <a:t>tabela e colem na bancada.</a:t>
            </a:r>
          </a:p>
          <a:p>
            <a:r>
              <a:t>- whenPressed: acao que tem fim proprio (andar 50 cm)</a:t>
            </a:r>
          </a:p>
          <a:p>
            <a:r>
              <a:t>- whileHeld: acao que deve durar so enquanto o dedo esta no botao (coletor)</a:t>
            </a:r>
          </a:p>
          <a:p>
            <a:r>
              <a:t>Escolher o gatilho errado e 50% dos "meu botao nao funciona".</a:t>
            </a:r>
          </a:p>
          <a:p/>
          <a:p>
            <a:r>
              <a:t>Nota de versao: em WPILib mais novo os nomes mudaram para onTrue/whileTrue.</a:t>
            </a:r>
          </a:p>
          <a:p>
            <a:r>
              <a:t>Este repositorio e 2020, usa whenPressed/whileHeld. Se abrirem documentacao</a:t>
            </a:r>
          </a:p>
          <a:p>
            <a:r>
              <a:t>nova e estranharem, e 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[23:30 - 25:00] COMPOSICAO  [fim do bloco 01]</a:t>
            </a:r>
          </a:p>
          <a:p/>
          <a:p>
            <a:r>
              <a:t>Mensagem central: "o autonomo campeao nao e um comando gigante. Sao 6 comandos</a:t>
            </a:r>
          </a:p>
          <a:p>
            <a:r>
              <a:t>pequenos numa SequentialCommandGroup."</a:t>
            </a:r>
          </a:p>
          <a:p/>
          <a:p>
            <a:r>
              <a:t>Mostre o AutoCommand do repo: SimpleDrive com timeout de 5 s, depois</a:t>
            </a:r>
          </a:p>
          <a:p>
            <a:r>
              <a:t>DriveToDistance(0.5). Simples e legivel - alguem que nunca viu o codigo entende</a:t>
            </a:r>
          </a:p>
          <a:p>
            <a:r>
              <a:t>o autonomo lendo 3 linhas.</a:t>
            </a:r>
          </a:p>
          <a:p/>
          <a:p>
            <a:r>
              <a:t>withTimeout: venda como SEGURO DE VIDA. Se o encoder falhar, o isFinished</a:t>
            </a:r>
          </a:p>
          <a:p>
            <a:r>
              <a:t>nunca da true e o comando roda para sempre. withTimeout evita que o robo fique</a:t>
            </a:r>
          </a:p>
          <a:p>
            <a:r>
              <a:t>empurrando a parede durante o resto da prova. Recomende: todo comando de</a:t>
            </a:r>
          </a:p>
          <a:p>
            <a:r>
              <a:t>autonomo com timeout.</a:t>
            </a:r>
          </a:p>
          <a:p/>
          <a:p>
            <a:r>
              <a:t>Comandos inline (RunCommand/InstantCommand): para acoes de uma linha nao vale</a:t>
            </a:r>
          </a:p>
          <a:p>
            <a:r>
              <a:t>criar arquivo. Explique o lambda agora, de forma simples:</a:t>
            </a:r>
          </a:p>
          <a:p>
            <a:r>
              <a:t>() -&gt; drive.resetYaw() significa "este pedacinho de codigo, para rodar</a:t>
            </a:r>
          </a:p>
          <a:p>
            <a:r>
              <a:t>depois". O RunCommand executa isso 50x por segundo; o InstantCommand uma vez.</a:t>
            </a:r>
          </a:p>
          <a:p/>
          <a:p>
            <a:r>
              <a:t>PAUSA PARA PERGUNTAS - 1 minuto. Pergunte: "alguem consegue me descrever o</a:t>
            </a:r>
          </a:p>
          <a:p>
            <a:r>
              <a:t>autonomo do robo de voces em 4 comandos?"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[25:00] DIVISORIA - BLOCO 02</a:t>
            </a:r>
          </a:p>
          <a:p/>
          <a:p>
            <a:r>
              <a:t>Transicao: "Tudo que acabamos de ver - Subsystem, Command - sao CLASSES. Agora</a:t>
            </a:r>
          </a:p>
          <a:p>
            <a:r>
              <a:t>vamos entender o que e uma classe de verdade, porque e isso que separa quem</a:t>
            </a:r>
          </a:p>
          <a:p>
            <a:r>
              <a:t>copia codigo de quem escreve codigo."</a:t>
            </a:r>
          </a:p>
          <a:p/>
          <a:p>
            <a:r>
              <a:t>Se a turma estiver cansada: esse e o momento de levantar todos por 20 segundos.</a:t>
            </a:r>
          </a:p>
          <a:p>
            <a:r>
              <a:t>O bloco 2 e conceitual e precisa de atencao.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[25:00 - 27:00] CLASSE x OBJETO x INSTANCIA</a:t>
            </a:r>
          </a:p>
          <a:p/>
          <a:p>
            <a:r>
              <a:t>A analogia da planta da casa e a melhor. Use e abuse:</a:t>
            </a:r>
          </a:p>
          <a:p>
            <a:r>
              <a:t>- A planta (classe) nao protege ninguem da chuva.</a:t>
            </a:r>
          </a:p>
          <a:p>
            <a:r>
              <a:t>- A casa construida (objeto) protege.</a:t>
            </a:r>
          </a:p>
          <a:p>
            <a:r>
              <a:t>- "A casa numero 42" (instancia) e uma casa especifica entre varias iguais.</a:t>
            </a:r>
          </a:p>
          <a:p/>
          <a:p>
            <a:r>
              <a:t>Na pratica do dia a dia, "objeto" e "instancia" sao usados como sinonimos.</a:t>
            </a:r>
          </a:p>
          <a:p>
            <a:r>
              <a:t>Diga isso explicitamente para eles nao travarem numa diferenca que nao importa.</a:t>
            </a:r>
          </a:p>
          <a:p>
            <a:r>
              <a:t>O que importa: CLASSE != OBJETO.</a:t>
            </a:r>
          </a:p>
          <a:p/>
          <a:p>
            <a:r>
              <a:t>O exemplo dos 3 Encoders e o mais didatico do nosso repo. Mostre o codigo:</a:t>
            </a:r>
          </a:p>
          <a:p>
            <a:r>
              <a:t>uma classe Encoder, tres variaveis (encoderMotor1, 2 e 3), tres new. Cada um</a:t>
            </a:r>
          </a:p>
          <a:p>
            <a:r>
              <a:t>com sua propria contagem interna. Se fosse tudo a mesma coisa, os tres motores</a:t>
            </a:r>
          </a:p>
          <a:p>
            <a:r>
              <a:t>reportariam a mesma distancia.</a:t>
            </a:r>
          </a:p>
          <a:p/>
          <a:p>
            <a:r>
              <a:t>Teste rapido com a turma (levante a mao):</a:t>
            </a:r>
          </a:p>
          <a:p>
            <a:r>
              <a:t>"XboxController e classe ou objeto?" -&gt; classe.</a:t>
            </a:r>
          </a:p>
          <a:p>
            <a:r>
              <a:t>"driverJoystick e classe ou objeto?" -&gt; objeto/instancia.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[27:00 - 28:00] ANATOMIA DA CLASSE</a:t>
            </a:r>
          </a:p>
          <a:p/>
          <a:p>
            <a:r>
              <a:t>Use como mapa de referencia. Diga: "sempre que voces criarem uma classe nova,</a:t>
            </a:r>
          </a:p>
          <a:p>
            <a:r>
              <a:t>sigam esta ordem - package, import, assinatura, atributos, construtor,</a:t>
            </a:r>
          </a:p>
          <a:p>
            <a:r>
              <a:t>ciclo de vida, metodos."</a:t>
            </a:r>
          </a:p>
          <a:p/>
          <a:p>
            <a:r>
              <a:t>Explique o par ESTADO / COMPORTAMENTO, porque e a definicao real de objeto:</a:t>
            </a:r>
          </a:p>
          <a:p>
            <a:r>
              <a:t>"um objeto e estado + comportamento amarrados juntos."</a:t>
            </a:r>
          </a:p>
          <a:p>
            <a:r>
              <a:t>- Estado do OmniDrive: quais motores, quais encoders, quanto cada um contou.</a:t>
            </a:r>
          </a:p>
          <a:p>
            <a:r>
              <a:t>- Comportamento: setMotor1Speed, holonomicDrive, getYaw.</a:t>
            </a:r>
          </a:p>
          <a:p/>
          <a:p>
            <a:r>
              <a:t>Sobre extends SubsystemBase: a heranca ja apareceu 4 vezes na aula</a:t>
            </a:r>
          </a:p>
          <a:p>
            <a:r>
              <a:t>(TimedRobot, SubsystemBase, CommandBase, SequentialCommandGroup). Diga a</a:t>
            </a:r>
          </a:p>
          <a:p>
            <a:r>
              <a:t>formula: "extends significa 'e um tipo de'. OmniDrive E UM SubsystemBase."</a:t>
            </a:r>
          </a:p>
          <a:p>
            <a:r>
              <a:t>Beneficio concreto: o Scheduler consegue chamar periodic() em qualquer</a:t>
            </a:r>
          </a:p>
          <a:p>
            <a:r>
              <a:t>subsystem porque todos herdam do mesmo pai.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[28:00 - 29:30] CONSTRUTOR</a:t>
            </a:r>
          </a:p>
          <a:p/>
          <a:p>
            <a:r>
              <a:t>Repita as 3 regras (nome, sem retorno, chamado pelo new) - terceira vez na</a:t>
            </a:r>
          </a:p>
          <a:p>
            <a:r>
              <a:t>aula, agora com foco.</a:t>
            </a:r>
          </a:p>
          <a:p/>
          <a:p>
            <a:r>
              <a:t>SOBRECARGA (overload): muito usada em WPILib. Explique com o Encoder:</a:t>
            </a:r>
          </a:p>
          <a:p>
            <a:r>
              <a:t>new Encoder(portaA, portaB) e new Encoder(portaA, portaB, invertido) - mesma</a:t>
            </a:r>
          </a:p>
          <a:p>
            <a:r>
              <a:t>classe, construtores diferentes. O compilador escolhe pelo numero/tipo dos</a:t>
            </a:r>
          </a:p>
          <a:p>
            <a:r>
              <a:t>argumentos.</a:t>
            </a:r>
          </a:p>
          <a:p/>
          <a:p>
            <a:r>
              <a:t>O this(metros, 0.5) e a tecnica de "construtor que chama construtor" para nao</a:t>
            </a:r>
          </a:p>
          <a:p>
            <a:r>
              <a:t>repetir codigo. Mostre que a chamada a this(...) tem que ser a PRIMEIRA linha.</a:t>
            </a:r>
          </a:p>
          <a:p/>
          <a:p>
            <a:r>
              <a:t>Construtor padrao implicito: se voce nao escrever nenhum, Java te da um vazio.</a:t>
            </a:r>
          </a:p>
          <a:p>
            <a:r>
              <a:t>No momento em que voce escreve um com parametro, o vazio DESAPARECE. Isso gera</a:t>
            </a:r>
          </a:p>
          <a:p>
            <a:r>
              <a:t>o erro "constructor X in class X cannot be applied to given types" - que eles</a:t>
            </a:r>
          </a:p>
          <a:p>
            <a:r>
              <a:t>vao ver e agora sabem o porque.</a:t>
            </a:r>
          </a:p>
          <a:p/>
          <a:p>
            <a:r>
              <a:t>Pergunta: "por que converter metros-&gt;mm no construtor e nao no isFinished?"</a:t>
            </a:r>
          </a:p>
          <a:p>
            <a:r>
              <a:t>Resposta: fazer uma vez e melhor que fazer 50 vezes por segundo. E o</a:t>
            </a:r>
          </a:p>
          <a:p>
            <a:r>
              <a:t>isFinished fica legivel.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[29:30 - 31:00] NEW E NULL</a:t>
            </a:r>
          </a:p>
          <a:p/>
          <a:p>
            <a:r>
              <a:t>Este slide resolve o bug numero 1 da turma. De tempo.</a:t>
            </a:r>
          </a:p>
          <a:p/>
          <a:p>
            <a:r>
              <a:t>Demonstre a cadeia de baixo: robotInit chama new RobotContainer, que chama new</a:t>
            </a:r>
          </a:p>
          <a:p>
            <a:r>
              <a:t>OmniDrive, que chama new Titan, new Encoder, new AHRS. Uma cascata. Se</a:t>
            </a:r>
          </a:p>
          <a:p>
            <a:r>
              <a:t>qualquer um falhar, o robo nao sobe - e o log vai apontar para o construtor.</a:t>
            </a:r>
          </a:p>
          <a:p/>
          <a:p>
            <a:r>
              <a:t>Analogia do null: "declarar uma variavel e como anotar o nome de um contato no</a:t>
            </a:r>
          </a:p>
          <a:p>
            <a:r>
              <a:t>celular sem o numero. Voce liga e nao vai a lugar nenhum."</a:t>
            </a:r>
          </a:p>
          <a:p/>
          <a:p>
            <a:r>
              <a:t>Caso real que vale contar: neste repositorio os Commands fazem</a:t>
            </a:r>
          </a:p>
          <a:p>
            <a:r>
              <a:t>'private static final OmniDrive drive = RobotContainer.drive;'. Isso executa</a:t>
            </a:r>
          </a:p>
          <a:p>
            <a:r>
              <a:t>quando a CLASSE do comando carrega. Se um comando for criado antes de</a:t>
            </a:r>
          </a:p>
          <a:p>
            <a:r>
              <a:t>'drive = new OmniDrive()', ele captura null para sempre - e o</a:t>
            </a:r>
          </a:p>
          <a:p>
            <a:r>
              <a:t>NullPointerException aparece depois, em outro lugar, dificil de achar.</a:t>
            </a:r>
          </a:p>
          <a:p>
            <a:r>
              <a:t>Por isso em RobotContainer a ordem importa: o subsystem e criado ANTES dos</a:t>
            </a:r>
          </a:p>
          <a:p>
            <a:r>
              <a:t>comandos. Mostre no codigo que drive = new OmniDrive() vem antes de</a:t>
            </a:r>
          </a:p>
          <a:p>
            <a:r>
              <a:t>simpleDrive = new SimpleDrive().</a:t>
            </a:r>
          </a:p>
          <a:p/>
          <a:p>
            <a:r>
              <a:t>Essa e a melhor justificativa para, no futuro, passar o subsystem pelo</a:t>
            </a:r>
          </a:p>
          <a:p>
            <a:r>
              <a:t>construtor do comando.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[31:00 - 32:00] SETTERS</a:t>
            </a:r>
          </a:p>
          <a:p/>
          <a:p>
            <a:r>
              <a:t>Decomponha a assinatura no quadro, palavra por palavra:</a:t>
            </a:r>
          </a:p>
          <a:p>
            <a:r>
              <a:t>public (quem pode chamar) void (o que devolve: nada) setMotor1Speed (nome)</a:t>
            </a:r>
          </a:p>
          <a:p>
            <a:r>
              <a:t>double speed (o que recebe).</a:t>
            </a:r>
          </a:p>
          <a:p/>
          <a:p>
            <a:r>
              <a:t>Insista no "poder do setter": peca a turma para imaginar que o motor nao pode</a:t>
            </a:r>
          </a:p>
          <a:p>
            <a:r>
              <a:t>passar de 70% por causa de uma engrenagem fragil. Com setter, UMA linha</a:t>
            </a:r>
          </a:p>
          <a:p>
            <a:r>
              <a:t>resolve para todo o robo:</a:t>
            </a:r>
          </a:p>
          <a:p>
            <a:r>
              <a:t>  speed = Math.max(-0.7, Math.min(0.7, speed));</a:t>
            </a:r>
          </a:p>
          <a:p>
            <a:r>
              <a:t>Com campo publico, voce teria que achar todos os lugares que usam o motor.</a:t>
            </a:r>
          </a:p>
          <a:p>
            <a:r>
              <a:t>Esse exemplo convence melhor que qualquer definicao de encapsulamento.</a:t>
            </a:r>
          </a:p>
          <a:p/>
          <a:p>
            <a:r>
              <a:t>Mostre que setDriveMotorSpeeds recebe 3 parametros - e alerte sobre a ORDEM:</a:t>
            </a:r>
          </a:p>
          <a:p>
            <a:r>
              <a:t>no nosso codigo a ordem e (motor3, motor1, motor2), o que e confuso.</a:t>
            </a:r>
          </a:p>
          <a:p>
            <a:r>
              <a:t>Oportunidade de ensinar: parametros fora de ordem natural sao fonte de bug;</a:t>
            </a:r>
          </a:p>
          <a:p>
            <a:r>
              <a:t>nomeie bem ou use um objeto.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[32:00 - 33:00] GETTERS</a:t>
            </a:r>
          </a:p>
          <a:p/>
          <a:p>
            <a:r>
              <a:t>Simetria com o slide anterior: setter e entrada, getter e saida. Desenhe o</a:t>
            </a:r>
          </a:p>
          <a:p>
            <a:r>
              <a:t>subsystem como uma caixa com uma porta (set) e uma janela (get).</a:t>
            </a:r>
          </a:p>
          <a:p/>
          <a:p>
            <a:r>
              <a:t>Mostre o par no codigo real:</a:t>
            </a:r>
          </a:p>
          <a:p>
            <a:r>
              <a:t>- OmniDrive.getAverageForwardEncoderDistance() -&gt; getter</a:t>
            </a:r>
          </a:p>
          <a:p>
            <a:r>
              <a:t>- DriveToDistance.isFinished() -&gt; consumidor</a:t>
            </a:r>
          </a:p>
          <a:p/>
          <a:p>
            <a:r>
              <a:t>Fale da convencao is para boolean. Pergunte: "isFinished() e getter?" Sim, de</a:t>
            </a:r>
          </a:p>
          <a:p>
            <a:r>
              <a:t>um boolean - e o nome 'is' deixa a leitura natural: if (comando.isFinished()).</a:t>
            </a:r>
          </a:p>
          <a:p/>
          <a:p>
            <a:r>
              <a:t>Unidade no @return: cobre de novo. No nosso OmniDrive os getters devolvem</a:t>
            </a:r>
          </a:p>
          <a:p>
            <a:r>
              <a:t>MILIMETROS, mas Constants.wheelRadiusMeters esta em metros. Misturar os dois</a:t>
            </a:r>
          </a:p>
          <a:p>
            <a:r>
              <a:t>e o bug classico. Diga: "quando eu pego um codigo novo, a primeira coisa que</a:t>
            </a:r>
          </a:p>
          <a:p>
            <a:r>
              <a:t>eu checo e a unidade de cada getter."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[33:00 - 34:30] ENCAPSULAMENTO</a:t>
            </a:r>
          </a:p>
          <a:p/>
          <a:p>
            <a:r>
              <a:t>Nao defina encapsulamento com palavras bonitas. Use a tabela - ela e um</a:t>
            </a:r>
          </a:p>
          <a:p>
            <a:r>
              <a:t>argumento de custo.</a:t>
            </a:r>
          </a:p>
          <a:p/>
          <a:p>
            <a:r>
              <a:t>Conduza assim: "imaginem que a engrenagem do motor 1 quebra acima de 70%. Voce</a:t>
            </a:r>
          </a:p>
          <a:p>
            <a:r>
              <a:t>tem 4 comandos e 15 lugares usando o motor. Quanto tempo leva para corrigir?"</a:t>
            </a:r>
          </a:p>
          <a:p>
            <a:r>
              <a:t>- campo publico: 15 lugares, e voce VAI esquecer um</a:t>
            </a:r>
          </a:p>
          <a:p>
            <a:r>
              <a:t>- setter: uma linha</a:t>
            </a:r>
          </a:p>
          <a:p/>
          <a:p>
            <a:r>
              <a:t>Repita para "quero logar toda vez que o motor liga" e "o time trocou o Titan</a:t>
            </a:r>
          </a:p>
          <a:p>
            <a:r>
              <a:t>por um SparkMax".</a:t>
            </a:r>
          </a:p>
          <a:p/>
          <a:p>
            <a:r>
              <a:t>O ponto final: encapsulamento nao e burocracia academica, e economia de tempo</a:t>
            </a:r>
          </a:p>
          <a:p>
            <a:r>
              <a:t>em dia de prova. E em WorldSkills tempo e nota.</a:t>
            </a:r>
          </a:p>
          <a:p/>
          <a:p>
            <a:r>
              <a:t>Se alguem perguntar "mas o nosso RobotContainer usa public static drive, nao e</a:t>
            </a:r>
          </a:p>
          <a:p>
            <a:r>
              <a:t>contraditorio?" - Resposta honesta: sim, e um atalho. O campo e publico, mas o</a:t>
            </a:r>
          </a:p>
          <a:p>
            <a:r>
              <a:t>OBJETO continua encapsulado (os motores dentro dele sao privados). O ideal</a:t>
            </a:r>
          </a:p>
          <a:p>
            <a:r>
              <a:t>seria private + getter ou passar pelo construtor. Reconheca a inconsistencia,</a:t>
            </a:r>
          </a:p>
          <a:p>
            <a:r>
              <a:t>nao finja que nao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[34:30 - 36:00] HELPERS</a:t>
            </a:r>
          </a:p>
          <a:p/>
          <a:p>
            <a:r>
              <a:t>Definicao simples: "helper e um metodo que existe para deixar OUTRO metodo</a:t>
            </a:r>
          </a:p>
          <a:p>
            <a:r>
              <a:t>legivel."</a:t>
            </a:r>
          </a:p>
          <a:p/>
          <a:p>
            <a:r>
              <a:t>Compare ao vivo. Escreva no quadro o isFinished sem helper:</a:t>
            </a:r>
          </a:p>
          <a:p>
            <a:r>
              <a:t>  return ((-encoderMotor3.getDistance() + encoderMotor1.getDistance())/2) &gt;= distance;</a:t>
            </a:r>
          </a:p>
          <a:p>
            <a:r>
              <a:t>e com helper:</a:t>
            </a:r>
          </a:p>
          <a:p>
            <a:r>
              <a:t>  return drive.getAverageForwardEncoderDistance() &gt;= distance;</a:t>
            </a:r>
          </a:p>
          <a:p>
            <a:r>
              <a:t>Pergunte qual deles eles querem ler as 23h59 do dia anterior a prova.</a:t>
            </a:r>
          </a:p>
          <a:p/>
          <a:p>
            <a:r>
              <a:t>Os 4 tipos no slide dao o cardapio completo:</a:t>
            </a:r>
          </a:p>
          <a:p>
            <a:r>
              <a:t>1. composicao de getters (media dos encoders)</a:t>
            </a:r>
          </a:p>
          <a:p>
            <a:r>
              <a:t>2. conversao de unidade (mm/s -&gt; rps)</a:t>
            </a:r>
          </a:p>
          <a:p>
            <a:r>
              <a:t>3. helper privado de organizacao (publishTelemetry)</a:t>
            </a:r>
          </a:p>
          <a:p>
            <a:r>
              <a:t>4. helper static de matematica pura (forwardKinematics do lab9)</a:t>
            </a:r>
          </a:p>
          <a:p/>
          <a:p>
            <a:r>
              <a:t>Regra pratica que eu quero que levem: se um metodo passou de ~20 linhas ou tem</a:t>
            </a:r>
          </a:p>
          <a:p>
            <a:r>
              <a:t>um comentario explicando um bloco, aquele bloco quer virar um helper com nome.</a:t>
            </a:r>
          </a:p>
          <a:p/>
          <a:p>
            <a:r>
              <a:t>Conexao com o bloco 3: o forwardKinematics e static porque nao depende de</a:t>
            </a:r>
          </a:p>
          <a:p>
            <a:r>
              <a:t>estado. Vamos falar de static em 3 slides - deixe o gancho.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[36:00] DIVISORIA - BLOCO 03</a:t>
            </a:r>
          </a:p>
          <a:p/>
          <a:p>
            <a:r>
              <a:t>Transicao: "Esses quatro modificadores aparecem em TODA linha do nosso</a:t>
            </a:r>
          </a:p>
          <a:p>
            <a:r>
              <a:t>projeto. A maioria das pessoas copia sem saber. Em 8 minutos voces nao copiam</a:t>
            </a:r>
          </a:p>
          <a:p>
            <a:r>
              <a:t>mais - voces escolhem."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[36:00 - 37:30] VISIBILIDADE</a:t>
            </a:r>
          </a:p>
          <a:p/>
          <a:p>
            <a:r>
              <a:t>Leia a tabela de cima para baixo: do mais aberto ao mais fechado.</a:t>
            </a:r>
          </a:p>
          <a:p/>
          <a:p>
            <a:r>
              <a:t>Enfatize o "(nada)" - package-private. E o que acontece quando o aluno esquece</a:t>
            </a:r>
          </a:p>
          <a:p>
            <a:r>
              <a:t>de escrever o modificador. Funciona dentro do mesmo pacote e falha quando ele</a:t>
            </a:r>
          </a:p>
          <a:p>
            <a:r>
              <a:t>move a classe. Mostre que no nosso projeto commands/ e subsystems/ sao</a:t>
            </a:r>
          </a:p>
          <a:p>
            <a:r>
              <a:t>packages DIFERENTES - por isso tudo que um comando usa precisa ser public.</a:t>
            </a:r>
          </a:p>
          <a:p/>
          <a:p>
            <a:r>
              <a:t>Regra de bolso (o chip da direita): comece private, abra sob demanda.</a:t>
            </a:r>
          </a:p>
          <a:p>
            <a:r>
              <a:t>Justificativa: abrir e indolor; fechar depois quebra o codigo de todo mundo.</a:t>
            </a:r>
          </a:p>
          <a:p/>
          <a:p>
            <a:r>
              <a:t>Diga a frase: "visibilidade nao e seguranca contra hacker. E um contrato entre</a:t>
            </a:r>
          </a:p>
          <a:p>
            <a:r>
              <a:t>voce e seu colega de equipe: 'isto aqui e meu, nao mexa'."</a:t>
            </a:r>
          </a:p>
          <a:p/>
          <a:p>
            <a:r>
              <a:t>Se perguntarem de protected: e para heranca. SubsystemBase e CommandBase usam.</a:t>
            </a:r>
          </a:p>
          <a:p>
            <a:r>
              <a:t>Eles raramente vao escrever protected nesta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[37:30 - 39:00] FINAL</a:t>
            </a:r>
          </a:p>
          <a:p/>
          <a:p>
            <a:r>
              <a:t>Comece pelos 4 lugares. Mostre no nosso codigo: os Encoders sao final, o</a:t>
            </a:r>
          </a:p>
          <a:p>
            <a:r>
              <a:t>Constants inteiro e final class, e todas as constantes sao static final.</a:t>
            </a:r>
          </a:p>
          <a:p/>
          <a:p>
            <a:r>
              <a:t>A PEGADINHA e o coracao deste slide. Desenhe: a variavel e uma seta, o objeto</a:t>
            </a:r>
          </a:p>
          <a:p>
            <a:r>
              <a:t>e uma caixa. final congela a SETA, nao a CAIXA.</a:t>
            </a:r>
          </a:p>
          <a:p>
            <a:r>
              <a:t>  encoderMotor1 = new Encoder(...)  -&gt; proibido depois do construtor</a:t>
            </a:r>
          </a:p>
          <a:p>
            <a:r>
              <a:t>  encoderMotor1.reset()             -&gt; permitido sempre</a:t>
            </a:r>
          </a:p>
          <a:p>
            <a:r>
              <a:t>Se nao fosse assim, nosso resetEncoders() nao funcionaria - e ele funciona</a:t>
            </a:r>
          </a:p>
          <a:p>
            <a:r>
              <a:t>mesmo com os encoders final. Esse e o argumento que mata a duvida.</a:t>
            </a:r>
          </a:p>
          <a:p/>
          <a:p>
            <a:r>
              <a:t>Pergunta para a turma: "por que o nosso encoderMotor1 pode ser final, mas a</a:t>
            </a:r>
          </a:p>
          <a:p>
            <a:r>
              <a:t>variavel distance do DriveToDistance nao pode?" Resposta: distance e calculada</a:t>
            </a:r>
          </a:p>
          <a:p>
            <a:r>
              <a:t>no construtor a partir de parametro... na verdade PODERIA ser final! Bom</a:t>
            </a:r>
          </a:p>
          <a:p>
            <a:r>
              <a:t>exercicio - e uma melhoria real que eles podem fazer no repo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[39:00 - 41:00] STATIC</a:t>
            </a:r>
          </a:p>
          <a:p/>
          <a:p>
            <a:r>
              <a:t>Melhor analogia: sala de aula.</a:t>
            </a:r>
          </a:p>
          <a:p>
            <a:r>
              <a:t>- Campo normal: a mochila de cada aluno. Cada um tem a sua.</a:t>
            </a:r>
          </a:p>
          <a:p>
            <a:r>
              <a:t>- Campo static: o quadro branco da sala. Existe um. Todos escrevem nele.</a:t>
            </a:r>
          </a:p>
          <a:p/>
          <a:p>
            <a:r>
              <a:t>Teste rapido: "quantos Math existem na memoria?" Nenhum - Math.abs e static,</a:t>
            </a:r>
          </a:p>
          <a:p>
            <a:r>
              <a:t>voce nunca faz new Math(). Mesma coisa para Constants.</a:t>
            </a:r>
          </a:p>
          <a:p/>
          <a:p>
            <a:r>
              <a:t>A segunda metade do callout e o ponto mais tecnico da aula. Va com calma:</a:t>
            </a:r>
          </a:p>
          <a:p>
            <a:r>
              <a:t>nossos Commands pegam o subsystem num campo static final, que e inicializado</a:t>
            </a:r>
          </a:p>
          <a:p>
            <a:r>
              <a:t>no CARREGAMENTO DA CLASSE. Se o SimpleDrive for criado antes do</a:t>
            </a:r>
          </a:p>
          <a:p>
            <a:r>
              <a:t>drive = new OmniDrive(), ele captura null e nunca mais atualiza. O</a:t>
            </a:r>
          </a:p>
          <a:p>
            <a:r>
              <a:t>NullPointerException aparece depois, na pista, longe da causa.</a:t>
            </a:r>
          </a:p>
          <a:p/>
          <a:p>
            <a:r>
              <a:t>Mostre no RobotContainer que a ordem esta correta hoje (drive primeiro, depois</a:t>
            </a:r>
          </a:p>
          <a:p>
            <a:r>
              <a:t>simpleDrive). E diga: "isso funciona, mas depende da ordem - e dependencia de</a:t>
            </a:r>
          </a:p>
          <a:p>
            <a:r>
              <a:t>ordem e fragil. A alternativa robusta e passar o subsystem pelo construtor:</a:t>
            </a:r>
          </a:p>
          <a:p>
            <a:r>
              <a:t>new SimpleDrive(drive). Guardem isso para quando criarem comandos novos."</a:t>
            </a:r>
          </a:p>
          <a:p/>
          <a:p>
            <a:r>
              <a:t>Nao transforme em sermao: o repo funciona. E um ponto de evolucao.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[41:00 - 42:00] RESUMO DOS MODIFICADORES  [fim do bloco 03]</a:t>
            </a:r>
          </a:p>
          <a:p/>
          <a:p>
            <a:r>
              <a:t>Use a tabela como checklist de decisao. Para cada campo que escreverem, 2</a:t>
            </a:r>
          </a:p>
          <a:p>
            <a:r>
              <a:t>perguntas:</a:t>
            </a:r>
          </a:p>
          <a:p>
            <a:r>
              <a:t>1. quem precisa ver isso? -&gt; public ou private</a:t>
            </a:r>
          </a:p>
          <a:p>
            <a:r>
              <a:t>2. isso muda durante a partida? -&gt; final ou nao</a:t>
            </a:r>
          </a:p>
          <a:p>
            <a:r>
              <a:t>3. e do objeto ou da classe? -&gt; static ou nao</a:t>
            </a:r>
          </a:p>
          <a:p/>
          <a:p>
            <a:r>
              <a:t>O codigo de baixo e o exercicio de leitura mais valioso da aula. Leia a linha</a:t>
            </a:r>
          </a:p>
          <a:p>
            <a:r>
              <a:t>INTEIRA em voz alta, da esquerda para a direita, traduzindo:</a:t>
            </a:r>
          </a:p>
          <a:p>
            <a:r>
              <a:t>"publico, da classe, nao muda, numero decimal, chamado wheelRadius, vale 52."</a:t>
            </a:r>
          </a:p>
          <a:p>
            <a:r>
              <a:t>Peca para um aluno fazer o mesmo com outra linha do Constants (por exemplo</a:t>
            </a:r>
          </a:p>
          <a:p>
            <a:r>
              <a:t>kMotor3EncoderReversed).</a:t>
            </a:r>
          </a:p>
          <a:p/>
          <a:p>
            <a:r>
              <a:t>PAUSA PARA PERGUNTAS - 1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[42:00] DIVISORIA - BLOCO 04</a:t>
            </a:r>
          </a:p>
          <a:p/>
          <a:p>
            <a:r>
              <a:t>Transicao: "Java e uma linguagem de tipo estatico: toda variavel declara o que</a:t>
            </a:r>
          </a:p>
          <a:p>
            <a:r>
              <a:t>ela e. Vamos ver os tipos que voces vao digitar 95% do tempo - e uma armadilha</a:t>
            </a:r>
          </a:p>
          <a:p>
            <a:r>
              <a:t>que custou um commit de correcao neste repo."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[42:00 - 43:30] PRIMITIVOS</a:t>
            </a:r>
          </a:p>
          <a:p/>
          <a:p>
            <a:r>
              <a:t>Rapido - a turma ja viu esses tipos. O valor do slide e mostrar ONDE cada um</a:t>
            </a:r>
          </a:p>
          <a:p>
            <a:r>
              <a:t>aparece no NOSSO codigo.</a:t>
            </a:r>
          </a:p>
          <a:p/>
          <a:p>
            <a:r>
              <a:t>Mensagem pratica: em robotica, quase tudo e double. Velocidade de -1 a 1,</a:t>
            </a:r>
          </a:p>
          <a:p>
            <a:r>
              <a:t>distancia em mm, angulo em graus, ganhos de PID. int so aparece em porta de</a:t>
            </a:r>
          </a:p>
          <a:p>
            <a:r>
              <a:t>encoder, CAN ID e numero de motor.</a:t>
            </a:r>
          </a:p>
          <a:p/>
          <a:p>
            <a:r>
              <a:t>boolean: mostre kMotor3EncoderReversed = true no Constants. Pergunte por que</a:t>
            </a:r>
          </a:p>
          <a:p>
            <a:r>
              <a:t>so o motor 3 e invertido. Resposta: ele esta montado espelhado no chassi - o</a:t>
            </a:r>
          </a:p>
          <a:p>
            <a:r>
              <a:t>software corrige a mecanica. Bom momento para dizer que constantes de</a:t>
            </a:r>
          </a:p>
          <a:p>
            <a:r>
              <a:t>configuracao sao a "traducao" entre o robo fisico e o codigo.</a:t>
            </a:r>
          </a:p>
          <a:p/>
          <a:p>
            <a:r>
              <a:t>void: lembre que void nao e "nada acontece", e "nada e devolvido". O setter faz</a:t>
            </a:r>
          </a:p>
          <a:p>
            <a:r>
              <a:t>muita coisa, so nao retorna valor.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[43:30 - 45:00] TIPOS DE REFERENCIA</a:t>
            </a:r>
          </a:p>
          <a:p/>
          <a:p>
            <a:r>
              <a:t>Esta e a tabela de consulta do projeto. Diga: "se voces decorarem esta coluna</a:t>
            </a:r>
          </a:p>
          <a:p>
            <a:r>
              <a:t>da esquerda, voces leem qualquer codigo deste repositorio."</a:t>
            </a:r>
          </a:p>
          <a:p/>
          <a:p>
            <a:r>
              <a:t>Distincao chave (a frase amarela embaixo): primitivo guarda o valor,</a:t>
            </a:r>
          </a:p>
          <a:p>
            <a:r>
              <a:t>referencia guarda o endereco. Consequencia pratica que eles sentem na pele:</a:t>
            </a:r>
          </a:p>
          <a:p>
            <a:r>
              <a:t>  double x;   -&gt; vale 0, nunca da NullPointerException</a:t>
            </a:r>
          </a:p>
          <a:p>
            <a:r>
              <a:t>  Encoder e;  -&gt; vale null, da NullPointerException se usar antes do new</a:t>
            </a:r>
          </a:p>
          <a:p/>
          <a:p>
            <a:r>
              <a:t>Faca a conexao com o slide do new: todo NullPointerException da aula de hoje e</a:t>
            </a:r>
          </a:p>
          <a:p>
            <a:r>
              <a:t>sobre tipo de referencia.</a:t>
            </a:r>
          </a:p>
          <a:p/>
          <a:p>
            <a:r>
              <a:t>Destaque o SmartDashboard: e uma classe que voce NUNCA instancia - todos os</a:t>
            </a:r>
          </a:p>
          <a:p>
            <a:r>
              <a:t>metodos sao static. Reforce o conceito de static do bloco anterior com esse</a:t>
            </a:r>
          </a:p>
          <a:p>
            <a:r>
              <a:t>exemplo concreto.</a:t>
            </a:r>
          </a:p>
          <a:p/>
          <a:p>
            <a:r>
              <a:t>Se a turma for mais avancada, mencione Pose2d/Rotation2d do lab8 e lab9 como</a:t>
            </a:r>
          </a:p>
          <a:p>
            <a:r>
              <a:t>proximo passo (odometria) - desperta curiosidade para a aula seguinte.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[45:00 - 46:00] A ARMADILHA DA DIVISAO INTEIRA</a:t>
            </a:r>
          </a:p>
          <a:p/>
          <a:p>
            <a:r>
              <a:t>Historia verdadeira: ha um commit neste repositorio chamado</a:t>
            </a:r>
          </a:p>
          <a:p>
            <a:r>
              <a:t>"gearRatio sem divisao inteira". Ou seja: isso aconteceu AQUI, com codigo de</a:t>
            </a:r>
          </a:p>
          <a:p>
            <a:r>
              <a:t>verdade.</a:t>
            </a:r>
          </a:p>
          <a:p/>
          <a:p>
            <a:r>
              <a:t>Faca a pergunta antes de mostrar a resposta:</a:t>
            </a:r>
          </a:p>
          <a:p>
            <a:r>
              <a:t>"quanto vale 1/61 em Java, se os dois sao int?"</a:t>
            </a:r>
          </a:p>
          <a:p>
            <a:r>
              <a:t>Muita gente responde 0.016. Deixe responderem. Depois revele: ZERO.</a:t>
            </a:r>
          </a:p>
          <a:p/>
          <a:p>
            <a:r>
              <a:t>Por que e tao perigoso:</a:t>
            </a:r>
          </a:p>
          <a:p>
            <a:r>
              <a:t>- compila sem aviso</a:t>
            </a:r>
          </a:p>
          <a:p>
            <a:r>
              <a:t>- roda sem excecao</a:t>
            </a:r>
          </a:p>
          <a:p>
            <a:r>
              <a:t>- o robo simplesmente nao anda a distancia certa, e voce vai culpar o PID, o</a:t>
            </a:r>
          </a:p>
          <a:p>
            <a:r>
              <a:t>  encoder, a bateria... qualquer coisa menos a linha certa</a:t>
            </a:r>
          </a:p>
          <a:p/>
          <a:p>
            <a:r>
              <a:t>Como se protege:</a:t>
            </a:r>
          </a:p>
          <a:p>
            <a:r>
              <a:t>1. sempre escreva 1.0 em vez de 1 em contas de double</a:t>
            </a:r>
          </a:p>
          <a:p>
            <a:r>
              <a:t>2. desconfie de qualquer resultado exatamente 0.0 ou exatamente inteiro</a:t>
            </a:r>
          </a:p>
          <a:p>
            <a:r>
              <a:t>3. imprima os valores intermediarios no SmartDashboard</a:t>
            </a:r>
          </a:p>
          <a:p/>
          <a:p>
            <a:r>
              <a:t>Peca para checarem o Constants deles agora - wheelDistPerTick, gearRatio,</a:t>
            </a:r>
          </a:p>
          <a:p>
            <a:r>
              <a:t>qualquer divisao. 30 segundos de caca ao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[46:00] DIVISORIA - BLOCO 05</a:t>
            </a:r>
          </a:p>
          <a:p/>
          <a:p>
            <a:r>
              <a:t>Transicao: "Ultimo bloco. Agora voces escrevem."</a:t>
            </a:r>
          </a:p>
          <a:p>
            <a:r>
              <a:t>Se o tempo estourou: pule o exercicio guiado e va direto para armadilhas +</a:t>
            </a:r>
          </a:p>
          <a:p>
            <a:r>
              <a:t>checklist, mandando o exercicio como tarefa.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[46:00 - 48:00] EXERCICIO GUIADO</a:t>
            </a:r>
          </a:p>
          <a:p/>
          <a:p>
            <a:r>
              <a:t>Se houver tempo de bancada, este e o momento de maior aprendizado da aula.</a:t>
            </a:r>
          </a:p>
          <a:p>
            <a:r>
              <a:t>Oriente, nao entregue.</a:t>
            </a:r>
          </a:p>
          <a:p/>
          <a:p>
            <a:r>
              <a:t>O que o exercicio exercita de proposito:</a:t>
            </a:r>
          </a:p>
          <a:p>
            <a:r>
              <a:t>- private final nos campos (bloco 03)</a:t>
            </a:r>
          </a:p>
          <a:p>
            <a:r>
              <a:t>- construtor que monta o hardware (bloco 02)</a:t>
            </a:r>
          </a:p>
          <a:p>
            <a:r>
              <a:t>- setter com nome claro (bloco 02)</a:t>
            </a:r>
          </a:p>
          <a:p>
            <a:r>
              <a:t>- helper parar() que chama o proprio setter (bloco 02)</a:t>
            </a:r>
          </a:p>
          <a:p>
            <a:r>
              <a:t>- addRequirements (bloco 01)</a:t>
            </a:r>
          </a:p>
          <a:p>
            <a:r>
              <a:t>- end() parando o motor (bloco 01)</a:t>
            </a:r>
          </a:p>
          <a:p>
            <a:r>
              <a:t>- INJECAO pelo construtor: AbrirGarra(Garra garra, double v) - o estilo que eu</a:t>
            </a:r>
          </a:p>
          <a:p>
            <a:r>
              <a:t>  recomendei nos slides de static. Note o 'this.garra = garra' e explique o</a:t>
            </a:r>
          </a:p>
          <a:p>
            <a:r>
              <a:t>  this: distingue o campo do parametro de mesmo nome.</a:t>
            </a:r>
          </a:p>
          <a:p/>
          <a:p>
            <a:r>
              <a:t>Circule pela sala. Erros que voce VAI encontrar, nesta ordem de frequencia:</a:t>
            </a:r>
          </a:p>
          <a:p>
            <a:r>
              <a:t>1. esqueceram addRequirements</a:t>
            </a:r>
          </a:p>
          <a:p>
            <a:r>
              <a:t>2. esqueceram de parar o motor no end</a:t>
            </a:r>
          </a:p>
          <a:p>
            <a:r>
              <a:t>3. criaram o Garra dentro do Command em vez de receber</a:t>
            </a:r>
          </a:p>
          <a:p>
            <a:r>
              <a:t>4. campo sem private</a:t>
            </a:r>
          </a:p>
          <a:p>
            <a:r>
              <a:t>5. esqueceram de adicionar M_GARRA no Constants</a:t>
            </a:r>
          </a:p>
          <a:p/>
          <a:p>
            <a:r>
              <a:t>Quem terminar rapido: peca para adicionar um isFinished() usando um sensor</a:t>
            </a:r>
          </a:p>
          <a:p>
            <a:r>
              <a:t>fim-de-curso (boolean), ou para criar FecharGarra reaproveitando o mesmo</a:t>
            </a:r>
          </a:p>
          <a:p>
            <a:r>
              <a:t>comando com velocidade negativa - e so new AbrirGarra(garra, -0.4). Esse e o</a:t>
            </a:r>
          </a:p>
          <a:p>
            <a:r>
              <a:t>momento "aha" do reaproveitamento.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[48:00 - 49:00] ARMADILHAS</a:t>
            </a:r>
          </a:p>
          <a:p/>
          <a:p>
            <a:r>
              <a:t>Nao leia os dez. Escolha 4 ou 5 pelo perfil da turma e deixe o slide como</a:t>
            </a:r>
          </a:p>
          <a:p>
            <a:r>
              <a:t>material de consulta (eles terao o arquivo).</a:t>
            </a:r>
          </a:p>
          <a:p/>
          <a:p>
            <a:r>
              <a:t>Os obrigatorios, na minha opiniao:</a:t>
            </a:r>
          </a:p>
          <a:p>
            <a:r>
              <a:t>#1 addRequirements - o mais perigoso porque e invisivel</a:t>
            </a:r>
          </a:p>
          <a:p>
            <a:r>
              <a:t>#2 motor sem parar no end - o mais caro porque bate o robo</a:t>
            </a:r>
          </a:p>
          <a:p>
            <a:r>
              <a:t>#5 divisao inteira - aconteceu neste repositorio</a:t>
            </a:r>
          </a:p>
          <a:p>
            <a:r>
              <a:t>#7 @Override - o mais frustrante de depurar</a:t>
            </a:r>
          </a:p>
          <a:p/>
          <a:p>
            <a:r>
              <a:t>Para o #7, conte o cenario: o aluno escreve "public void exectue()". O</a:t>
            </a:r>
          </a:p>
          <a:p>
            <a:r>
              <a:t>compilador aceita (e so um metodo novo com nome esquisito). O comando roda e</a:t>
            </a:r>
          </a:p>
          <a:p>
            <a:r>
              <a:t>nao faz nada. Com @Override, o compilador diz na hora: "esse metodo nao existe</a:t>
            </a:r>
          </a:p>
          <a:p>
            <a:r>
              <a:t>no pai". Uma anotacao de 9 caracteres que economiza uma tarde.</a:t>
            </a:r>
          </a:p>
          <a:p/>
          <a:p>
            <a:r>
              <a:t>Peca para a turma dizer qual desses eles JA cometeram. Vai haver risada e</a:t>
            </a:r>
          </a:p>
          <a:p>
            <a:r>
              <a:t>reconhecimento - isso fixa.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[49:00 - 49:40] CHECKLIST</a:t>
            </a:r>
          </a:p>
          <a:p/>
          <a:p>
            <a:r>
              <a:t>Mandar o PDF/PPTX deste slide no grupo da turma. Sugira imprimir e colar na</a:t>
            </a:r>
          </a:p>
          <a:p>
            <a:r>
              <a:t>bancada - funciona de verdade em competicao.</a:t>
            </a:r>
          </a:p>
          <a:p/>
          <a:p>
            <a:r>
              <a:t>Diga: "em prova, 90% dos problemas que voces vao viver estao nesta lista. Nao</a:t>
            </a:r>
          </a:p>
          <a:p>
            <a:r>
              <a:t>e falta de talento, e falta de checklist. Piloto de aviao tem checklist, e eles</a:t>
            </a:r>
          </a:p>
          <a:p>
            <a:r>
              <a:t>sabem voar."</a:t>
            </a:r>
          </a:p>
          <a:p/>
          <a:p>
            <a:r>
              <a:t>Se sobrar tempo, faca a turma rodar a lista no proprio codigo agora, em voz</a:t>
            </a:r>
          </a:p>
          <a:p>
            <a:r>
              <a:t>alta, item por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[49:40 - 50:00] FECHAMENTO</a:t>
            </a:r>
          </a:p>
          <a:p/>
          <a:p>
            <a:r>
              <a:t>Leia as sete em voz alta, devagar. E o resumo executivo da aula - cada frase</a:t>
            </a:r>
          </a:p>
          <a:p>
            <a:r>
              <a:t>corresponde a um bloco.</a:t>
            </a:r>
          </a:p>
          <a:p/>
          <a:p>
            <a:r>
              <a:t>Aponte o caminho: lab4Autonomous (sequencias), lab5Pid (controle em malha</a:t>
            </a:r>
          </a:p>
          <a:p>
            <a:r>
              <a:t>fechada), lab8/lab9 (odometria com Pose2d). Diga que tudo que viram hoje e a</a:t>
            </a:r>
          </a:p>
          <a:p>
            <a:r>
              <a:t>base para esses labs - PID sem entender Command-Based e so copiar e colar.</a:t>
            </a:r>
          </a:p>
          <a:p/>
          <a:p>
            <a:r>
              <a:t>Encerre com a provocacao certa:</a:t>
            </a:r>
          </a:p>
          <a:p>
            <a:r>
              <a:t>"Codigo organizado nao e capricho de professor. Em WorldSkills, e o que</a:t>
            </a:r>
          </a:p>
          <a:p>
            <a:r>
              <a:t>permite voce consertar um bug em 2 minutos enquanto o time ao lado leva 20."</a:t>
            </a:r>
          </a:p>
          <a:p/>
          <a:p>
            <a:r>
              <a:t>Abra para perguntas finais e combine a tarefa (exercicio da Garra, se nao deu</a:t>
            </a:r>
          </a:p>
          <a:p>
            <a:r>
              <a:t>tempo em aula).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00">
                <a:solidFill>
                  <a:srgbClr val="22D3EE"/>
                </a:solidFill>
                <a:latin typeface="Segoe UI"/>
              </a:rPr>
              <a:t>WORLDSKILLS  ·  ROBÓTICA MÓVEL  ·  AULA 50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58521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5800" b="1" i="0">
                <a:solidFill>
                  <a:srgbClr val="FFFFFF"/>
                </a:solidFill>
                <a:latin typeface="Segoe UI"/>
              </a:rPr>
              <a:t>Command</a:t>
            </a:r>
          </a:p>
          <a:p>
            <a:pPr algn="l">
              <a:lnSpc>
                <a:spcPct val="92000"/>
              </a:lnSpc>
            </a:pPr>
            <a:r>
              <a:rPr sz="5800" b="1" i="0">
                <a:solidFill>
                  <a:srgbClr val="FFFFFF"/>
                </a:solidFill>
                <a:latin typeface="Segoe UI"/>
              </a:rPr>
              <a:t>Based</a:t>
            </a:r>
          </a:p>
          <a:p>
            <a:pPr algn="l">
              <a:lnSpc>
                <a:spcPct val="92000"/>
              </a:lnSpc>
            </a:pPr>
            <a:r>
              <a:rPr sz="5800" b="1" i="0">
                <a:solidFill>
                  <a:srgbClr val="FFFFFF"/>
                </a:solidFill>
                <a:latin typeface="Segoe UI"/>
              </a:rPr>
              <a:t>WPILib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" y="4069080"/>
            <a:ext cx="14630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8DA2C0"/>
                </a:solidFill>
                <a:latin typeface="Segoe UI"/>
              </a:rPr>
              <a:t>O essencial para programar o robô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8DA2C0"/>
                </a:solidFill>
                <a:latin typeface="Segoe UI"/>
              </a:rPr>
              <a:t>com organização — e a Programação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8DA2C0"/>
                </a:solidFill>
                <a:latin typeface="Segoe UI"/>
              </a:rPr>
              <a:t>Orientada a Objetos que sustenta isso.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E8C"/>
                </a:solidFill>
                <a:latin typeface="Consolas"/>
              </a:rPr>
              <a:t>Repositório: WorldSkills / lab3Encoder  ·  Java + WPILib + Titan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463040"/>
            <a:ext cx="4480560" cy="393192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69480" y="1463040"/>
            <a:ext cx="50292" cy="3931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591056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frc/robot/commands/SimpleDrive.java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7224" y="1975104"/>
            <a:ext cx="4096512" cy="33467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2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class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SimpleDrive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  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extends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CommandBase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final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 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OmniDrive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=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 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RobotContainer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SimpleDrive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250">
                <a:solidFill>
                  <a:srgbClr val="FDE68A"/>
                </a:solidFill>
                <a:latin typeface="Consolas"/>
              </a:rPr>
              <a:t>addRequirements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25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FDE68A"/>
                </a:solidFill>
                <a:latin typeface="Consolas"/>
              </a:rPr>
              <a:t>execute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50">
                <a:solidFill>
                  <a:srgbClr val="FDE68A"/>
                </a:solidFill>
                <a:latin typeface="Consolas"/>
              </a:rPr>
              <a:t>setMotor1Speed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50">
                <a:solidFill>
                  <a:srgbClr val="FBBF24"/>
                </a:solidFill>
                <a:latin typeface="Consolas"/>
              </a:rPr>
              <a:t>0.5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ROTEIRO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50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 que vamos cobrir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Cinco blocos. Cada bloco termina com uma pausa para perguntas.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2057400"/>
            <a:ext cx="11521440" cy="74980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2057400"/>
            <a:ext cx="64008" cy="7498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2402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Segoe U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7627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Command-Based: por que existe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78024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Subsystem, Command, Scheduler e o loop de 20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29514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onsolas"/>
              </a:rPr>
              <a:t>16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" y="2898648"/>
            <a:ext cx="11521440" cy="74980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" y="2898648"/>
            <a:ext cx="64008" cy="7498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0815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4D399"/>
                </a:solidFill>
                <a:latin typeface="Segoe U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0175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POO na prática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319272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Classe, objeto, instância, construtor, get/set, helpers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313639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Consolas"/>
              </a:rPr>
              <a:t>14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" y="3739896"/>
            <a:ext cx="11521440" cy="74980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" y="3739896"/>
            <a:ext cx="64008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92277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59E0B"/>
                </a:solidFill>
                <a:latin typeface="Segoe U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85876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Modificadores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16052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public, private, final, static — quando usar cada 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397763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onsolas"/>
              </a:rPr>
              <a:t>8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" y="4581144"/>
            <a:ext cx="11521440" cy="74980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" y="4581144"/>
            <a:ext cx="64008" cy="7498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76402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A78BFA"/>
                </a:solidFill>
                <a:latin typeface="Segoe U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700016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Tipos de variáveis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001768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Os tipos que aparecem de verdade neste repositório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481888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A78BFA"/>
                </a:solidFill>
                <a:latin typeface="Consolas"/>
              </a:rPr>
              <a:t>6 min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" y="5422392"/>
            <a:ext cx="11521440" cy="74980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9184" y="5422392"/>
            <a:ext cx="64008" cy="7498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60527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472B6"/>
                </a:solidFill>
                <a:latin typeface="Segoe U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54126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Mão na massa + armadilhas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84301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Exercício guiado e os erros que mais custam pontos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566013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472B6"/>
                </a:solidFill>
                <a:latin typeface="Consolas"/>
              </a:rPr>
              <a:t>6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1E2D49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01752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Command-Based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3192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0" i="0">
                <a:solidFill>
                  <a:srgbClr val="8DA2C0"/>
                </a:solidFill>
                <a:latin typeface="Segoe UI"/>
              </a:rPr>
              <a:t>Por que todo robo WPILib serio e escrito assim.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4892040"/>
            <a:ext cx="1783080" cy="38404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9834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spc="150">
                <a:solidFill>
                  <a:srgbClr val="22D3EE"/>
                </a:solidFill>
                <a:latin typeface="Segoe UI"/>
              </a:rPr>
              <a:t>16 MINUTOS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MOTIVAÇÃO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 robô de 800 linhas num só método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Todo time comeca assim. Todo time sofre depois.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669280" cy="393192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39319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87171"/>
                </a:solidFill>
                <a:latin typeface="Consolas"/>
              </a:rPr>
              <a:t>Robot.java  (NAO FACA ISSO)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285232" cy="33467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250">
                <a:solidFill>
                  <a:srgbClr val="6B7F9B"/>
                </a:solidFill>
                <a:latin typeface="Consolas"/>
              </a:rPr>
              <a:t>// ANTI-PADRAO: tudo dentro do loop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25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2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FDE68A"/>
                </a:solidFill>
                <a:latin typeface="Consolas"/>
              </a:rPr>
              <a:t>teleopPeriodic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if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joystick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50">
                <a:solidFill>
                  <a:srgbClr val="FDE68A"/>
                </a:solidFill>
                <a:latin typeface="Consolas"/>
              </a:rPr>
              <a:t>getXButton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50">
                <a:solidFill>
                  <a:srgbClr val="FDE68A"/>
                </a:solidFill>
                <a:latin typeface="Consolas"/>
              </a:rPr>
              <a:t>set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50">
                <a:solidFill>
                  <a:srgbClr val="FBBF24"/>
                </a:solidFill>
                <a:latin typeface="Consolas"/>
              </a:rPr>
              <a:t>0.5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if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encoder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50">
                <a:solidFill>
                  <a:srgbClr val="FDE68A"/>
                </a:solidFill>
                <a:latin typeface="Consolas"/>
              </a:rPr>
              <a:t>getDistance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&gt;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FBBF24"/>
                </a:solidFill>
                <a:latin typeface="Consolas"/>
              </a:rPr>
              <a:t>500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  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50">
                <a:solidFill>
                  <a:srgbClr val="FDE68A"/>
                </a:solidFill>
                <a:latin typeface="Consolas"/>
              </a:rPr>
              <a:t>set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50">
                <a:solidFill>
                  <a:srgbClr val="FBBF24"/>
                </a:solidFill>
                <a:latin typeface="Consolas"/>
              </a:rPr>
              <a:t>0.0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  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timer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FBBF24"/>
                </a:solidFill>
                <a:latin typeface="Consolas"/>
              </a:rPr>
              <a:t>0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if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joystick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50">
                <a:solidFill>
                  <a:srgbClr val="FDE68A"/>
                </a:solidFill>
                <a:latin typeface="Consolas"/>
              </a:rPr>
              <a:t>getYButton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50">
                <a:solidFill>
                  <a:srgbClr val="FDE68A"/>
                </a:solidFill>
                <a:latin typeface="Consolas"/>
              </a:rPr>
              <a:t>set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50">
                <a:solidFill>
                  <a:srgbClr val="FBBF24"/>
                </a:solidFill>
                <a:latin typeface="Consolas"/>
              </a:rPr>
              <a:t>0.5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250">
                <a:solidFill>
                  <a:srgbClr val="6B7F9B"/>
                </a:solidFill>
                <a:latin typeface="Consolas"/>
              </a:rPr>
              <a:t>// quem ganha?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250">
                <a:solidFill>
                  <a:srgbClr val="6B7F9B"/>
                </a:solidFill>
                <a:latin typeface="Consolas"/>
              </a:rPr>
              <a:t>  </a:t>
            </a:r>
            <a:r>
              <a:rPr b="0" i="1" sz="1250">
                <a:solidFill>
                  <a:srgbClr val="6B7F9B"/>
                </a:solidFill>
                <a:latin typeface="Consolas"/>
              </a:rPr>
              <a:t>// ... + 780 linhas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577840" cy="877824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4864" cy="87782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0756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Conflito de hardware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774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Dois trechos mandam no mesmo motor no mesmo ciclo.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926080"/>
            <a:ext cx="5577840" cy="877824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926080"/>
            <a:ext cx="54864" cy="87782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08152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Impossível reaproveitar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832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Precisa da mesma rotina no autônomo? Copia e cola.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931920"/>
            <a:ext cx="5577840" cy="877824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931920"/>
            <a:ext cx="54864" cy="87782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08736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Impossível testar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3891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Não existe 'rodar só o avanço de 50 cm'.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937760"/>
            <a:ext cx="5577840" cy="877824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937760"/>
            <a:ext cx="54864" cy="877824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50932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Segoe UI"/>
              </a:rPr>
              <a:t>Impossível dividir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3949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Três pessoas no mesmo arquivo = conflito de merge.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CONCEITO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A ideia 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Duas caixas, e só duas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90% do Command-Based cabe nesta ideia.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577840" cy="3200400"/>
          </a:xfrm>
          <a:prstGeom prst="roundRect">
            <a:avLst>
              <a:gd name="adj" fmla="val 4000"/>
            </a:avLst>
          </a:prstGeom>
          <a:solidFill>
            <a:srgbClr val="141E3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0">
                <a:solidFill>
                  <a:srgbClr val="22D3EE"/>
                </a:solidFill>
                <a:latin typeface="Segoe UI"/>
              </a:rPr>
              <a:t>SUBSYSTEM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4203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DA2C0"/>
                </a:solidFill>
                <a:latin typeface="Segoe UI"/>
              </a:rPr>
              <a:t>Dono exclusivo de um pedaço do robô.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DA2C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DA2C0"/>
                </a:solidFill>
                <a:latin typeface="Segoe UI"/>
              </a:rPr>
              <a:t>Sabe COMO mexer: ligar motor, ler encoder,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DA2C0"/>
                </a:solidFill>
                <a:latin typeface="Segoe UI"/>
              </a:rPr>
              <a:t>ler o giroscópio.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DA2C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DA2C0"/>
                </a:solidFill>
                <a:latin typeface="Segoe UI"/>
              </a:rPr>
              <a:t>Não decide NADA sobre a estratégia.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63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D3EE"/>
                </a:solidFill>
                <a:latin typeface="Consolas"/>
              </a:rPr>
              <a:t>OmniDrive.java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1920240"/>
            <a:ext cx="5577840" cy="3200400"/>
          </a:xfrm>
          <a:prstGeom prst="roundRect">
            <a:avLst>
              <a:gd name="adj" fmla="val 4000"/>
            </a:avLst>
          </a:prstGeom>
          <a:solidFill>
            <a:srgbClr val="141E33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21945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0">
                <a:solidFill>
                  <a:srgbClr val="F59E0B"/>
                </a:solidFill>
                <a:latin typeface="Segoe UI"/>
              </a:rPr>
              <a:t>COMMAND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254203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comportamento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320040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DA2C0"/>
                </a:solidFill>
                <a:latin typeface="Segoe UI"/>
              </a:rPr>
              <a:t>Uma ação com começo, meio e fim.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DA2C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DA2C0"/>
                </a:solidFill>
                <a:latin typeface="Segoe UI"/>
              </a:rPr>
              <a:t>Sabe O QUE fazer: andar 50 cm, girar 90°,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DA2C0"/>
                </a:solidFill>
                <a:latin typeface="Segoe UI"/>
              </a:rPr>
              <a:t>seguir o joystick.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DA2C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8DA2C0"/>
                </a:solidFill>
                <a:latin typeface="Segoe UI"/>
              </a:rPr>
              <a:t>Pede o subsystem emprestado enquanto roda.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4" y="4663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onsolas"/>
              </a:rPr>
              <a:t>SimpleDrive.java · DriveToDistance.java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" y="5349240"/>
            <a:ext cx="11530584" cy="96012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" y="5349240"/>
            <a:ext cx="54864" cy="9601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3" y="5532120"/>
            <a:ext cx="10981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34D399"/>
                </a:solidFill>
                <a:latin typeface="Segoe UI"/>
              </a:rPr>
              <a:t>★  A REGRA DE OURO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3" y="5879592"/>
            <a:ext cx="10981944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Subsystem nunca sabe quem o está usando. Command nunca toca no motor direto — ele sempre pede ao subsystem. Se você quebrar essa regra, volta ao robô de 800 linhas.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ESTRUTURA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Mapa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Onde cada coisa mora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Abra o lab3Encoder no VS Code e acompanhe.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852160" cy="393192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39319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estrutura real do lab3Encoder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468112" cy="33467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src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/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main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/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java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/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frc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/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robot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9FB3CC"/>
                </a:solidFill>
                <a:latin typeface="Consolas"/>
              </a:rPr>
              <a:t>|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Main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java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           </a:t>
            </a:r>
            <a:r>
              <a:rPr b="0" i="1" sz="1250">
                <a:solidFill>
                  <a:srgbClr val="6B7F9B"/>
                </a:solidFill>
                <a:latin typeface="Consolas"/>
              </a:rPr>
              <a:t>// nao mexa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Robot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java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          </a:t>
            </a:r>
            <a:r>
              <a:rPr b="0" i="1" sz="1250">
                <a:solidFill>
                  <a:srgbClr val="6B7F9B"/>
                </a:solidFill>
                <a:latin typeface="Consolas"/>
              </a:rPr>
              <a:t>// os modos: init / periodic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RobotContainer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java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 </a:t>
            </a:r>
            <a:r>
              <a:rPr b="0" i="1" sz="1250">
                <a:solidFill>
                  <a:srgbClr val="6B7F9B"/>
                </a:solidFill>
                <a:latin typeface="Consolas"/>
              </a:rPr>
              <a:t>// ** a sala de controle **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java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      </a:t>
            </a:r>
            <a:r>
              <a:rPr b="0" i="1" sz="1250">
                <a:solidFill>
                  <a:srgbClr val="6B7F9B"/>
                </a:solidFill>
                <a:latin typeface="Consolas"/>
              </a:rPr>
              <a:t>// numeros do robo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9FB3CC"/>
                </a:solidFill>
                <a:latin typeface="Consolas"/>
              </a:rPr>
              <a:t>|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subsystems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9FB3CC"/>
                </a:solidFill>
                <a:latin typeface="Consolas"/>
              </a:rPr>
              <a:t>|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 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OmniDrive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java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250">
                <a:solidFill>
                  <a:srgbClr val="6B7F9B"/>
                </a:solidFill>
                <a:latin typeface="Consolas"/>
              </a:rPr>
              <a:t>// motores, encoders, navX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9FB3CC"/>
                </a:solidFill>
                <a:latin typeface="Consolas"/>
              </a:rPr>
              <a:t>|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commands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SimpleDrive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java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     </a:t>
            </a:r>
            <a:r>
              <a:rPr b="0" i="1" sz="1250">
                <a:solidFill>
                  <a:srgbClr val="6B7F9B"/>
                </a:solidFill>
                <a:latin typeface="Consolas"/>
              </a:rPr>
              <a:t>// gira 1 motor a 50%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DriveToDistance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java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 </a:t>
            </a:r>
            <a:r>
              <a:rPr b="0" i="1" sz="1250">
                <a:solidFill>
                  <a:srgbClr val="6B7F9B"/>
                </a:solidFill>
                <a:latin typeface="Consolas"/>
              </a:rPr>
              <a:t>// anda X metros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AutoCommand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java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     </a:t>
            </a:r>
            <a:r>
              <a:rPr b="0" i="1" sz="1250">
                <a:solidFill>
                  <a:srgbClr val="6B7F9B"/>
                </a:solidFill>
                <a:latin typeface="Consolas"/>
              </a:rPr>
              <a:t>// sequencia do autonomo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DriveMotor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java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48840"/>
            <a:ext cx="5440680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225856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ARQUIVO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225856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RESPONSABILIDADE ÚNICA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551176"/>
            <a:ext cx="5440680" cy="676656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633472"/>
            <a:ext cx="1563624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Robot.java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633472"/>
            <a:ext cx="3438144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Liga o Scheduler. Chama o modo certo (teleop, autônomo, test).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310128"/>
            <a:ext cx="1563624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RobotContainer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3310128"/>
            <a:ext cx="3438144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Cria as instâncias, liga joystick aos comandos, define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904488"/>
            <a:ext cx="5440680" cy="676656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3986784"/>
            <a:ext cx="1563624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Constants.java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3986784"/>
            <a:ext cx="3438144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Portas, raio da roda, pulsos do encoder. Só números.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4663440"/>
            <a:ext cx="1563624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subsystems/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3" y="4663440"/>
            <a:ext cx="3438144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Uma classe por pedaço de hardware.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257800"/>
            <a:ext cx="5440680" cy="676656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5340096"/>
            <a:ext cx="1563624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commands/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3" y="5340096"/>
            <a:ext cx="3438144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Uma classe por comportamento.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SCHEDULER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 loop de 20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 coração: 50 voltas por segundo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O CommandScheduler é quem realmente roda o seu robô.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2011680"/>
            <a:ext cx="1600200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2157984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2D3EE"/>
                </a:solidFill>
                <a:latin typeface="Consolas"/>
              </a:rPr>
              <a:t>poll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" y="246888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lê botões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9384" y="226314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Segoe U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13432" y="2011680"/>
            <a:ext cx="1600200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13432" y="2157984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2D3EE"/>
                </a:solidFill>
                <a:latin typeface="Consolas"/>
              </a:rPr>
              <a:t>schedule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872" y="246888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agenda novos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226314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Segoe U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2011680"/>
            <a:ext cx="1600200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2157984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2D3EE"/>
                </a:solidFill>
                <a:latin typeface="Consolas"/>
              </a:rPr>
              <a:t>execute()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246888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roda os ativos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79" y="226314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7" y="2011680"/>
            <a:ext cx="1600200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7" y="2157984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2D3EE"/>
                </a:solidFill>
                <a:latin typeface="Consolas"/>
              </a:rPr>
              <a:t>isFinished()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7" y="246888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pergunta: acabou?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226314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Segoe U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66175" y="2011680"/>
            <a:ext cx="1600200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5" y="2157984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2D3EE"/>
                </a:solidFill>
                <a:latin typeface="Consolas"/>
              </a:rPr>
              <a:t>end()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5" y="246888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encerra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6376" y="226314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Segoe U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50424" y="2011680"/>
            <a:ext cx="1600200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50424" y="2157984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22D3EE"/>
                </a:solidFill>
                <a:latin typeface="Consolas"/>
              </a:rPr>
              <a:t>periodic()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41863" y="246888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subsystems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" y="3291840"/>
            <a:ext cx="5669280" cy="178308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" y="3291840"/>
            <a:ext cx="50292" cy="1783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341985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Robot.java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803904"/>
            <a:ext cx="5285232" cy="1197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20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2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0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FDE68A"/>
                </a:solidFill>
                <a:latin typeface="Consolas"/>
              </a:rPr>
              <a:t>robotPeriodic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200">
                <a:solidFill>
                  <a:srgbClr val="6B7F9B"/>
                </a:solidFill>
                <a:latin typeface="Consolas"/>
              </a:rPr>
              <a:t>  </a:t>
            </a:r>
            <a:r>
              <a:rPr b="0" i="1" sz="1200">
                <a:solidFill>
                  <a:srgbClr val="6B7F9B"/>
                </a:solidFill>
                <a:latin typeface="Consolas"/>
              </a:rPr>
              <a:t>// Sem esta linha, NADA funciona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0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200">
                <a:solidFill>
                  <a:srgbClr val="7DD3FC"/>
                </a:solidFill>
                <a:latin typeface="Consolas"/>
              </a:rPr>
              <a:t>CommandScheduler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00">
                <a:solidFill>
                  <a:srgbClr val="FDE68A"/>
                </a:solidFill>
                <a:latin typeface="Consolas"/>
              </a:rPr>
              <a:t>getInstance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00">
                <a:solidFill>
                  <a:srgbClr val="FDE68A"/>
                </a:solidFill>
                <a:latin typeface="Consolas"/>
              </a:rPr>
              <a:t>run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0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29184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3291840"/>
            <a:ext cx="26517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7" y="34930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59E0B"/>
                </a:solidFill>
                <a:latin typeface="Segoe UI"/>
              </a:rPr>
              <a:t>PERÍODO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7" y="3803904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0" i="0">
                <a:solidFill>
                  <a:srgbClr val="EAF1FB"/>
                </a:solidFill>
                <a:latin typeface="Segoe UI"/>
              </a:rPr>
              <a:t>20 ms = 50 Hz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9720" y="329184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89720" y="3291840"/>
            <a:ext cx="265176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90888" y="34930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59E0B"/>
                </a:solidFill>
                <a:latin typeface="Segoe UI"/>
              </a:rPr>
              <a:t>ORÇAMENTO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90888" y="3803904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0" i="0">
                <a:solidFill>
                  <a:srgbClr val="EAF1FB"/>
                </a:solidFill>
                <a:latin typeface="Segoe UI"/>
              </a:rPr>
              <a:t>&lt; 20 ms por volta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184" y="5257800"/>
            <a:ext cx="11530584" cy="105156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9184" y="5257800"/>
            <a:ext cx="54864" cy="10515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3503" y="5440680"/>
            <a:ext cx="10981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87171"/>
                </a:solidFill>
                <a:latin typeface="Segoe UI"/>
              </a:rPr>
              <a:t>!  CONSEQUÊNCIA PRÁTICA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3" y="5788152"/>
            <a:ext cx="10981944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execute() roda 50x por segundo. Nunca coloque Thread.sleep(), laço while longo ou System.out.println() em excesso lá dentro — você atrasa o loop e o robô começa a 'engasgar'. Esperar algo = devolver false em isFinished(), não travar o método.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CÓDIGO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Robot.java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Robot.java — o maestro, não o músico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Cada modo tem init (uma vez) e periodic (50x/s).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783080"/>
            <a:ext cx="7498079" cy="45720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783080"/>
            <a:ext cx="50292" cy="4572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911096"/>
            <a:ext cx="69494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frc/robot/Robot.java  (do repositorio)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95144"/>
            <a:ext cx="7114031" cy="3986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class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Robot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extends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TimedRobot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Command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m_autonomousCommand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RobotContainer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m_robotContainer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50">
                <a:solidFill>
                  <a:srgbClr val="F59E0B"/>
                </a:solidFill>
                <a:latin typeface="Consolas"/>
              </a:rPr>
              <a:t>@Override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              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roda UMA vez, no boot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robotInit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{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m_robotContainer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RobotContainer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50">
                <a:solidFill>
                  <a:srgbClr val="F59E0B"/>
                </a:solidFill>
                <a:latin typeface="Consolas"/>
              </a:rPr>
              <a:t>@Override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              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roda 50x por segundo, em todo modo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robotPeriodic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{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CommandScheduler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getInstance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run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5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autonomousInit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m_autonomousCommand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m_robotContainer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getAutonomousCommand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if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m_autonomousCommand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!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null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m_autonomousCommand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schedule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5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teleopInit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if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m_autonomousCommand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!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null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m_autonomousCommand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cancel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Oval 12"/>
          <p:cNvSpPr/>
          <p:nvPr/>
        </p:nvSpPr>
        <p:spPr>
          <a:xfrm>
            <a:off x="8001000" y="2066543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965960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@Override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240279"/>
            <a:ext cx="3630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DA2C0"/>
                </a:solidFill>
                <a:latin typeface="Segoe UI"/>
              </a:rPr>
              <a:t>Avisa o compilador: estou substituindo um método do pai TimedRobot. Erro de digitação = erro de compilação, não bug silencioso.</a:t>
            </a:r>
          </a:p>
        </p:txBody>
      </p:sp>
      <p:sp>
        <p:nvSpPr>
          <p:cNvPr id="16" name="Oval 15"/>
          <p:cNvSpPr/>
          <p:nvPr/>
        </p:nvSpPr>
        <p:spPr>
          <a:xfrm>
            <a:off x="8001000" y="3136391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3035808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schedule()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3310127"/>
            <a:ext cx="3630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DA2C0"/>
                </a:solidFill>
                <a:latin typeface="Segoe UI"/>
              </a:rPr>
              <a:t>Entrega o comando ao Scheduler. Quem executa é o loop.</a:t>
            </a:r>
          </a:p>
        </p:txBody>
      </p:sp>
      <p:sp>
        <p:nvSpPr>
          <p:cNvPr id="19" name="Oval 18"/>
          <p:cNvSpPr/>
          <p:nvPr/>
        </p:nvSpPr>
        <p:spPr>
          <a:xfrm>
            <a:off x="8001000" y="4206240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4105656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cancel()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4379976"/>
            <a:ext cx="3630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DA2C0"/>
                </a:solidFill>
                <a:latin typeface="Segoe UI"/>
              </a:rPr>
              <a:t>Mata o autônomo ao entrar em teleop — senão os dois disputam o drive.</a:t>
            </a:r>
          </a:p>
        </p:txBody>
      </p:sp>
      <p:sp>
        <p:nvSpPr>
          <p:cNvPr id="22" name="Oval 21"/>
          <p:cNvSpPr/>
          <p:nvPr/>
        </p:nvSpPr>
        <p:spPr>
          <a:xfrm>
            <a:off x="8001000" y="527608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5175504"/>
            <a:ext cx="3630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null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5449824"/>
            <a:ext cx="36301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DA2C0"/>
                </a:solidFill>
                <a:latin typeface="Segoe UI"/>
              </a:rPr>
              <a:t>getAutonomousCommand() do nosso repo devolve null hoje.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CÓDIGO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RobotContainer.java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RobotContainer — a sala de controle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Único lugar onde objetos nascem e ligações são feitas.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783080"/>
            <a:ext cx="7315200" cy="47091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783080"/>
            <a:ext cx="50292" cy="47091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911096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frc/robot/RobotContainer.java  (do repositorio)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95144"/>
            <a:ext cx="6931152" cy="4123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class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RobotContainer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OmniDrive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       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1. declara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SimpleDrive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simpleDrive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XboxController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driverJoystick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RobotContainer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              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2. CONSTRUTOR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OmniDrive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           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3. instancia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simpleDrive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SimpleDrive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driverJoystick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XboxController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kDriverControllerPort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 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4. comando padrao: enquanto ninguem pedir nada, siga o joystick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setDefaultCommand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RunCommand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&gt;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holonomicDrive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       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driverJoystick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getRawAxis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kDriverXAxis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       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driverJoystick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getRawAxis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kDriverYAxis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       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driverJoystick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getRawAxis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kDriverRotAxis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   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configureButtonBindings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            </a:t>
            </a:r>
            <a:r>
              <a:rPr b="0" i="1" sz="1050">
                <a:solidFill>
                  <a:srgbClr val="6B7F9B"/>
                </a:solidFill>
                <a:latin typeface="Consolas"/>
              </a:rPr>
              <a:t>// 5. liga botoes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Oval 12"/>
          <p:cNvSpPr/>
          <p:nvPr/>
        </p:nvSpPr>
        <p:spPr>
          <a:xfrm>
            <a:off x="7726679" y="2066543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2711" y="1965960"/>
            <a:ext cx="39044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1 · Declarar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1" y="2240279"/>
            <a:ext cx="39044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Reservar o nome. O objeto ainda não existe — vale null.</a:t>
            </a:r>
          </a:p>
        </p:txBody>
      </p:sp>
      <p:sp>
        <p:nvSpPr>
          <p:cNvPr id="16" name="Oval 15"/>
          <p:cNvSpPr/>
          <p:nvPr/>
        </p:nvSpPr>
        <p:spPr>
          <a:xfrm>
            <a:off x="7726679" y="296265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82711" y="2862072"/>
            <a:ext cx="39044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2 · Construtor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1" y="3136391"/>
            <a:ext cx="39044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Roda uma vez, quando Robot faz new RobotContainer().</a:t>
            </a:r>
          </a:p>
        </p:txBody>
      </p:sp>
      <p:sp>
        <p:nvSpPr>
          <p:cNvPr id="19" name="Oval 18"/>
          <p:cNvSpPr/>
          <p:nvPr/>
        </p:nvSpPr>
        <p:spPr>
          <a:xfrm>
            <a:off x="7726679" y="385876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82711" y="3758183"/>
            <a:ext cx="39044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3 · Instanciar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2711" y="4032503"/>
            <a:ext cx="39044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new = agora existe de verdade na memória.</a:t>
            </a:r>
          </a:p>
        </p:txBody>
      </p:sp>
      <p:sp>
        <p:nvSpPr>
          <p:cNvPr id="22" name="Oval 21"/>
          <p:cNvSpPr/>
          <p:nvPr/>
        </p:nvSpPr>
        <p:spPr>
          <a:xfrm>
            <a:off x="7726679" y="475488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1" y="4654296"/>
            <a:ext cx="39044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4 · Default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2711" y="4928616"/>
            <a:ext cx="39044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Comando que roda quando o subsystem está livre.</a:t>
            </a:r>
          </a:p>
        </p:txBody>
      </p:sp>
      <p:sp>
        <p:nvSpPr>
          <p:cNvPr id="25" name="Oval 24"/>
          <p:cNvSpPr/>
          <p:nvPr/>
        </p:nvSpPr>
        <p:spPr>
          <a:xfrm>
            <a:off x="7726679" y="565099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82711" y="5550408"/>
            <a:ext cx="39044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5 · Bindings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1" y="5824728"/>
            <a:ext cx="39044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Botão → comando.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SUBSYSTEM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Declaração de campos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OmniDrive — o dono do 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extends SubsystemBase: ganha periodic() de graça e entra no Scheduler.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6858000" cy="40233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40233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6309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frc/robot/subsystems/OmniDrive.java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6473952" cy="3438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2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class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OmniDrive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extends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SubsystemBase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250">
                <a:solidFill>
                  <a:srgbClr val="6B7F9B"/>
                </a:solidFill>
                <a:latin typeface="Consolas"/>
              </a:rPr>
              <a:t>    </a:t>
            </a:r>
            <a:r>
              <a:rPr b="0" i="1" sz="1250">
                <a:solidFill>
                  <a:srgbClr val="6B7F9B"/>
                </a:solidFill>
                <a:latin typeface="Consolas"/>
              </a:rPr>
              <a:t>/** Motores */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Titan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titan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Titan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Motor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250">
                <a:solidFill>
                  <a:srgbClr val="6B7F9B"/>
                </a:solidFill>
                <a:latin typeface="Consolas"/>
              </a:rPr>
              <a:t>// direito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Titan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Motor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motor2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250">
                <a:solidFill>
                  <a:srgbClr val="6B7F9B"/>
                </a:solidFill>
                <a:latin typeface="Consolas"/>
              </a:rPr>
              <a:t>// traseiro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Titan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Motor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motor3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250">
                <a:solidFill>
                  <a:srgbClr val="6B7F9B"/>
                </a:solidFill>
                <a:latin typeface="Consolas"/>
              </a:rPr>
              <a:t>// esquerdo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250">
                <a:solidFill>
                  <a:srgbClr val="6B7F9B"/>
                </a:solidFill>
                <a:latin typeface="Consolas"/>
              </a:rPr>
              <a:t>    </a:t>
            </a:r>
            <a:r>
              <a:rPr b="0" i="1" sz="1250">
                <a:solidFill>
                  <a:srgbClr val="6B7F9B"/>
                </a:solidFill>
                <a:latin typeface="Consolas"/>
              </a:rPr>
              <a:t>/** Encoders */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Encoder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encoderMotor1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Encoder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encoderMotor2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Encoder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encoderMotor3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250">
                <a:solidFill>
                  <a:srgbClr val="6B7F9B"/>
                </a:solidFill>
                <a:latin typeface="Consolas"/>
              </a:rPr>
              <a:t>    </a:t>
            </a:r>
            <a:r>
              <a:rPr b="0" i="1" sz="1250">
                <a:solidFill>
                  <a:srgbClr val="6B7F9B"/>
                </a:solidFill>
                <a:latin typeface="Consolas"/>
              </a:rPr>
              <a:t>/** Sensores */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2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7DD3FC"/>
                </a:solidFill>
                <a:latin typeface="Consolas"/>
              </a:rPr>
              <a:t>AHRS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navX</a:t>
            </a:r>
            <a:r>
              <a:rPr b="0" i="0" sz="12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250">
                <a:solidFill>
                  <a:srgbClr val="DCE6F2"/>
                </a:solidFill>
                <a:latin typeface="Consolas"/>
              </a:rPr>
              <a:t>             </a:t>
            </a:r>
            <a:r>
              <a:rPr b="0" i="1" sz="1250">
                <a:solidFill>
                  <a:srgbClr val="6B7F9B"/>
                </a:solidFill>
                <a:latin typeface="Consolas"/>
              </a:rPr>
              <a:t>// giroscopio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920240"/>
            <a:ext cx="4434840" cy="123444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1920240"/>
            <a:ext cx="4434840" cy="50292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2121408"/>
            <a:ext cx="4069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472B6"/>
                </a:solidFill>
                <a:latin typeface="Segoe UI"/>
              </a:rPr>
              <a:t>PRIVATE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2432304"/>
            <a:ext cx="406907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Ninguém fora da classe toca no motor.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Acesso só pelos métodos públicos.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291840"/>
            <a:ext cx="4434840" cy="123444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3291840"/>
            <a:ext cx="4434840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8" y="3493008"/>
            <a:ext cx="4069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34D399"/>
                </a:solidFill>
                <a:latin typeface="Segoe UI"/>
              </a:rPr>
              <a:t>FINAL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3803904"/>
            <a:ext cx="406907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Depois de atribuído no construtor,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nunca mais aponta para outro Encoder.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4663440"/>
            <a:ext cx="4434840" cy="123444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4663440"/>
            <a:ext cx="4434840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7808" y="4864607"/>
            <a:ext cx="4069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A78BFA"/>
                </a:solidFill>
                <a:latin typeface="Segoe UI"/>
              </a:rPr>
              <a:t>TITAN.MOTOR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5175504"/>
            <a:ext cx="406907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Classe interna (nested): um Motor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sempre pertence a um Titan.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SUBSYSTEM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Construtor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 construtor: a linha de montagem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Roda uma única vez. Transforma a lista de peças em hardware vivo.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7315200" cy="42062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4206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OmniDrive() — construtor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6931152" cy="3621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OmniDrive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  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1. Um Titan, tres motores retirados dele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titan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Titan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TITAN_ID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titan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getMotor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M1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motor2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titan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getMotor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M2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motor3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titan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getMotor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M3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  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2. Encoders: porta A, porta B, invertido?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encoderMotor1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Encoder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kMotor1tEncoderPortA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                           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kMotor1tEncoderPortB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                           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kMotor1EncoderReversed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  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3. Calibracao: cada pulso vale quantos mm?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encoderMotor1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setDistancePerPulse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wheelDistPerTick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  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4. Giroscopio no barramento SPI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navX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AHRS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SPI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Port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kMXP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2203703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1" y="2103120"/>
            <a:ext cx="3767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Mesmo nome da classe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1" y="2377439"/>
            <a:ext cx="3767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OmniDrive() dentro de class OmniDrive.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0" y="3136391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1" y="3035808"/>
            <a:ext cx="3767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Sem tipo de retorno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1" y="3310127"/>
            <a:ext cx="3767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Não é void. É nada. Ele devolve o próprio objeto.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0" y="4069080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1" y="3968496"/>
            <a:ext cx="3767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Chamado pelo new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1" y="4242816"/>
            <a:ext cx="3767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new OmniDrive() = aloca + roda o construtor.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0" y="500176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1" y="4901183"/>
            <a:ext cx="3767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Só montagem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1" y="5175503"/>
            <a:ext cx="3767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Nada de lógica de jogo aqui.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5074920"/>
            <a:ext cx="3995928" cy="118872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5074920"/>
            <a:ext cx="54864" cy="1188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5257800"/>
            <a:ext cx="3447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59E0B"/>
                </a:solidFill>
                <a:latin typeface="Segoe UI"/>
              </a:rPr>
              <a:t>→  CONSTANTS AO RESGATE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605272"/>
            <a:ext cx="344728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Nenhum número solto no construtor. Trocou a porta do encoder? Um arquivo, uma linha.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SUBSYSTEM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periodic()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periodic() — o olho do subsystem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Chamado pelo Scheduler a cada 20 ms, independente de qualquer comando.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6492240" cy="301752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30175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943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OmniDrive.periodic()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6108192" cy="2432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periodic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    </a:t>
            </a:r>
            <a:r>
              <a:rPr b="0" i="1" sz="1150">
                <a:solidFill>
                  <a:srgbClr val="6B7F9B"/>
                </a:solidFill>
                <a:latin typeface="Consolas"/>
              </a:rPr>
              <a:t>// Telemetria: so LER e PUBLICAR, nunca decidir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SmartDashboard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putNumber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86EFAC"/>
                </a:solidFill>
                <a:latin typeface="Consolas"/>
              </a:rPr>
              <a:t>"Robot Heading"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getYaw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SmartDashboard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putNumber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86EFAC"/>
                </a:solidFill>
                <a:latin typeface="Consolas"/>
              </a:rPr>
              <a:t>"Encoder m1"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getEncoderMotor1Distance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SmartDashboard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putNumber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86EFAC"/>
                </a:solidFill>
                <a:latin typeface="Consolas"/>
              </a:rPr>
              <a:t>"Encoder m2"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getEncoderMotor2Distance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SmartDashboard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putNumber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86EFAC"/>
                </a:solidFill>
                <a:latin typeface="Consolas"/>
              </a:rPr>
              <a:t>"Encoder m3"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getEncoderMotor3Distance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920240"/>
            <a:ext cx="4754880" cy="14173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1920240"/>
            <a:ext cx="4754880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7768" y="212140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22D3EE"/>
                </a:solidFill>
                <a:latin typeface="Segoe UI"/>
              </a:rPr>
              <a:t>PARA QUE 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432304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Telemetria, atualizar odometria,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manter cache de sensores.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Tudo que precisa rodar sempre.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3520440"/>
            <a:ext cx="4754880" cy="14173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86600" y="3520440"/>
            <a:ext cx="4754880" cy="50292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87768" y="372160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87171"/>
                </a:solidFill>
                <a:latin typeface="Segoe UI"/>
              </a:rPr>
              <a:t>NUNCA FAÇA AQUI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4032504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Acionar motor. Decidir estratégia.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Se ligar motor no periodic, ele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ignora o Scheduler e os conflitos.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" y="5166360"/>
            <a:ext cx="11530584" cy="114300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" y="5166360"/>
            <a:ext cx="54864" cy="1143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3" y="5349240"/>
            <a:ext cx="10981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34D399"/>
                </a:solidFill>
                <a:latin typeface="Segoe UI"/>
              </a:rPr>
              <a:t>★  DICA DE PROVA: O SMARTDASHBOARD É SEU DEPURADOR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3" y="5696712"/>
            <a:ext cx="10981944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Sem console no robô em pista, o painel é como você enxerga. Publique encoder, ângulo e setpoint ANTES de tentar ajustar PID — quem ajusta no escuro perde tempo e pontos.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Ciclo de vida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Todo Command tem quatro momentos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Decorar estes quatro métodos é decorar o framework.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965960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0756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MÉTODO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07568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QUANDO RODA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075688"/>
            <a:ext cx="5312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O QUE COLOCAR DENTRO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" y="2368296"/>
            <a:ext cx="11530584" cy="65836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450591"/>
            <a:ext cx="2157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initialize()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450591"/>
            <a:ext cx="343814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1x, ao ser agendado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450591"/>
            <a:ext cx="52760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Zerar encoder, zerar giro, resetar PID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108959"/>
            <a:ext cx="2157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execute()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8" y="3108959"/>
            <a:ext cx="343814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a cada 20 ms, sem parar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108959"/>
            <a:ext cx="52760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Calcular e enviar a velocidade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3685031"/>
            <a:ext cx="11530584" cy="65836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767327"/>
            <a:ext cx="2157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isFinished()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3767327"/>
            <a:ext cx="343814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a cada 20 ms, após 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767327"/>
            <a:ext cx="52760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true = chegou ao alvo; false = continua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425695"/>
            <a:ext cx="2157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end(boolean)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2928" y="4425695"/>
            <a:ext cx="343814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1x, ao terminar ou ser cancelado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425695"/>
            <a:ext cx="52760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Parar motor. SEMPRE pare o motor aqui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" y="4754880"/>
            <a:ext cx="2592324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" y="4901184"/>
            <a:ext cx="25923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onsolas"/>
              </a:rPr>
              <a:t>initialize()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3" y="5212080"/>
            <a:ext cx="24094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preparar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1508" y="500634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59E0B"/>
                </a:solidFill>
                <a:latin typeface="Segoe UI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05556" y="4754880"/>
            <a:ext cx="2592324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05556" y="4901184"/>
            <a:ext cx="25923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onsolas"/>
              </a:rPr>
              <a:t>execute()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96996" y="5212080"/>
            <a:ext cx="24094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agir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79" y="500634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59E0B"/>
                </a:solidFill>
                <a:latin typeface="Segoe U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81927" y="4754880"/>
            <a:ext cx="2592324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7" y="4901184"/>
            <a:ext cx="25923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onsolas"/>
              </a:rPr>
              <a:t>isFinished()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7" y="5212080"/>
            <a:ext cx="24094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checar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4251" y="500634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59E0B"/>
                </a:solidFill>
                <a:latin typeface="Segoe UI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58300" y="4754880"/>
            <a:ext cx="2592324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58300" y="4901184"/>
            <a:ext cx="25923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onsolas"/>
              </a:rPr>
              <a:t>end(false)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9740" y="5212080"/>
            <a:ext cx="24094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limpar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" y="5897880"/>
            <a:ext cx="11521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DA2C0"/>
                </a:solidFill>
                <a:latin typeface="Consolas"/>
              </a:rPr>
              <a:t>end(true) = fui interrompido por outro comando    ·    end(false) = terminei sozinho, isFinished() deu true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CÓDIGO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SimpleDrive.java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Um Command inteiro, de verdade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33 linhas que fazem um motor girar a 50% até o botão X ser apertado.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783080"/>
            <a:ext cx="7772400" cy="475488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783080"/>
            <a:ext cx="50292" cy="47548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911096"/>
            <a:ext cx="7223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frc/robot/commands/SimpleDrive.java  (do repositorio)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95144"/>
            <a:ext cx="7388352" cy="416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class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SimpleDrive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extends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CommandBase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 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// pega a instancia unica do subsystem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OmniDrive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RobotContainer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SimpleDrive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addRequirements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               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// "eu preciso do drive"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0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initialize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{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resetEncoders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0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execute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{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setMotor1Speed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FBBF24"/>
                </a:solidFill>
                <a:latin typeface="Consolas"/>
              </a:rPr>
              <a:t>0.5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}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// 50%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0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end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boolean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interrupted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setMotor1Speed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FBBF24"/>
                </a:solidFill>
                <a:latin typeface="Consolas"/>
              </a:rPr>
              <a:t>0.0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            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// PARE o motor. Sempre.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0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boolean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isFinished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return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RobotContainer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driverJoystick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getXButton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0" y="2066543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1965960"/>
            <a:ext cx="3355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extends CommandBase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240279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Herda schedule(), cancel(), withTimeout()...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303580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2935224"/>
            <a:ext cx="3355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addRequirements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209544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Reserva o subsystem. Base de toda a proteção.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0" y="4005072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3904487"/>
            <a:ext cx="3355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Usa get/set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4178807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Nunca toca em motor1 direto.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0" y="4974336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4873752"/>
            <a:ext cx="3355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isFinished pelo botão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5148072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Condição de parada pode ser qualquer boolean.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983480"/>
            <a:ext cx="3630168" cy="155448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983480"/>
            <a:ext cx="54864" cy="15544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5166360"/>
            <a:ext cx="30815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34D399"/>
                </a:solidFill>
                <a:latin typeface="Segoe UI"/>
              </a:rPr>
              <a:t>★  LEIA O CÓDIGO ASSIM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513832"/>
            <a:ext cx="3081528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Qual subsystem ele pede? O que faz a cada ciclo? Como sabe que acabou? Três perguntas e você entendeu qualquer Command.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CÓDIGO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DriveToDistance.java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Command com parâmetro: reaproveitamento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O mesmo comando serve para 0,5 m, 1 m ou 2,3 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737360"/>
            <a:ext cx="7315200" cy="48920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737360"/>
            <a:ext cx="50292" cy="48920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865376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frc/robot/commands/DriveToDistance.java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49424"/>
            <a:ext cx="6931152" cy="4306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9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class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7DD3FC"/>
                </a:solidFill>
                <a:latin typeface="Consolas"/>
              </a:rPr>
              <a:t>DriveToDistance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extends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7DD3FC"/>
                </a:solidFill>
                <a:latin typeface="Consolas"/>
              </a:rPr>
              <a:t>CommandBase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7DD3FC"/>
                </a:solidFill>
                <a:latin typeface="Consolas"/>
              </a:rPr>
              <a:t>OmniDrive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7DD3FC"/>
                </a:solidFill>
                <a:latin typeface="Consolas"/>
              </a:rPr>
              <a:t>RobotContainer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7DD3FC"/>
                </a:solidFill>
                <a:latin typeface="Consolas"/>
              </a:rPr>
              <a:t>MILIMETROS_POR_METRO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1000.0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distance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0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                 </a:t>
            </a:r>
            <a:r>
              <a:rPr b="0" i="1" sz="950">
                <a:solidFill>
                  <a:srgbClr val="6B7F9B"/>
                </a:solidFill>
                <a:latin typeface="Consolas"/>
              </a:rPr>
              <a:t>// alvo em mm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950">
                <a:solidFill>
                  <a:srgbClr val="6B7F9B"/>
                </a:solidFill>
                <a:latin typeface="Consolas"/>
              </a:rPr>
              <a:t>  </a:t>
            </a:r>
            <a:r>
              <a:rPr b="0" i="1" sz="950">
                <a:solidFill>
                  <a:srgbClr val="6B7F9B"/>
                </a:solidFill>
                <a:latin typeface="Consolas"/>
              </a:rPr>
              <a:t>/** @param metros distancia a percorrer, em METROS */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7DD3FC"/>
                </a:solidFill>
                <a:latin typeface="Consolas"/>
              </a:rPr>
              <a:t>DriveToDistance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metros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addRequirements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distance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metros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1" sz="950">
                <a:solidFill>
                  <a:srgbClr val="6B7F9B"/>
                </a:solidFill>
                <a:latin typeface="Consolas"/>
              </a:rPr>
              <a:t>* MILIMETROS_POR_METRO;   // guarda convertido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95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initialize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{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resetEncoders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resetYaw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95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execute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{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holonomicDrive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0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5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0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95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end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boolean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i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{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holonomicDrive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0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0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BBF24"/>
                </a:solidFill>
                <a:latin typeface="Consolas"/>
              </a:rPr>
              <a:t>0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95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boolean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isFinished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950">
                <a:solidFill>
                  <a:srgbClr val="FF7AB6"/>
                </a:solidFill>
                <a:latin typeface="Consolas"/>
              </a:rPr>
              <a:t>return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950">
                <a:solidFill>
                  <a:srgbClr val="FDE68A"/>
                </a:solidFill>
                <a:latin typeface="Consolas"/>
              </a:rPr>
              <a:t>getAverageForwardEncoderDistance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&gt;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950">
                <a:solidFill>
                  <a:srgbClr val="DCE6F2"/>
                </a:solidFill>
                <a:latin typeface="Consolas"/>
              </a:rPr>
              <a:t>distance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9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95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2066543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431" y="1965960"/>
            <a:ext cx="3858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Parâmetro no construtor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2240279"/>
            <a:ext cx="3858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double metros entra, fica guardado no campo distance.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0" y="3310127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1" y="3209544"/>
            <a:ext cx="3858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Unidade explícita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3483863"/>
            <a:ext cx="3858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O nome do parâmetro e o Javadoc dizem a unidade. Metade dos bugs de autônomo é unidade errada.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0" y="455371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1" y="4453127"/>
            <a:ext cx="3858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Constante nomeada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4727447"/>
            <a:ext cx="3858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MILIMETROS_POR_METRO vale mais que um 1000.0 solto.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0" y="5797295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5696711"/>
            <a:ext cx="3858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AF1FB"/>
                </a:solidFill>
                <a:latin typeface="Segoe UI"/>
              </a:rPr>
              <a:t>isFinished com sensor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5971031"/>
            <a:ext cx="38587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DA2C0"/>
                </a:solidFill>
                <a:latin typeface="Segoe UI"/>
              </a:rPr>
              <a:t>Compara encoder com alvo — isso é feedback, não cronômetro.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SCHEDULER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Requisitos e conflito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addRequirements: o porteiro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Uma regra simples que elimina a classe de bug mais perigosa do robô.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577840" cy="1828800"/>
          </a:xfrm>
          <a:prstGeom prst="roundRect">
            <a:avLst>
              <a:gd name="adj" fmla="val 7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22D3EE"/>
                </a:solidFill>
                <a:latin typeface="Segoe UI"/>
              </a:rPr>
              <a:t>A REGRA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Segoe UI"/>
              </a:rPr>
              <a:t>Um subsystem pertence a no máximo</a:t>
            </a:r>
          </a:p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Segoe UI"/>
              </a:rPr>
              <a:t>UM comando por vez.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Chegou um novo? O antigo é interrompido (end(true)).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596128" cy="18288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0292" cy="18288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048256"/>
            <a:ext cx="5047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87171"/>
                </a:solidFill>
                <a:latin typeface="Consolas"/>
              </a:rPr>
              <a:t>a linha que todo mundo esquece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32304"/>
            <a:ext cx="5212080" cy="1243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2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7DD3FC"/>
                </a:solidFill>
                <a:latin typeface="Consolas"/>
              </a:rPr>
              <a:t>SimpleDrive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0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200">
                <a:solidFill>
                  <a:srgbClr val="FDE68A"/>
                </a:solidFill>
                <a:latin typeface="Consolas"/>
              </a:rPr>
              <a:t>addRequirements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0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200">
                <a:solidFill>
                  <a:srgbClr val="6B7F9B"/>
                </a:solidFill>
                <a:latin typeface="Consolas"/>
              </a:rPr>
              <a:t>// esqueceu esta linha?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200">
                <a:solidFill>
                  <a:srgbClr val="6B7F9B"/>
                </a:solidFill>
                <a:latin typeface="Consolas"/>
              </a:rPr>
              <a:t>// -&gt; dois comandos no mesmo motor,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200">
                <a:solidFill>
                  <a:srgbClr val="6B7F9B"/>
                </a:solidFill>
                <a:latin typeface="Consolas"/>
              </a:rPr>
              <a:t>//    sem aviso, sem erro, so caos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" y="4023360"/>
            <a:ext cx="2592324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4169664"/>
            <a:ext cx="25923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onsolas"/>
              </a:rPr>
              <a:t>SimpleDrive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3" y="4480560"/>
            <a:ext cx="24094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DA2C0"/>
                </a:solidFill>
                <a:latin typeface="Segoe UI"/>
              </a:rPr>
              <a:t>rodando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1508" y="427482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59E0B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05556" y="4023360"/>
            <a:ext cx="2592324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05556" y="4169664"/>
            <a:ext cx="25923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onsolas"/>
              </a:rPr>
              <a:t>botão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6996" y="4480560"/>
            <a:ext cx="24094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DA2C0"/>
                </a:solidFill>
                <a:latin typeface="Segoe UI"/>
              </a:rPr>
              <a:t>agenda DriveToDistance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79" y="427482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59E0B"/>
                </a:solidFill>
                <a:latin typeface="Segoe U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1927" y="4023360"/>
            <a:ext cx="2592324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7" y="4169664"/>
            <a:ext cx="25923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onsolas"/>
              </a:rPr>
              <a:t>end(true)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7" y="4480560"/>
            <a:ext cx="24094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DA2C0"/>
                </a:solidFill>
                <a:latin typeface="Segoe UI"/>
              </a:rPr>
              <a:t>SimpleDrive morre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4251" y="427482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59E0B"/>
                </a:solidFill>
                <a:latin typeface="Segoe U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58300" y="4023360"/>
            <a:ext cx="2592324" cy="86868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8300" y="4169664"/>
            <a:ext cx="25923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onsolas"/>
              </a:rPr>
              <a:t>DriveToDistance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9740" y="4480560"/>
            <a:ext cx="24094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8DA2C0"/>
                </a:solidFill>
                <a:latin typeface="Segoe UI"/>
              </a:rPr>
              <a:t>assume o drive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" y="5257800"/>
            <a:ext cx="11530584" cy="105156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" y="5257800"/>
            <a:ext cx="54864" cy="10515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3" y="5440680"/>
            <a:ext cx="10981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34D399"/>
                </a:solidFill>
                <a:latin typeface="Segoe UI"/>
              </a:rPr>
              <a:t>★  DEFAULT COMMAND: O ESTADO DE REPOUSO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3" y="5788152"/>
            <a:ext cx="10981944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setDefaultCommand(...) roda quando ninguém mais quer o subsystem. No nosso robô é o RunCommand do joystick — por isso o teleop 'volta a responder' sozinho quando um comando termina.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ENTRADA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Botões e comandos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Ligar o joystick ao comportamento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configureButtonBindings() é o painel de controle do atleta.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6949440" cy="22860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2286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RobotContainer.configureButtonBindings()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6565392" cy="1700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20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0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FDE68A"/>
                </a:solidFill>
                <a:latin typeface="Consolas"/>
              </a:rPr>
              <a:t>configureButtonBindings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0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200">
                <a:solidFill>
                  <a:srgbClr val="7DD3FC"/>
                </a:solidFill>
                <a:latin typeface="Consolas"/>
              </a:rPr>
              <a:t>JoystickButton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motor1Forward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0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7DD3FC"/>
                </a:solidFill>
                <a:latin typeface="Consolas"/>
              </a:rPr>
              <a:t>JoystickButton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00">
                <a:solidFill>
                  <a:srgbClr val="DCE6F2"/>
                </a:solidFill>
                <a:latin typeface="Consolas"/>
              </a:rPr>
              <a:t>      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driverJoystick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7DD3FC"/>
                </a:solidFill>
                <a:latin typeface="Consolas"/>
              </a:rPr>
              <a:t>XboxController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00">
                <a:solidFill>
                  <a:srgbClr val="7DD3FC"/>
                </a:solidFill>
                <a:latin typeface="Consolas"/>
              </a:rPr>
              <a:t>Button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kBumperLeft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value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0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motor1Forward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00">
                <a:solidFill>
                  <a:srgbClr val="FDE68A"/>
                </a:solidFill>
                <a:latin typeface="Consolas"/>
              </a:rPr>
              <a:t>whenPressed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120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7DD3FC"/>
                </a:solidFill>
                <a:latin typeface="Consolas"/>
              </a:rPr>
              <a:t>SimpleDrive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0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" y="4389120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44988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MÉTODO DO BOTÃO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4498848"/>
            <a:ext cx="4937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COMPORTAMENTO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4498848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USO TÍPICO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" y="4791456"/>
            <a:ext cx="11530584" cy="47548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4873752"/>
            <a:ext cx="27066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whenPressed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4873752"/>
            <a:ext cx="49011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Agenda uma vez, na borda de subida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4873752"/>
            <a:ext cx="3264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Abrir garra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5349240"/>
            <a:ext cx="27066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whileHeld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5349240"/>
            <a:ext cx="49011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Roda enquanto segurado, cancela ao soltar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5349240"/>
            <a:ext cx="3264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Puxar coletor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" y="5742431"/>
            <a:ext cx="11530584" cy="47548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5824727"/>
            <a:ext cx="27066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whenReleased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5824727"/>
            <a:ext cx="49011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Agenda ao soltar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5824727"/>
            <a:ext cx="3264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Travar mecanismo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6300215"/>
            <a:ext cx="27066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toggleWhenPressed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568" y="6300215"/>
            <a:ext cx="49011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Liga/desliga a cada aperto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6300215"/>
            <a:ext cx="32644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Ligar compressor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79" y="1920240"/>
            <a:ext cx="4361688" cy="22860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79" y="1920240"/>
            <a:ext cx="4361688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99248" y="2121408"/>
            <a:ext cx="3995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59E0B"/>
                </a:solidFill>
                <a:latin typeface="Segoe UI"/>
              </a:rPr>
              <a:t>O PADRÃO DE 3 LINHAS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9248" y="2432304"/>
            <a:ext cx="3995927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1. crie o JoystickButton com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   (joystick, número do botão)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2. escolha o gatilho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3. passe o comando novo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01 · COMPOSIÇÃO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Comandos como Lego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Compor é mais poderoso que escrever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Autônomo bom é feito de comandos pequenos encaixados.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669280" cy="23774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2377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frc/robot/commands/AutoCommand.java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285232" cy="1792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class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AutoCommand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extends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SequentialCommandGroup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AutoCommand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addCommands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   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SimpleDrive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withTimeout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FBBF24"/>
                </a:solidFill>
                <a:latin typeface="Consolas"/>
              </a:rPr>
              <a:t>5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150">
                <a:solidFill>
                  <a:srgbClr val="6B7F9B"/>
                </a:solidFill>
                <a:latin typeface="Consolas"/>
              </a:rPr>
              <a:t>// 5 s no maximo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   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DriveToDistance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FBBF24"/>
                </a:solidFill>
                <a:latin typeface="Consolas"/>
              </a:rPr>
              <a:t>0.5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         </a:t>
            </a:r>
            <a:r>
              <a:rPr b="0" i="1" sz="1150">
                <a:solidFill>
                  <a:srgbClr val="6B7F9B"/>
                </a:solidFill>
                <a:latin typeface="Consolas"/>
              </a:rPr>
              <a:t>// depois, 0,5 m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596128" cy="23774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0292" cy="2377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048256"/>
            <a:ext cx="5047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59E0B"/>
                </a:solidFill>
                <a:latin typeface="Consolas"/>
              </a:rPr>
              <a:t>RunCommand / InstantCommand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32304"/>
            <a:ext cx="5212080" cy="1792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// Comando inline: sem criar arquivo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setDefaultCommand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RunCommand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&gt;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holonomicDrive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x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y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z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InstantCommand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&gt;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resetYaw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" y="4443984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455371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FERRAMENTA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4553712"/>
            <a:ext cx="7415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O QUE FAZ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4846320"/>
            <a:ext cx="11530584" cy="36576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4928616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SequentialCommandGroup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4928616"/>
            <a:ext cx="7379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Um depois do outro, em fila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5294376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ParallelCommandGroup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5294376"/>
            <a:ext cx="7379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Todos juntos; termina quando o último acabar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" y="5577840"/>
            <a:ext cx="11530584" cy="36576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5660136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ParallelRaceGroup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5660136"/>
            <a:ext cx="7379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Todos juntos; termina quando o PRIMEIRO acabar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6025896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withTimeout(seg)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6025896"/>
            <a:ext cx="7379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Rede de segurança: cancela se passar do tempo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" y="6309360"/>
            <a:ext cx="11530584" cy="36576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391656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andThen / alongWith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6391656"/>
            <a:ext cx="7379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Encadeia direto, sem criar classe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1E2D49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01752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Orientação a Objetos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3192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0" i="0">
                <a:solidFill>
                  <a:srgbClr val="8DA2C0"/>
                </a:solidFill>
                <a:latin typeface="Segoe UI"/>
              </a:rPr>
              <a:t>Classe, objeto, instância, construtor, get/set e helpers —</a:t>
            </a:r>
          </a:p>
          <a:p>
            <a:pPr algn="l">
              <a:lnSpc>
                <a:spcPct val="115000"/>
              </a:lnSpc>
            </a:pPr>
            <a:r>
              <a:rPr sz="1750" b="0" i="0">
                <a:solidFill>
                  <a:srgbClr val="8DA2C0"/>
                </a:solidFill>
                <a:latin typeface="Segoe UI"/>
              </a:rPr>
              <a:t>com o código do nosso robô.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4892040"/>
            <a:ext cx="1783080" cy="38404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9834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spc="150">
                <a:solidFill>
                  <a:srgbClr val="34D399"/>
                </a:solidFill>
                <a:latin typeface="Segoe UI"/>
              </a:rPr>
              <a:t>14 MINUTOS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FUNDAMENTO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Classe · Objeto · Instância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 confusão que trava todo iniciante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Três palavras, uma ideia. Vamos matar isso em dois minutos.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3730752" cy="301752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3" y="21945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22D3EE"/>
                </a:solidFill>
                <a:latin typeface="Segoe UI"/>
              </a:rPr>
              <a:t>CLASSE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3" y="2542032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A planta da casa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3" y="34290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O molde. Existe uma vez, no arquivo .java.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Não ocupa motor nenhum.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3" y="4343400"/>
            <a:ext cx="3200400" cy="411480"/>
          </a:xfrm>
          <a:prstGeom prst="roundRect">
            <a:avLst>
              <a:gd name="adj" fmla="val 20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3" y="44531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2D3EE"/>
                </a:solidFill>
                <a:latin typeface="Consolas"/>
              </a:rPr>
              <a:t>class OmniDrive { ...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920240"/>
            <a:ext cx="3730752" cy="301752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1945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F59E0B"/>
                </a:solidFill>
                <a:latin typeface="Segoe UI"/>
              </a:rPr>
              <a:t>OBJETO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542032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A casa construída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4290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O que existe na memória do robô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e de fato controla o hardware.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8848" y="4343400"/>
            <a:ext cx="3200400" cy="411480"/>
          </a:xfrm>
          <a:prstGeom prst="roundRect">
            <a:avLst>
              <a:gd name="adj" fmla="val 20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44531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59E0B"/>
                </a:solidFill>
                <a:latin typeface="Consolas"/>
              </a:rPr>
              <a:t>new OmniDrive()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1" y="1920240"/>
            <a:ext cx="3730752" cy="3017520"/>
          </a:xfrm>
          <a:prstGeom prst="roundRect">
            <a:avLst>
              <a:gd name="adj" fmla="val 4500"/>
            </a:avLst>
          </a:prstGeom>
          <a:solidFill>
            <a:srgbClr val="141E33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21945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220">
                <a:solidFill>
                  <a:srgbClr val="34D399"/>
                </a:solidFill>
                <a:latin typeface="Segoe UI"/>
              </a:rPr>
              <a:t>INSTÂNCIA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2542032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 i="0">
                <a:solidFill>
                  <a:srgbClr val="FFFFFF"/>
                </a:solidFill>
                <a:latin typeface="Segoe UI"/>
              </a:rPr>
              <a:t>Esta casa, a de nº 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34290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Um objeto específico, com seus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próprios valores de encoder.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94192" y="4343400"/>
            <a:ext cx="3200400" cy="411480"/>
          </a:xfrm>
          <a:prstGeom prst="roundRect">
            <a:avLst>
              <a:gd name="adj" fmla="val 20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44531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34D399"/>
                </a:solidFill>
                <a:latin typeface="Consolas"/>
              </a:rPr>
              <a:t>RobotContainer.drive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" y="5212080"/>
            <a:ext cx="11530584" cy="109728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" y="5212080"/>
            <a:ext cx="54864" cy="10972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3" y="5394960"/>
            <a:ext cx="10981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A78BFA"/>
                </a:solidFill>
                <a:latin typeface="Segoe UI"/>
              </a:rPr>
              <a:t>→  NA PRÁTICA, NO NOSSO ROBÔ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3" y="5742432"/>
            <a:ext cx="1098194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Existe 1 classe OmniDrive e 1 objeto OmniDrive (o robô tem um chassi só). Mas existem 3 objetos Encoder criados da MESMA classe Encoder — três instâncias, três contagens independentes.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CLASSE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Anatomia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Anatomia de uma classe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Toda classe deste repositório segue exatamente esta ordem.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783080"/>
            <a:ext cx="7223760" cy="47091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783080"/>
            <a:ext cx="50292" cy="47091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911096"/>
            <a:ext cx="6675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a ordem canonica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95144"/>
            <a:ext cx="6839712" cy="4123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package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frc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robot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subsystems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        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// 1. endereco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import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edu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wpi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first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wpilibj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Encoder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// 2. o que vou usar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class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OmniDrive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extends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SubsystemBase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// 3. assinatura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Titan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Motor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      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// 4. ATRIBUTOS (estado)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Encoder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encoderMotor1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OmniDrive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{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             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// 5. CONSTRUTOR (montagem)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   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titan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getMotor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M1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0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periodic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{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}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       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// 6. ciclo de vida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setMotor1Speed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speed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{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// 7. METODOS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   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set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speed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getEncoderMotor1Distance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return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encoderMotor1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getDistance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Oval 12"/>
          <p:cNvSpPr/>
          <p:nvPr/>
        </p:nvSpPr>
        <p:spPr>
          <a:xfrm>
            <a:off x="7635240" y="2066543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1" y="1965960"/>
            <a:ext cx="3995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Estado + comportamento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2240279"/>
            <a:ext cx="39959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Atributos são o que a classe SABE. Métodos são o que ela FAZ.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3145536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91271" y="3044952"/>
            <a:ext cx="3995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Uma responsabilidade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1" y="3319272"/>
            <a:ext cx="39959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Se a classe faz drive E garra E visão, divida.</a:t>
            </a:r>
          </a:p>
        </p:txBody>
      </p:sp>
      <p:sp>
        <p:nvSpPr>
          <p:cNvPr id="19" name="Oval 18"/>
          <p:cNvSpPr/>
          <p:nvPr/>
        </p:nvSpPr>
        <p:spPr>
          <a:xfrm>
            <a:off x="7635240" y="422452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1" y="4123944"/>
            <a:ext cx="3995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Ordem importa (para humanos)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1" y="4398264"/>
            <a:ext cx="39959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O compilador não liga. Seu colega de equipe liga.</a:t>
            </a:r>
          </a:p>
        </p:txBody>
      </p:sp>
      <p:sp>
        <p:nvSpPr>
          <p:cNvPr id="22" name="Oval 21"/>
          <p:cNvSpPr/>
          <p:nvPr/>
        </p:nvSpPr>
        <p:spPr>
          <a:xfrm>
            <a:off x="7635240" y="5303520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91271" y="5202936"/>
            <a:ext cx="39959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extends = herança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1" y="5477255"/>
            <a:ext cx="39959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Ganha tudo do pai e pode adicionar o seu.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CONSTRUTOR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 método de nascimento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Construtor: roda uma vez, no new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Se o objeto nasce configurado, ninguém erra depois.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760720" cy="22860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2286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dois construtores do nosso repo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376672" cy="1700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Sem parametro: sempre igual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SimpleDrive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addRequirements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Com parametro: configuravel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DriveToDistance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metros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addRequirements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distance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metros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* 1000.0;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920240"/>
            <a:ext cx="5550408" cy="22860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50292" cy="2286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048256"/>
            <a:ext cx="5001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59E0B"/>
                </a:solidFill>
                <a:latin typeface="Consolas"/>
              </a:rPr>
              <a:t>sobrecarga (overload)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432304"/>
            <a:ext cx="5166360" cy="1700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Sobrecarga: mesmo nome, assinaturas diferentes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DriveToDistance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metros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this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metros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FBBF24"/>
                </a:solidFill>
                <a:latin typeface="Consolas"/>
              </a:rPr>
              <a:t>0.5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        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reusa o outro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DriveToDistance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metros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vel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distance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metros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* 1000.0;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speed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vel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" y="4370832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4480560"/>
            <a:ext cx="2834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REGRA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4480560"/>
            <a:ext cx="8330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DETALHE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4773168"/>
            <a:ext cx="11530584" cy="38404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4855464"/>
            <a:ext cx="2798063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Nome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4855464"/>
            <a:ext cx="8293608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Idêntico ao da classe — sem exceção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5239512"/>
            <a:ext cx="2798063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Retorno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5239512"/>
            <a:ext cx="8293608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Nenhum. Nem void. Ele devolve o objeto pronto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" y="5541264"/>
            <a:ext cx="11530584" cy="38404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5623560"/>
            <a:ext cx="2798063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Quem chama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5623560"/>
            <a:ext cx="8293608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O operador new, automaticamente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6007608"/>
            <a:ext cx="2798063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Quantos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3008" y="6007608"/>
            <a:ext cx="8293608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Vários, se as assinaturas forem diferentes (sobrecarga)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" y="6309360"/>
            <a:ext cx="11530584" cy="38404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391656"/>
            <a:ext cx="2798063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Se eu não escrever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8" y="6391656"/>
            <a:ext cx="8293608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Java cria um vazio para você — até você escrever um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INSTÂNCIA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 que o new faz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Declarar ≠ instanciar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O erro mais comum do primeiro mês: NullPointerException.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760720" cy="224028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224028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87171"/>
                </a:solidFill>
                <a:latin typeface="Consolas"/>
              </a:rPr>
              <a:t>o ciclo de vida de uma referencia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376672" cy="1655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OmniDrive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DECLARA: nome existe, vale null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... se eu usar agora: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resetEncoders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       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&gt;&gt; NullPointerException &lt;&lt;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OmniDrive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     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INSTANCIA: objeto existe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resetEncoders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       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agora sim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20240"/>
            <a:ext cx="5550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new OmniDrive() em 4 passos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377440"/>
            <a:ext cx="5550408" cy="411480"/>
          </a:xfrm>
          <a:prstGeom prst="roundRect">
            <a:avLst>
              <a:gd name="adj" fmla="val 15000"/>
            </a:avLst>
          </a:prstGeom>
          <a:solidFill>
            <a:srgbClr val="141E33"/>
          </a:solidFill>
          <a:ln w="762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2D3EE"/>
                </a:solidFill>
                <a:latin typeface="Consola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46888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aloca memória para o objeto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852928"/>
            <a:ext cx="5550408" cy="411480"/>
          </a:xfrm>
          <a:prstGeom prst="roundRect">
            <a:avLst>
              <a:gd name="adj" fmla="val 15000"/>
            </a:avLst>
          </a:prstGeom>
          <a:solidFill>
            <a:srgbClr val="141E33"/>
          </a:solidFill>
          <a:ln w="762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9443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onsola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94436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roda o construtor OmniDrive()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328416"/>
            <a:ext cx="5550408" cy="411480"/>
          </a:xfrm>
          <a:prstGeom prst="roundRect">
            <a:avLst>
              <a:gd name="adj" fmla="val 15000"/>
            </a:avLst>
          </a:prstGeom>
          <a:solidFill>
            <a:srgbClr val="141E33"/>
          </a:solidFill>
          <a:ln w="762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4198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4D399"/>
                </a:solidFill>
                <a:latin typeface="Consola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41985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devolve o endereço do objeto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803904"/>
            <a:ext cx="5550408" cy="411480"/>
          </a:xfrm>
          <a:prstGeom prst="roundRect">
            <a:avLst>
              <a:gd name="adj" fmla="val 15000"/>
            </a:avLst>
          </a:prstGeom>
          <a:solidFill>
            <a:srgbClr val="141E33"/>
          </a:solidFill>
          <a:ln w="762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89534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78BFA"/>
                </a:solidFill>
                <a:latin typeface="Consola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9534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a variável drive guarda esse endereço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" y="4572000"/>
            <a:ext cx="11530584" cy="91440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" y="4572000"/>
            <a:ext cx="54864" cy="9144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3" y="4754880"/>
            <a:ext cx="10981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87171"/>
                </a:solidFill>
                <a:latin typeface="Segoe UI"/>
              </a:rPr>
              <a:t>!  LENDO O ERRO DE VERDADE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3" y="5102352"/>
            <a:ext cx="10981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NullPointerException em OmniDrive.resetEncoders() quase sempre significa: você usou a variável antes do new — ou o new está num construtor que ainda não rodou.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" y="5669280"/>
            <a:ext cx="11530584" cy="6858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9184" y="5669280"/>
            <a:ext cx="50292" cy="685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5760720"/>
            <a:ext cx="11146536" cy="521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7DD3FC"/>
                </a:solidFill>
                <a:latin typeface="Consolas"/>
              </a:rPr>
              <a:t>Robot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robotInit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&gt;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RobotContainer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&gt;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OmniDrive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&gt;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Titan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FBBF24"/>
                </a:solidFill>
                <a:latin typeface="Consolas"/>
              </a:rPr>
              <a:t>42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Encoder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FBBF24"/>
                </a:solidFill>
                <a:latin typeface="Consolas"/>
              </a:rPr>
              <a:t>0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50">
                <a:solidFill>
                  <a:srgbClr val="FBBF24"/>
                </a:solidFill>
                <a:latin typeface="Consolas"/>
              </a:rPr>
              <a:t>1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,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false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AHRS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SPI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Port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kMXP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MÉTODOS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Setters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set — a porta de ENTRADA do subsystem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Recebe um valor, mexe no hardware, não devolve nada (void).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6492240" cy="40233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40233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943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OmniDrive — setters reais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6108192" cy="3438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</a:t>
            </a:r>
            <a:r>
              <a:rPr b="0" i="1" sz="1150">
                <a:solidFill>
                  <a:srgbClr val="6B7F9B"/>
                </a:solidFill>
                <a:latin typeface="Consolas"/>
              </a:rPr>
              <a:t>**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 </a:t>
            </a:r>
            <a:r>
              <a:rPr b="0" i="1" sz="1150">
                <a:solidFill>
                  <a:srgbClr val="6B7F9B"/>
                </a:solidFill>
                <a:latin typeface="Consolas"/>
              </a:rPr>
              <a:t>* Sets the speed of the motor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 </a:t>
            </a:r>
            <a:r>
              <a:rPr b="0" i="1" sz="1150">
                <a:solidFill>
                  <a:srgbClr val="6B7F9B"/>
                </a:solidFill>
                <a:latin typeface="Consolas"/>
              </a:rPr>
              <a:t>* @param speed range -1 to 1 (0 stop)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 </a:t>
            </a:r>
            <a:r>
              <a:rPr b="0" i="1" sz="1150">
                <a:solidFill>
                  <a:srgbClr val="6B7F9B"/>
                </a:solidFill>
                <a:latin typeface="Consolas"/>
              </a:rPr>
              <a:t>*/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setMotor1Speed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speed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set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speed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// Varios parametros de uma vez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setDriveMotorSpeeds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motor3Speed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                           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motor1Speed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                           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motor2Speed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motor3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set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motor3Speed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set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motor1Speed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motor2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set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motor2Speed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1920240"/>
            <a:ext cx="4864608" cy="11887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95160" y="1920240"/>
            <a:ext cx="4864608" cy="502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96328" y="2121408"/>
            <a:ext cx="4498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22D3EE"/>
                </a:solidFill>
                <a:latin typeface="Segoe UI"/>
              </a:rPr>
              <a:t>ASSINATURA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8" y="2432304"/>
            <a:ext cx="44988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public  void  setX( tipo valor )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visibilidade · retorno · nome · parâmetro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3246120"/>
            <a:ext cx="4864608" cy="11887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95160" y="3246120"/>
            <a:ext cx="4864608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96328" y="3447288"/>
            <a:ext cx="4498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59E0B"/>
                </a:solidFill>
                <a:latin typeface="Segoe UI"/>
              </a:rPr>
              <a:t>CONVENÇÃO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3758183"/>
            <a:ext cx="44988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set + o que muda, em camelCase.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setMotor1Speed, não mudaVeloc1.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4572000"/>
            <a:ext cx="4864608" cy="13716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95160" y="4572000"/>
            <a:ext cx="4864608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96328" y="4773168"/>
            <a:ext cx="4498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34D399"/>
                </a:solidFill>
                <a:latin typeface="Segoe UI"/>
              </a:rPr>
              <a:t>PODER DO SETTER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6328" y="5084064"/>
            <a:ext cx="44988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É aqui que você valida: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limitar a −1..1, aplicar deadband,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registrar log. Impossível se o campo</a:t>
            </a:r>
          </a:p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AF1FB"/>
                </a:solidFill>
                <a:latin typeface="Segoe UI"/>
              </a:rPr>
              <a:t>fosse público.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MÉTODOS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Getters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get — a janela de SAÍDA do subsystem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Não recebe nada, devolve um valor. É assim que o Command vê o mundo.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6492240" cy="40233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40233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943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OmniDrive — getters reais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6108192" cy="3438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/** @return distancia percorrida em mm */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getEncoderMotor1Distance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return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encoderMotor1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getDistance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/** @return velocidade em mm/s */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getSpeedMotor1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return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encoderMotor1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getRate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/** @return angulo do navX, -180 a 180 graus */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getYaw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return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navX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getYaw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Oval 12"/>
          <p:cNvSpPr/>
          <p:nvPr/>
        </p:nvSpPr>
        <p:spPr>
          <a:xfrm>
            <a:off x="6995160" y="2112264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51192" y="2011680"/>
            <a:ext cx="4590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Tipo de retorno ≠ void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1192" y="2286000"/>
            <a:ext cx="45902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double, boolean, Pose2d... e um return obrigatório.</a:t>
            </a:r>
          </a:p>
        </p:txBody>
      </p:sp>
      <p:sp>
        <p:nvSpPr>
          <p:cNvPr id="16" name="Oval 15"/>
          <p:cNvSpPr/>
          <p:nvPr/>
        </p:nvSpPr>
        <p:spPr>
          <a:xfrm>
            <a:off x="6995160" y="3118104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1192" y="3017520"/>
            <a:ext cx="4590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Sem parâmetros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1192" y="3291840"/>
            <a:ext cx="45902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Getter que recebe argumento provavelmente não é getter.</a:t>
            </a:r>
          </a:p>
        </p:txBody>
      </p:sp>
      <p:sp>
        <p:nvSpPr>
          <p:cNvPr id="19" name="Oval 18"/>
          <p:cNvSpPr/>
          <p:nvPr/>
        </p:nvSpPr>
        <p:spPr>
          <a:xfrm>
            <a:off x="6995160" y="4123944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1192" y="4023360"/>
            <a:ext cx="4590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get vs 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4297680"/>
            <a:ext cx="45902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Para boolean a convenção é isFinished(), isAtSetpoint().</a:t>
            </a:r>
          </a:p>
        </p:txBody>
      </p:sp>
      <p:sp>
        <p:nvSpPr>
          <p:cNvPr id="22" name="Oval 21"/>
          <p:cNvSpPr/>
          <p:nvPr/>
        </p:nvSpPr>
        <p:spPr>
          <a:xfrm>
            <a:off x="6995160" y="5129784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51192" y="5029200"/>
            <a:ext cx="4590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AF1FB"/>
                </a:solidFill>
                <a:latin typeface="Segoe UI"/>
              </a:rPr>
              <a:t>Documente a UNIDADE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5303520"/>
            <a:ext cx="45902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DA2C0"/>
                </a:solidFill>
                <a:latin typeface="Segoe UI"/>
              </a:rPr>
              <a:t>@return em mm. Essa linha salva autônomos.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95160" y="5074920"/>
            <a:ext cx="4864608" cy="123444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95160" y="5074920"/>
            <a:ext cx="54864" cy="12344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5257800"/>
            <a:ext cx="43159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A78BFA"/>
                </a:solidFill>
                <a:latin typeface="Segoe UI"/>
              </a:rPr>
              <a:t>→  QUEM USA ISSO?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5605272"/>
            <a:ext cx="4315968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DriveToDistance.isFinished() chama getAverageForwardEncoderDistance(). O Command enxerga o robô exclusivamente pelos getters.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ENCAPSULAMENTO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Por que não usar campo público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 argumento que fecha a discussão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Mesma funcionalidade. Manutenção completamente diferente.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669280" cy="22860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22860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87171"/>
                </a:solidFill>
                <a:latin typeface="Consolas"/>
              </a:rPr>
              <a:t>sem encapsulamento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285232" cy="1700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// RUIM: campo exposto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class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OmniDrive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Titan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Motor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// qualquer comando pode fazer: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set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FBBF24"/>
                </a:solidFill>
                <a:latin typeface="Consolas"/>
              </a:rPr>
              <a:t>1.4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150">
                <a:solidFill>
                  <a:srgbClr val="6B7F9B"/>
                </a:solidFill>
                <a:latin typeface="Consolas"/>
              </a:rPr>
              <a:t>// fora de faixa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drive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null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    </a:t>
            </a:r>
            <a:r>
              <a:rPr b="0" i="1" sz="1150">
                <a:solidFill>
                  <a:srgbClr val="6B7F9B"/>
                </a:solidFill>
                <a:latin typeface="Consolas"/>
              </a:rPr>
              <a:t>// destruiu o robo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596128" cy="22860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0292" cy="2286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048256"/>
            <a:ext cx="5047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34D399"/>
                </a:solidFill>
                <a:latin typeface="Consolas"/>
              </a:rPr>
              <a:t>com encapsulamento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32304"/>
            <a:ext cx="5212080" cy="1700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BOM: campo privado, porta controlada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class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OmniDrive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Titan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Motor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setMotor1Speed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speed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   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speed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Math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max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100">
                <a:solidFill>
                  <a:srgbClr val="FBBF24"/>
                </a:solidFill>
                <a:latin typeface="Consolas"/>
              </a:rPr>
              <a:t>1.0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Math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min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FBBF24"/>
                </a:solidFill>
                <a:latin typeface="Consolas"/>
              </a:rPr>
              <a:t>1.0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speed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   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set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speed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 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sempre seguro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" y="4370832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44805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PRECISO...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8" y="448056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CAMPO PÚBLICO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4480560"/>
            <a:ext cx="37581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COM GET/SET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" y="4773168"/>
            <a:ext cx="11530584" cy="45720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4855464"/>
            <a:ext cx="3438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Limitar velocidade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8" y="4855464"/>
            <a:ext cx="37124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Caçar todos os .set() do projeto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4855464"/>
            <a:ext cx="37216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1 linha no setter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5312664"/>
            <a:ext cx="3438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Adicionar log/telemetria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3088" y="5312664"/>
            <a:ext cx="37124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Repetir em cada chamada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5008" y="5312664"/>
            <a:ext cx="37216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1 linha no setter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" y="5687568"/>
            <a:ext cx="11530584" cy="457200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5769864"/>
            <a:ext cx="3438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Trocar Titan por outro driver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33088" y="5769864"/>
            <a:ext cx="37124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Reescrever todos os comandos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5008" y="5769864"/>
            <a:ext cx="37216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Só o subsystem muda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6227064"/>
            <a:ext cx="343814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Achar quem mexeu no motor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3088" y="6227064"/>
            <a:ext cx="37124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Buscar no projeto inteiro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5008" y="6227064"/>
            <a:ext cx="37216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Só existe um caminho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02 · HELPERS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Métodos auxiliares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Helpers: os métodos que organizam sua cabeça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Pedaços pequenos, com nome, usados por outros métodos da própria classe.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783080"/>
            <a:ext cx="7040880" cy="47091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783080"/>
            <a:ext cx="50292" cy="47091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911096"/>
            <a:ext cx="6492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helpers reais do repositorio (OmniDrive / Odometry)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95144"/>
            <a:ext cx="6656832" cy="4123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HELPER 1: combina dois getters num valor util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getAverageForwardEncoderDistance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return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-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getEncoderMotor3Distance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       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+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getEncoderMotor1Distance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/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BBF24"/>
                </a:solidFill>
                <a:latin typeface="Consolas"/>
              </a:rPr>
              <a:t>2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HELPER 2: converte unidade (mm/s -&gt; rotacoes/s)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getRpsSpeedMotor1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return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getSpeedMotor1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/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wheelPerimiter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HELPER 3: privado, so arruma a casa internamente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publishTelemetry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SmartDashboard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putNumber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86EFAC"/>
                </a:solidFill>
                <a:latin typeface="Consolas"/>
              </a:rPr>
              <a:t>"Pose X"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odometry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getPose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getX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7DD3FC"/>
                </a:solidFill>
                <a:latin typeface="Consolas"/>
              </a:rPr>
              <a:t>SmartDashboard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putNumber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86EFAC"/>
                </a:solidFill>
                <a:latin typeface="Consolas"/>
              </a:rPr>
              <a:t>"Pose Y"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odometry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getPose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getY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HELPER 4: static, matematica pura, nao precisa de objeto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[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]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DE68A"/>
                </a:solidFill>
                <a:latin typeface="Consolas"/>
              </a:rPr>
              <a:t>forwardKinematics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d1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50">
                <a:solidFill>
                  <a:srgbClr val="DCE6F2"/>
                </a:solidFill>
                <a:latin typeface="Consolas"/>
              </a:rPr>
              <a:t>                                       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d2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d3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)</a:t>
            </a:r>
          </a:p>
        </p:txBody>
      </p:sp>
      <p:sp>
        <p:nvSpPr>
          <p:cNvPr id="13" name="Oval 12"/>
          <p:cNvSpPr/>
          <p:nvPr/>
        </p:nvSpPr>
        <p:spPr>
          <a:xfrm>
            <a:off x="7452360" y="2066543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08392" y="1965960"/>
            <a:ext cx="41788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Nome diz tudo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2240279"/>
            <a:ext cx="41788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getAverageForwardEncoderDistance explica a conta melhor que um comentário.</a:t>
            </a:r>
          </a:p>
        </p:txBody>
      </p:sp>
      <p:sp>
        <p:nvSpPr>
          <p:cNvPr id="16" name="Oval 15"/>
          <p:cNvSpPr/>
          <p:nvPr/>
        </p:nvSpPr>
        <p:spPr>
          <a:xfrm>
            <a:off x="7452360" y="3200399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8392" y="3099815"/>
            <a:ext cx="41788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Evita repetição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3374135"/>
            <a:ext cx="41788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A média dos encoders é usada em 3 comandos — escrita uma vez.</a:t>
            </a:r>
          </a:p>
        </p:txBody>
      </p:sp>
      <p:sp>
        <p:nvSpPr>
          <p:cNvPr id="19" name="Oval 18"/>
          <p:cNvSpPr/>
          <p:nvPr/>
        </p:nvSpPr>
        <p:spPr>
          <a:xfrm>
            <a:off x="7452360" y="4334256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4233672"/>
            <a:ext cx="41788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private se for interno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8392" y="4507992"/>
            <a:ext cx="41788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publishTelemetry() só interessa à própria classe.</a:t>
            </a:r>
          </a:p>
        </p:txBody>
      </p:sp>
      <p:sp>
        <p:nvSpPr>
          <p:cNvPr id="22" name="Oval 21"/>
          <p:cNvSpPr/>
          <p:nvPr/>
        </p:nvSpPr>
        <p:spPr>
          <a:xfrm>
            <a:off x="7452360" y="5468112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08392" y="5367528"/>
            <a:ext cx="41788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AF1FB"/>
                </a:solidFill>
                <a:latin typeface="Segoe UI"/>
              </a:rPr>
              <a:t>static se for conta pura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5641848"/>
            <a:ext cx="41788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8DA2C0"/>
                </a:solidFill>
                <a:latin typeface="Segoe UI"/>
              </a:rPr>
              <a:t>forwardKinematics não lê nenhum sensor: só matemática.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1E2D49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01752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public · private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final · static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3192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0" i="0">
                <a:solidFill>
                  <a:srgbClr val="8DA2C0"/>
                </a:solidFill>
                <a:latin typeface="Segoe UI"/>
              </a:rPr>
              <a:t>Quatro palavras que mudam o significado do seu código.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4892040"/>
            <a:ext cx="1783080" cy="38404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9834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spc="150">
                <a:solidFill>
                  <a:srgbClr val="F59E0B"/>
                </a:solidFill>
                <a:latin typeface="Segoe UI"/>
              </a:rPr>
              <a:t>8 MINUTOS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03 · VISIBILIDADE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public · private · protected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Quem pode enxergar o quê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Visibilidade é sobre CONFIANÇA, não sobre segurança.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965960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07568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MODIFICADOR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207568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QUEM ACESSA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2075688"/>
            <a:ext cx="5038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USO NO NOSSO ROBÔ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" y="2368296"/>
            <a:ext cx="11530584" cy="56692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450591"/>
            <a:ext cx="20665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public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2450591"/>
            <a:ext cx="38039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Qualquer classe do projeto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450591"/>
            <a:ext cx="50017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API do subsystem: setMotor1Speed, getYaw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017520"/>
            <a:ext cx="20665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protected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1488" y="3017520"/>
            <a:ext cx="38039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A própria classe e as filhas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017520"/>
            <a:ext cx="50017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Raro no nosso código; comum em frameworks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3502152"/>
            <a:ext cx="11530584" cy="56692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584448"/>
            <a:ext cx="20665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(nada)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3584448"/>
            <a:ext cx="38039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Só classes do mesmo package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3584448"/>
            <a:ext cx="50017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Padrão quando você esquece de escrever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151376"/>
            <a:ext cx="206654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private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4151376"/>
            <a:ext cx="380390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Somente dentro da própria classe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4151376"/>
            <a:ext cx="50017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motor1, encoderMotor1, publishTelemetry()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" y="4434840"/>
            <a:ext cx="5669280" cy="18288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" y="4434840"/>
            <a:ext cx="50292" cy="18288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456285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34D399"/>
                </a:solidFill>
                <a:latin typeface="Consolas"/>
              </a:rPr>
              <a:t>o padrao: campo private, metodo public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946904"/>
            <a:ext cx="5285232" cy="1243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class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OmniDrive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extends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SubsystemBase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Titan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Motor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             </a:t>
            </a:r>
            <a:r>
              <a:rPr b="0" i="1" sz="1150">
                <a:solidFill>
                  <a:srgbClr val="6B7F9B"/>
                </a:solidFill>
                <a:latin typeface="Consolas"/>
              </a:rPr>
              <a:t>// escondido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setMotor1Speed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s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{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150">
                <a:solidFill>
                  <a:srgbClr val="6B7F9B"/>
                </a:solidFill>
                <a:latin typeface="Consolas"/>
              </a:rPr>
              <a:t>// exposto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   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motor1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50">
                <a:solidFill>
                  <a:srgbClr val="FDE68A"/>
                </a:solidFill>
                <a:latin typeface="Consolas"/>
              </a:rPr>
              <a:t>set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s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434840"/>
            <a:ext cx="5596128" cy="18288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4434840"/>
            <a:ext cx="5596128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7" y="4636007"/>
            <a:ext cx="5230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F59E0B"/>
                </a:solidFill>
                <a:latin typeface="Segoe UI"/>
              </a:rPr>
              <a:t>A REGRA DE BOLSO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7" y="4946904"/>
            <a:ext cx="523036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Comece TUDO private.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Abra para public só o que outra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classe realmente precisa chamar.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É mais fácil abrir depois do que fechar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quando meio projeto já depende.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03 ·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Imutabilidade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final — “isto não muda mais”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O compilador vira seu aliado: tentou mudar, não compila.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760720" cy="28346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28346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34D399"/>
                </a:solidFill>
                <a:latin typeface="Consolas"/>
              </a:rPr>
              <a:t>os 4 lugares onde final aparece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376672" cy="22494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// 1. campo final: atribuido uma vez, no construtor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Encoder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encoderMotor1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// 2. constante (final + static)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wheelRadius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FBBF24"/>
                </a:solidFill>
                <a:latin typeface="Consolas"/>
              </a:rPr>
              <a:t>52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 </a:t>
            </a:r>
            <a:r>
              <a:rPr b="0" i="1" sz="1150">
                <a:solidFill>
                  <a:srgbClr val="6B7F9B"/>
                </a:solidFill>
                <a:latin typeface="Consolas"/>
              </a:rPr>
              <a:t>// mm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// 3. classe final: ninguem pode herdar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class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{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// 4. variavel local final dentro de um metodo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alvo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FBBF24"/>
                </a:solidFill>
                <a:latin typeface="Consolas"/>
              </a:rPr>
              <a:t>500.0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596128" cy="283464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4864" cy="2834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2103120"/>
            <a:ext cx="50474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59E0B"/>
                </a:solidFill>
                <a:latin typeface="Segoe UI"/>
              </a:rPr>
              <a:t>!  A PEGADINHA QUE CAI EM PROVA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450592"/>
            <a:ext cx="5047488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final trava a REFERÊNCIA, não o conteúdo.</a:t>
            </a: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private final Encoder enc;</a:t>
            </a: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enc = outroEncoder;   → ERRO de compilação</a:t>
            </a: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enc.reset();          → permitido!</a:t>
            </a: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A variável não pode apontar para outro objeto, mas o objeto continua podendo mudar por dentro.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" y="4937760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504748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POR QUE USAR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8" y="5047488"/>
            <a:ext cx="7690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BENEFÍCIO CONCRETO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5340096"/>
            <a:ext cx="11530584" cy="420624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5422392"/>
            <a:ext cx="3438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Protege do acidente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8" y="5422392"/>
            <a:ext cx="76535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Ninguém troca seu encoder por outro no meio do jogo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5843016"/>
            <a:ext cx="3438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Documenta intenção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3088" y="5843016"/>
            <a:ext cx="76535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Quem lê sabe na hora: esse valor é fixo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" y="6181344"/>
            <a:ext cx="11530584" cy="420624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6263640"/>
            <a:ext cx="3438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Segoe UI"/>
              </a:rPr>
              <a:t>Deixa o compilador ajudar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3088" y="6263640"/>
            <a:ext cx="765352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Erro na compilação é infinitamente melhor que bug na pista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03 · STATIC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Pertence à classe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static — um só, compartilhado por todos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Sem static: um por objeto. Com static: um por classe.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760720" cy="27432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27432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A78BFA"/>
                </a:solidFill>
                <a:latin typeface="Consolas"/>
              </a:rPr>
              <a:t>como se le um static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376672" cy="2157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2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00">
                <a:solidFill>
                  <a:srgbClr val="FF7AB6"/>
                </a:solidFill>
                <a:latin typeface="Consolas"/>
              </a:rPr>
              <a:t>class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7DD3FC"/>
                </a:solidFill>
                <a:latin typeface="Consolas"/>
              </a:rPr>
              <a:t>Robot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20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00">
                <a:solidFill>
                  <a:srgbClr val="FF7AB6"/>
                </a:solidFill>
                <a:latin typeface="Consolas"/>
              </a:rPr>
              <a:t>int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contador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         </a:t>
            </a:r>
            <a:r>
              <a:rPr b="0" i="1" sz="1200">
                <a:solidFill>
                  <a:srgbClr val="6B7F9B"/>
                </a:solidFill>
                <a:latin typeface="Consolas"/>
              </a:rPr>
              <a:t>// 1 por objeto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20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0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00">
                <a:solidFill>
                  <a:srgbClr val="FF7AB6"/>
                </a:solidFill>
                <a:latin typeface="Consolas"/>
              </a:rPr>
              <a:t>int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total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     </a:t>
            </a:r>
            <a:r>
              <a:rPr b="0" i="1" sz="1200">
                <a:solidFill>
                  <a:srgbClr val="6B7F9B"/>
                </a:solidFill>
                <a:latin typeface="Consolas"/>
              </a:rPr>
              <a:t>// 1 para a classe inteira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0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2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200">
                <a:solidFill>
                  <a:srgbClr val="6B7F9B"/>
                </a:solidFill>
                <a:latin typeface="Consolas"/>
              </a:rPr>
              <a:t>// acesso: pelo NOME DA CLASSE, sem new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0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00">
                <a:solidFill>
                  <a:srgbClr val="7DD3FC"/>
                </a:solidFill>
                <a:latin typeface="Consolas"/>
              </a:rPr>
              <a:t>TITAN_ID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00">
                <a:solidFill>
                  <a:srgbClr val="7DD3FC"/>
                </a:solidFill>
                <a:latin typeface="Consolas"/>
              </a:rPr>
              <a:t>CommandScheduler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00">
                <a:solidFill>
                  <a:srgbClr val="FDE68A"/>
                </a:solidFill>
                <a:latin typeface="Consolas"/>
              </a:rPr>
              <a:t>getInstance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00">
                <a:solidFill>
                  <a:srgbClr val="7DD3FC"/>
                </a:solidFill>
                <a:latin typeface="Consolas"/>
              </a:rPr>
              <a:t>Math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00">
                <a:solidFill>
                  <a:srgbClr val="FDE68A"/>
                </a:solidFill>
                <a:latin typeface="Consolas"/>
              </a:rPr>
              <a:t>abs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x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200">
                <a:solidFill>
                  <a:srgbClr val="7DD3FC"/>
                </a:solidFill>
                <a:latin typeface="Consolas"/>
              </a:rPr>
              <a:t>RobotContainer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drive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965960"/>
            <a:ext cx="5596128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2075688"/>
            <a:ext cx="2834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USO LEGÍTIMO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7463" y="2075688"/>
            <a:ext cx="23957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EXEMPLO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368296"/>
            <a:ext cx="5596128" cy="65836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2450591"/>
            <a:ext cx="27980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Segoe UI"/>
              </a:rPr>
              <a:t>Constantes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7463" y="2450591"/>
            <a:ext cx="23591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8DA2C0"/>
                </a:solidFill>
                <a:latin typeface="Segoe UI"/>
              </a:rPr>
              <a:t>Constants.wheelRadius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3108959"/>
            <a:ext cx="27980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Segoe UI"/>
              </a:rPr>
              <a:t>Utilitário sem estado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3" y="3108959"/>
            <a:ext cx="23591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8DA2C0"/>
                </a:solidFill>
                <a:latin typeface="Segoe UI"/>
              </a:rPr>
              <a:t>Math.abs(), forwardKinematics()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685031"/>
            <a:ext cx="5596128" cy="65836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3767327"/>
            <a:ext cx="27980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Segoe UI"/>
              </a:rPr>
              <a:t>Singleton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3" y="3767327"/>
            <a:ext cx="23591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8DA2C0"/>
                </a:solidFill>
                <a:latin typeface="Segoe UI"/>
              </a:rPr>
              <a:t>CommandScheduler.getInstance()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4425695"/>
            <a:ext cx="27980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Segoe UI"/>
              </a:rPr>
              <a:t>Acesso global (nosso repo)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3" y="4425695"/>
            <a:ext cx="23591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8DA2C0"/>
                </a:solidFill>
                <a:latin typeface="Segoe UI"/>
              </a:rPr>
              <a:t>RobotContainer.drive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" y="4892040"/>
            <a:ext cx="11530584" cy="141732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" y="4892040"/>
            <a:ext cx="54864" cy="14173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3" y="5074920"/>
            <a:ext cx="10981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F87171"/>
                </a:solidFill>
                <a:latin typeface="Segoe UI"/>
              </a:rPr>
              <a:t>!  O CUSTO DO STATIC — E POR QUE ISSO IMPORTA NO NOSSO CÓDIGO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3" y="5422392"/>
            <a:ext cx="1098194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static não some quando o objeto some: é estado global. Dois robôs? Impossível. Teste isolado? Difícil.</a:t>
            </a:r>
          </a:p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>Nos nossos Commands, 'private static final OmniDrive drive = RobotContainer.drive;' é carregado quando a CLASSE carrega — se o subsystem ainda não existir, o campo guarda null para sempre. É exatamente por isso que em RobotContainer o 'new OmniDrive()' vem ANTES do 'new SimpleDrive()'.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03 · RESUMO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Os quatro, lado a lado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Decisão rápida na hora de escrever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Cole isto na bancada.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874519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9842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PALAVRA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9842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RESPONDE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98424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USE QUANDO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1984248"/>
            <a:ext cx="30266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EXEMPLO NO REPO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2276856"/>
            <a:ext cx="11530584" cy="603504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359151"/>
            <a:ext cx="16093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public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2359151"/>
            <a:ext cx="215798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Quem pode 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359151"/>
            <a:ext cx="38953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Outra classe precisa chamar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2359151"/>
            <a:ext cx="299008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setMotor1Speed()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2962656"/>
            <a:ext cx="16093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private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04288" y="2962656"/>
            <a:ext cx="215798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Quem pode 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2962656"/>
            <a:ext cx="38953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Detalhe interno da classe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2962656"/>
            <a:ext cx="299008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motor1, navX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" y="3483864"/>
            <a:ext cx="11530584" cy="603504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566160"/>
            <a:ext cx="16093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4288" y="3566160"/>
            <a:ext cx="215798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Pode mudar?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566160"/>
            <a:ext cx="38953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Valor/referência fixa após nascer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96528" y="3566160"/>
            <a:ext cx="299008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final Encoder enc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4169663"/>
            <a:ext cx="16093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EAF1FB"/>
                </a:solidFill>
                <a:latin typeface="Consolas"/>
              </a:rPr>
              <a:t>static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04288" y="4169663"/>
            <a:ext cx="215798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Pertence a quem?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4169663"/>
            <a:ext cx="38953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É da classe, não do objeto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4169663"/>
            <a:ext cx="299008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 i="0">
                <a:solidFill>
                  <a:srgbClr val="8DA2C0"/>
                </a:solidFill>
                <a:latin typeface="Segoe UI"/>
              </a:rPr>
              <a:t>Constants.M1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" y="4709160"/>
            <a:ext cx="11530584" cy="182880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" y="4709160"/>
            <a:ext cx="50292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4837176"/>
            <a:ext cx="109819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59E0B"/>
                </a:solidFill>
                <a:latin typeface="Consolas"/>
              </a:rPr>
              <a:t>lendo uma linha do Constants.java, palavra por palavra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221224"/>
            <a:ext cx="11146536" cy="1243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 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   </a:t>
            </a:r>
            <a:r>
              <a:rPr b="1" i="0" sz="10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wheelRadius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50">
                <a:solidFill>
                  <a:srgbClr val="FBBF24"/>
                </a:solidFill>
                <a:latin typeface="Consolas"/>
              </a:rPr>
              <a:t>52</a:t>
            </a:r>
            <a:r>
              <a:rPr b="0" i="0" sz="10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 ^         ^         ^         ^            ^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 |         |         |         |            +-- nome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 |         |         |         +-- tipo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 |         |         +-- nao muda nunca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 |         +-- pertence a classe Constants, nao a um objeto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50">
                <a:solidFill>
                  <a:srgbClr val="6B7F9B"/>
                </a:solidFill>
                <a:latin typeface="Consolas"/>
              </a:rPr>
              <a:t>//  +-- qualquer classe do projeto pode ler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1E2D49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01752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Tipos de variáveis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3192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0" i="0">
                <a:solidFill>
                  <a:srgbClr val="8DA2C0"/>
                </a:solidFill>
                <a:latin typeface="Segoe UI"/>
              </a:rPr>
              <a:t>Os tipos que realmente aparecem neste repositório.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4892040"/>
            <a:ext cx="1783080" cy="38404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9834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spc="150">
                <a:solidFill>
                  <a:srgbClr val="A78BFA"/>
                </a:solidFill>
                <a:latin typeface="Segoe UI"/>
              </a:rPr>
              <a:t>6 MINUTOS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04 · PRIMITIVOS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Os tipos básicos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Tipos primitivos — guardam o valor em 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No nosso repositório, basicamente três: double, int e boolean.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965960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0756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TIPO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07568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O QUE 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0756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ONDE USAMOS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2075688"/>
            <a:ext cx="30266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EXEMPLO REAL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" y="2368296"/>
            <a:ext cx="11530584" cy="585216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450591"/>
            <a:ext cx="151790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double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2450591"/>
            <a:ext cx="252374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Decimal 64 bits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2450591"/>
            <a:ext cx="36210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Velocidade, distância, ângulo, kP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2450591"/>
            <a:ext cx="2990087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double speed = 0.5;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3035808"/>
            <a:ext cx="151790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2848" y="3035808"/>
            <a:ext cx="252374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Inteiro, sem casas decimais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3035808"/>
            <a:ext cx="36210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Portas, IDs, contagem de pulsos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3035808"/>
            <a:ext cx="2990087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int M1 = 1;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" y="3538728"/>
            <a:ext cx="11530584" cy="585216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621024"/>
            <a:ext cx="151790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boolean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2848" y="3621024"/>
            <a:ext cx="252374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true ou false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3621024"/>
            <a:ext cx="36210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Encoder invertido, botão, isFinished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96528" y="3621024"/>
            <a:ext cx="2990087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boolean rev = false;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4206240"/>
            <a:ext cx="151790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void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12848" y="4206240"/>
            <a:ext cx="252374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Ausência de retorno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6048" y="4206240"/>
            <a:ext cx="36210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Setters e métodos de 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4206240"/>
            <a:ext cx="2990087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void setMotor1Speed(...)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" y="4709159"/>
            <a:ext cx="11530584" cy="585216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4791455"/>
            <a:ext cx="151790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double[]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12848" y="4791455"/>
            <a:ext cx="252374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Vetor de decimais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6048" y="4791455"/>
            <a:ext cx="36210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Resultado de cinemática (3 valores)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4791455"/>
            <a:ext cx="2990087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double[] forwardKin...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" y="5120640"/>
            <a:ext cx="5669280" cy="118872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9184" y="5120640"/>
            <a:ext cx="50292" cy="1188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524865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Constants.java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632704"/>
            <a:ext cx="5285232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2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0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0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kDeadband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FBBF24"/>
                </a:solidFill>
                <a:latin typeface="Consolas"/>
              </a:rPr>
              <a:t>0.1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2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0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0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00">
                <a:solidFill>
                  <a:srgbClr val="FF7AB6"/>
                </a:solidFill>
                <a:latin typeface="Consolas"/>
              </a:rPr>
              <a:t>int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200">
                <a:solidFill>
                  <a:srgbClr val="7DD3FC"/>
                </a:solidFill>
                <a:latin typeface="Consolas"/>
              </a:rPr>
              <a:t>TITAN_ID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 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FBBF24"/>
                </a:solidFill>
                <a:latin typeface="Consolas"/>
              </a:rPr>
              <a:t>42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2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0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0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00">
                <a:solidFill>
                  <a:srgbClr val="FF7AB6"/>
                </a:solidFill>
                <a:latin typeface="Consolas"/>
              </a:rPr>
              <a:t>boolean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kMotor3EncoderReversed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2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200">
                <a:solidFill>
                  <a:srgbClr val="FF7AB6"/>
                </a:solidFill>
                <a:latin typeface="Consolas"/>
              </a:rPr>
              <a:t>true</a:t>
            </a:r>
            <a:r>
              <a:rPr b="0" i="0" sz="1200">
                <a:solidFill>
                  <a:srgbClr val="9FB3CC"/>
                </a:solidFill>
                <a:latin typeface="Consolas"/>
              </a:rPr>
              <a:t>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5120640"/>
            <a:ext cx="5596128" cy="11887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 w="9525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5120640"/>
            <a:ext cx="5596128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7" y="5321807"/>
            <a:ext cx="5230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60">
                <a:solidFill>
                  <a:srgbClr val="A78BFA"/>
                </a:solidFill>
                <a:latin typeface="Segoe UI"/>
              </a:rPr>
              <a:t>REGRA PRÁTICA DO ROBÔ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7" y="5632704"/>
            <a:ext cx="52303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Tudo que é medida física → double.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int só para porta, ID e contagem.</a:t>
            </a:r>
          </a:p>
          <a:p>
            <a:pPr algn="l">
              <a:lnSpc>
                <a:spcPct val="114000"/>
              </a:lnSpc>
            </a:pPr>
            <a:r>
              <a:rPr sz="1350" b="0" i="0">
                <a:solidFill>
                  <a:srgbClr val="EAF1FB"/>
                </a:solidFill>
                <a:latin typeface="Segoe UI"/>
              </a:rPr>
              <a:t>Na dúvida: double.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04 · OBJETOS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Tipos de referência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Tipos de referência — guardam o endereço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São as classes. É aqui que vive quase todo o código do robô.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" y="1965960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0756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TIPO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07568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PARA QUE 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2075688"/>
            <a:ext cx="37581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CHAMADA TÍPICA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" y="2368296"/>
            <a:ext cx="11530584" cy="47548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450591"/>
            <a:ext cx="29809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Titan / Titan.Motor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450591"/>
            <a:ext cx="41696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Driver de motor da Studica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2450591"/>
            <a:ext cx="372160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titan.getMotor(M1)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2926079"/>
            <a:ext cx="29809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Encoder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2926079"/>
            <a:ext cx="41696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Conta pulsos, devolve distância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2926079"/>
            <a:ext cx="372160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encoderMotor1.getDistance()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3319272"/>
            <a:ext cx="11530584" cy="47548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401568"/>
            <a:ext cx="29809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AHRS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7" y="3401568"/>
            <a:ext cx="41696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Giroscópio navX (yaw, pitch, roll)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3401568"/>
            <a:ext cx="372160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navX.getYaw()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3877056"/>
            <a:ext cx="29809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XboxController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5887" y="3877056"/>
            <a:ext cx="41696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Entrada do atleta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3877056"/>
            <a:ext cx="372160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driverJoystick.getRawAxis(1)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" y="4270248"/>
            <a:ext cx="11530584" cy="47548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" y="4352544"/>
            <a:ext cx="29809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Command / CommandBase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5887" y="4352544"/>
            <a:ext cx="41696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Comportamento agendável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8" y="4352544"/>
            <a:ext cx="372160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new DriveToDistance(0.5)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4828031"/>
            <a:ext cx="29809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PIDController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5887" y="4828031"/>
            <a:ext cx="41696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Controle em malha fechada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008" y="4828031"/>
            <a:ext cx="372160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pid.calculate(atual, alvo)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" y="5221223"/>
            <a:ext cx="11530584" cy="475488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5303519"/>
            <a:ext cx="29809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Pose2d / Rotation2d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7" y="5303519"/>
            <a:ext cx="41696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Posição e ângulo na odometria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5008" y="5303519"/>
            <a:ext cx="372160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odometry.getPose()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5779007"/>
            <a:ext cx="29809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EAF1FB"/>
                </a:solidFill>
                <a:latin typeface="Consolas"/>
              </a:rPr>
              <a:t>SmartDashboard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75887" y="5779007"/>
            <a:ext cx="416966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Telemetria (classe 100% static)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5779007"/>
            <a:ext cx="372160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8DA2C0"/>
                </a:solidFill>
                <a:latin typeface="Segoe UI"/>
              </a:rPr>
              <a:t>SmartDashboard.putNumber(...)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" y="5943600"/>
            <a:ext cx="11530584" cy="0"/>
          </a:xfrm>
          <a:prstGeom prst="roundRect">
            <a:avLst>
              <a:gd name="adj" fmla="val 6000"/>
            </a:avLst>
          </a:prstGeom>
          <a:solidFill>
            <a:srgbClr val="1A1A22"/>
          </a:solidFill>
          <a:ln w="13970">
            <a:solidFill>
              <a:srgbClr val="0B11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9184" y="5943600"/>
            <a:ext cx="54864" cy="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3" y="6126480"/>
            <a:ext cx="10981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140">
                <a:solidFill>
                  <a:srgbClr val="0B1120"/>
                </a:solidFill>
                <a:latin typeface="Segoe UI"/>
              </a:rPr>
              <a:t> 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3" y="6473952"/>
            <a:ext cx="10981944" cy="-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AF1FB"/>
                </a:solidFill>
                <a:latin typeface="Segoe UI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" y="5989320"/>
            <a:ext cx="11530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F59E0B"/>
                </a:solidFill>
                <a:latin typeface="Segoe UI"/>
              </a:rPr>
              <a:t>Primitivo guarda o valor. Referência guarda o endereço de um objeto — por isso ela pode valer null, e primitivo nunca.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04 · ARMADILHA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Divisão inteira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 bug que compila, roda, e dá resultado errado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Caso real deste repositório — há um commit só para corrigir isto.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20240"/>
            <a:ext cx="5669280" cy="26517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920240"/>
            <a:ext cx="50292" cy="26517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04825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F87171"/>
                </a:solidFill>
                <a:latin typeface="Consolas"/>
              </a:rPr>
              <a:t>o erro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5285232" cy="20665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// ERRADO: 1 e 61 sao int -&gt; divisao INTEIRA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gearRatio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FBBF24"/>
                </a:solidFill>
                <a:latin typeface="Consolas"/>
              </a:rPr>
              <a:t>1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/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FBBF24"/>
                </a:solidFill>
                <a:latin typeface="Consolas"/>
              </a:rPr>
              <a:t>61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// resultado: 0.0   (nao 0.0163...)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// a conta seguinte vira zero, silenciosamente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wheelPulseRatio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pulsePerRevolution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1" sz="1150">
                <a:solidFill>
                  <a:srgbClr val="6B7F9B"/>
                </a:solidFill>
                <a:latin typeface="Consolas"/>
              </a:rPr>
              <a:t>* gearRatio;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// = 1440.0 * 0.0 = 0.0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5596128" cy="265176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20240"/>
            <a:ext cx="50292" cy="26517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048256"/>
            <a:ext cx="5047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34D399"/>
                </a:solidFill>
                <a:latin typeface="Consolas"/>
              </a:rPr>
              <a:t>as duas correcoes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432304"/>
            <a:ext cx="5212080" cy="20665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// CERTO: force decimal em um dos lados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gearRatio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FBBF24"/>
                </a:solidFill>
                <a:latin typeface="Consolas"/>
              </a:rPr>
              <a:t>1.0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/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FBBF24"/>
                </a:solidFill>
                <a:latin typeface="Consolas"/>
              </a:rPr>
              <a:t>61.0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50">
                <a:solidFill>
                  <a:srgbClr val="6B7F9B"/>
                </a:solidFill>
                <a:latin typeface="Consolas"/>
              </a:rPr>
              <a:t>// ou escreva o valor, como esta no nosso Constants: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5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static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5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gearRatio</a:t>
            </a:r>
            <a:r>
              <a:rPr b="0" i="0" sz="115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=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5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50">
                <a:solidFill>
                  <a:srgbClr val="FBBF24"/>
                </a:solidFill>
                <a:latin typeface="Consolas"/>
              </a:rPr>
              <a:t>0.016393442622950819672131147540983</a:t>
            </a:r>
            <a:r>
              <a:rPr b="0" i="0" sz="1150">
                <a:solidFill>
                  <a:srgbClr val="9FB3CC"/>
                </a:solidFill>
                <a:latin typeface="Consolas"/>
              </a:rPr>
              <a:t>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" y="4681728"/>
            <a:ext cx="11530584" cy="402336"/>
          </a:xfrm>
          <a:prstGeom prst="rect">
            <a:avLst/>
          </a:prstGeom>
          <a:solidFill>
            <a:srgbClr val="1A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479145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EXPRESSÃO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479145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RESULTADO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4791456"/>
            <a:ext cx="5312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40">
                <a:solidFill>
                  <a:srgbClr val="22D3EE"/>
                </a:solidFill>
                <a:latin typeface="Segoe UI"/>
              </a:rPr>
              <a:t>POR QUÊ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" y="5084064"/>
            <a:ext cx="11530584" cy="393192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5166360"/>
            <a:ext cx="3072384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1 / 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7328" y="5166360"/>
            <a:ext cx="2523744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5166360"/>
            <a:ext cx="5276088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int / int = int. O resto é jogado fora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5559552"/>
            <a:ext cx="3072384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1.0 / 61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67328" y="5559552"/>
            <a:ext cx="2523744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0.01639...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5559552"/>
            <a:ext cx="5276088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Um double na conta → resultado double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" y="5870448"/>
            <a:ext cx="11530584" cy="393192"/>
          </a:xfrm>
          <a:prstGeom prst="rect">
            <a:avLst/>
          </a:prstGeom>
          <a:solidFill>
            <a:srgbClr val="11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5952744"/>
            <a:ext cx="3072384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(double) 1 / 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7328" y="5952744"/>
            <a:ext cx="2523744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0.01639...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952744"/>
            <a:ext cx="5276088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Cast explícito antes da divisão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6345936"/>
            <a:ext cx="3072384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EAF1FB"/>
                </a:solidFill>
                <a:latin typeface="Consolas"/>
              </a:rPr>
              <a:t>1 / 61.0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67328" y="6345936"/>
            <a:ext cx="2523744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0.01639...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6345936"/>
            <a:ext cx="5276088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8DA2C0"/>
                </a:solidFill>
                <a:latin typeface="Segoe UI"/>
              </a:rPr>
              <a:t>Funciona igual — qualquer lado serve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5720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 i="0">
                <a:solidFill>
                  <a:srgbClr val="1E2D49"/>
                </a:solidFill>
                <a:latin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01752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93192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0" i="0">
                <a:solidFill>
                  <a:srgbClr val="8DA2C0"/>
                </a:solidFill>
                <a:latin typeface="Segoe UI"/>
              </a:rPr>
              <a:t>Um exercício, as armadilhas e o checklist de prova.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4892040"/>
            <a:ext cx="1783080" cy="384048"/>
          </a:xfrm>
          <a:prstGeom prst="roundRect">
            <a:avLst>
              <a:gd name="adj" fmla="val 30000"/>
            </a:avLst>
          </a:prstGeom>
          <a:noFill/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9834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 spc="150">
                <a:solidFill>
                  <a:srgbClr val="F472B6"/>
                </a:solidFill>
                <a:latin typeface="Segoe UI"/>
              </a:rPr>
              <a:t>6 MINUTOS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05 · PRÁTICA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Exercício guiado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Crie um subsystem e um comando — do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Garra com um motor. 10 minutos de bancada, sozinho ou em dupla.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828800"/>
            <a:ext cx="5943600" cy="44348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828800"/>
            <a:ext cx="50292" cy="44348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956816"/>
            <a:ext cx="5394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D3EE"/>
                </a:solidFill>
                <a:latin typeface="Consolas"/>
              </a:rPr>
              <a:t>passo 1 — o subsystem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340864"/>
            <a:ext cx="5559552" cy="3849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100">
                <a:solidFill>
                  <a:srgbClr val="6B7F9B"/>
                </a:solidFill>
                <a:latin typeface="Consolas"/>
              </a:rPr>
              <a:t>// subsystems/Garra.java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1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class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Garra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extends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SubsystemBase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Titan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Motor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motorGarra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private + final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Garra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{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                    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construtor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   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Titan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titan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new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Titan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TITAN_ID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   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motorGarra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titan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getMotor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Constants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7DD3FC"/>
                </a:solidFill>
                <a:latin typeface="Consolas"/>
              </a:rPr>
              <a:t>M_GARRA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setVelocidade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v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{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SETTER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    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motorGarra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set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v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10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parar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{</a:t>
            </a:r>
            <a:r>
              <a:rPr b="0" i="0" sz="1100">
                <a:solidFill>
                  <a:srgbClr val="DCE6F2"/>
                </a:solidFill>
                <a:latin typeface="Consolas"/>
              </a:rPr>
              <a:t>                   </a:t>
            </a:r>
            <a:r>
              <a:rPr b="0" i="1" sz="1100">
                <a:solidFill>
                  <a:srgbClr val="6B7F9B"/>
                </a:solidFill>
                <a:latin typeface="Consolas"/>
              </a:rPr>
              <a:t>// HELPER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    </a:t>
            </a:r>
            <a:r>
              <a:rPr b="0" i="0" sz="1100">
                <a:solidFill>
                  <a:srgbClr val="FDE68A"/>
                </a:solidFill>
                <a:latin typeface="Consolas"/>
              </a:rPr>
              <a:t>setVelocidade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100">
                <a:solidFill>
                  <a:srgbClr val="FBBF24"/>
                </a:solidFill>
                <a:latin typeface="Consolas"/>
              </a:rPr>
              <a:t>0.0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10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100">
                <a:solidFill>
                  <a:srgbClr val="9FB3CC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828800"/>
            <a:ext cx="5413248" cy="4434840"/>
          </a:xfrm>
          <a:prstGeom prst="roundRect">
            <a:avLst>
              <a:gd name="adj" fmla="val 3500"/>
            </a:avLst>
          </a:prstGeom>
          <a:solidFill>
            <a:srgbClr val="0F1728"/>
          </a:solidFill>
          <a:ln w="12700">
            <a:solidFill>
              <a:srgbClr val="24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828800"/>
            <a:ext cx="50292" cy="44348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956816"/>
            <a:ext cx="4864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34D399"/>
                </a:solidFill>
                <a:latin typeface="Consolas"/>
              </a:rPr>
              <a:t>passo 2 — o comando (estilo recomendado)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4264" y="2340864"/>
            <a:ext cx="5029200" cy="3849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commands/AbrirGarra.java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1" i="0" sz="10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class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AbrirGarra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extends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CommandBase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Garra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garra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private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final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velocidade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AbrirGarra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7DD3FC"/>
                </a:solidFill>
                <a:latin typeface="Consolas"/>
              </a:rPr>
              <a:t>Garra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garra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,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double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v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{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this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garra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garra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     </a:t>
            </a:r>
            <a:r>
              <a:rPr b="0" i="1" sz="1000">
                <a:solidFill>
                  <a:srgbClr val="6B7F9B"/>
                </a:solidFill>
                <a:latin typeface="Consolas"/>
              </a:rPr>
              <a:t>// injetado!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this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velocidade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=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v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    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addRequirements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garra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0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execute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{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garra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setVelocidade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velocidade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00">
                <a:solidFill>
                  <a:srgbClr val="F59E0B"/>
                </a:solidFill>
                <a:latin typeface="Consolas"/>
              </a:rPr>
              <a:t>@Override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DCE6F2"/>
                </a:solidFill>
                <a:latin typeface="Consolas"/>
              </a:rPr>
              <a:t>   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public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void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end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1" i="0" sz="1000">
                <a:solidFill>
                  <a:srgbClr val="FF7AB6"/>
                </a:solidFill>
                <a:latin typeface="Consolas"/>
              </a:rPr>
              <a:t>boolean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i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{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garra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.</a:t>
            </a:r>
            <a:r>
              <a:rPr b="0" i="0" sz="1000">
                <a:solidFill>
                  <a:srgbClr val="FDE68A"/>
                </a:solidFill>
                <a:latin typeface="Consolas"/>
              </a:rPr>
              <a:t>parar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(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)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;</a:t>
            </a:r>
            <a:r>
              <a:rPr b="0" i="0" sz="1000">
                <a:solidFill>
                  <a:srgbClr val="DCE6F2"/>
                </a:solidFill>
                <a:latin typeface="Consolas"/>
              </a:rPr>
              <a:t> </a:t>
            </a:r>
            <a:r>
              <a:rPr b="0" i="0" sz="100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0" sz="1000">
                <a:solidFill>
                  <a:srgbClr val="9FB3CC"/>
                </a:solidFill>
                <a:latin typeface="Consolas"/>
              </a:rPr>
              <a:t>}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RobotContainer: garra = new Garra();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b="0" i="1" sz="1000">
                <a:solidFill>
                  <a:srgbClr val="6B7F9B"/>
                </a:solidFill>
                <a:latin typeface="Consolas"/>
              </a:rPr>
              <a:t>// botaoA.whileHeld(new AbrirGarra(garra, 0.4));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05 · ARMADILHAS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Os erros que custam pontos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Dez erros, em ordem de frequência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Todos eles compilam. Nenhum deles avisa.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1965960"/>
            <a:ext cx="5596128" cy="82296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" y="1965960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20370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7171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209397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Esquecer addRequirements(subsystem)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240487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Dois comandos no mesmo motor, sem erro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" y="2852928"/>
            <a:ext cx="5596128" cy="82296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" y="2852928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309067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7171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" y="298094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Não parar o motor no end()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" y="329184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Robô sai andando quando o comando é interrompido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" y="3739896"/>
            <a:ext cx="5596128" cy="82296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" y="3739896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3977639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7171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" y="3867911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while / sleep dentro de execute()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" y="417880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Travou o loop de 20 ms; watchdog dispara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" y="4626864"/>
            <a:ext cx="5596128" cy="82296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" y="4626864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4864607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7171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" y="4754879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Usar a variável antes do new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" y="5065775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NullPointerException no boot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" y="5513831"/>
            <a:ext cx="5596128" cy="82296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" y="5513831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5216" y="5751575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7171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" y="5641847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Divisão inteira: 1 / 61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" y="595274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Vale 0.0 e o robô não anda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1965960"/>
            <a:ext cx="5596128" cy="82296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1965960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9672" y="220370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7171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79" y="209397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Misturar mm e metros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79" y="240487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Autônomo 1000x errado, mas compila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2852928"/>
            <a:ext cx="5596128" cy="82296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2852928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9672" y="309067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7171"/>
                </a:solidFill>
                <a:latin typeface="Segoe U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79" y="298094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Esquecer @Override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79" y="329184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Seu método nunca é chamado — e nada reclama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3739896"/>
            <a:ext cx="5596128" cy="82296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3640" y="3739896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9672" y="3977639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7171"/>
                </a:solidFill>
                <a:latin typeface="Segoe UI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79" y="3867911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Número mágico fora do Constants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79" y="417880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Troca de porta = caça ao tesouro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4626864"/>
            <a:ext cx="5596128" cy="82296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4626864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19672" y="4864607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7171"/>
                </a:solidFill>
                <a:latin typeface="Segoe UI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79" y="4754879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Ligar motor no periodic()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79" y="5065775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Fura o sistema de requisitos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63640" y="5513831"/>
            <a:ext cx="5596128" cy="82296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63640" y="5513831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19672" y="5751575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87171"/>
                </a:solidFill>
                <a:latin typeface="Segoe UI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79" y="5641847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Autônomo sem withTimeout()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79" y="595274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DA2C0"/>
                </a:solidFill>
                <a:latin typeface="Segoe UI"/>
              </a:rPr>
              <a:t>Encoder falhou? Empurra a parede até o fim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BLOCO 05 ·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Antes de subir o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Checklist do atleta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91056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8DA2C0"/>
                </a:solidFill>
                <a:latin typeface="Segoe UI"/>
              </a:rPr>
              <a:t>Rode esta lista antes de cada deploy. Leva 60 segundos.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2011680"/>
            <a:ext cx="5596128" cy="65836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" y="2185416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1945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Todo Command tem addRequirements?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" y="2816352"/>
            <a:ext cx="5596128" cy="65836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" y="2990088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299923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Todo end() para o hardware?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" y="3621024"/>
            <a:ext cx="5596128" cy="65836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7784" y="3794760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3803904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Todo número está no Constants?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" y="4425696"/>
            <a:ext cx="5596128" cy="65836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7784" y="4599432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4608576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Todo @Override está no lugar?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" y="5230368"/>
            <a:ext cx="5596128" cy="65836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57784" y="5404104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541324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Toda divisão tem .0 nos literais?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011680"/>
            <a:ext cx="5596128" cy="65836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2185416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59" y="21945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Toda distância declara a unidade?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816352"/>
            <a:ext cx="5596128" cy="65836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92240" y="2990088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59" y="299923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Todo comando de autônomo tem withTimeout?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621024"/>
            <a:ext cx="5596128" cy="65836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92240" y="3794760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59" y="3803904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Encoder e giro aparecem no SmartDashboard?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425696"/>
            <a:ext cx="5596128" cy="65836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92240" y="4599432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59" y="4608576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Campos private, métodos públicos só o necessário?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5230368"/>
            <a:ext cx="5596128" cy="658368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8890">
            <a:solidFill>
              <a:srgbClr val="26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92240" y="5404104"/>
            <a:ext cx="310896" cy="310896"/>
          </a:xfrm>
          <a:prstGeom prst="roundRect">
            <a:avLst>
              <a:gd name="adj" fmla="val 20000"/>
            </a:avLst>
          </a:prstGeom>
          <a:noFill/>
          <a:ln w="1778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59" y="5413248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AF1FB"/>
                </a:solidFill>
                <a:latin typeface="Segoe UI"/>
              </a:rPr>
              <a:t>Compilou E rodou na bancada antes da pista?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8016" cy="3017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4754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220">
                <a:solidFill>
                  <a:srgbClr val="22D3EE"/>
                </a:solidFill>
                <a:latin typeface="Segoe UI"/>
              </a:rPr>
              <a:t>FECHAMENTO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47548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 spc="150">
                <a:solidFill>
                  <a:srgbClr val="8DA2C0"/>
                </a:solidFill>
                <a:latin typeface="Segoe UI"/>
              </a:rPr>
              <a:t>O essencial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093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0526E"/>
                </a:solidFill>
                <a:latin typeface="Segoe UI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932688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Se você levar só sete frases, leve estas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" y="1920240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" y="1920240"/>
            <a:ext cx="64008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D3EE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048256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Subsystem tem o hardware. Command tem o comportamento.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" y="2578608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" y="2578608"/>
            <a:ext cx="64008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1576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D3EE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06624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O Scheduler roda tudo a cada 20 ms — seu código é passivo.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" y="3236976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" y="3236976"/>
            <a:ext cx="64008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374136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36499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addRequirements é o que impede dois comandos de brigar.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" y="3895344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" y="3895344"/>
            <a:ext cx="64008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03250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4D399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023359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Classe é a planta; objeto é a casa; new é a construção.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" y="4553712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" y="4553712"/>
            <a:ext cx="64008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69087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4D399"/>
                </a:solidFill>
                <a:latin typeface="Consola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681727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Campo private + método público = você pode mudar sem quebrar nada.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" y="5212079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" y="5212079"/>
            <a:ext cx="64008" cy="5669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34924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A78BFA"/>
                </a:solidFill>
                <a:latin typeface="Consola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340095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final trava a referência, não o conteúdo do objeto.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" y="5870447"/>
            <a:ext cx="11530584" cy="566928"/>
          </a:xfrm>
          <a:prstGeom prst="roundRect">
            <a:avLst>
              <a:gd name="adj" fmla="val 1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" y="5870447"/>
            <a:ext cx="64008" cy="56692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6007607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472B6"/>
                </a:solidFill>
                <a:latin typeface="Consolas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998463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AF1FB"/>
                </a:solidFill>
                <a:latin typeface="Segoe UI"/>
              </a:rPr>
              <a:t>static é da classe, não do objeto — e isso é estado global.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" y="6400800"/>
            <a:ext cx="115305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DA2C0"/>
                </a:solidFill>
                <a:latin typeface="Consolas"/>
              </a:rPr>
              <a:t>Próximos passos: lab4Autonomous (sequências)  ·  lab5Pid (controle)  ·  lab8 e lab9 (odometria)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