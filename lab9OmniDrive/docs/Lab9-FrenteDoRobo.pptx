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Este deck nasceu de uma pergunta de aluno: 'o que determina a frente do</a:t>
            </a:r>
          </a:p>
          <a:p>
            <a:r>
              <a:rPr sz="1200">
                <a:latin typeface="Segoe UI"/>
              </a:rPr>
              <a:t>robo e a posicao do giroscopio?'.</a:t>
            </a:r>
          </a:p>
          <a:p>
            <a:r>
              <a:rPr sz="1200">
                <a:latin typeface="Segoe UI"/>
              </a:rPr>
              <a:t>A resposta curta e nao — e a resposta longa separa dois conceitos que a</a:t>
            </a:r>
          </a:p>
          <a:p>
            <a:r>
              <a:rPr sz="1200">
                <a:latin typeface="Segoe UI"/>
              </a:rPr>
              <a:t>turma costuma embolar: a frente do ROBO e a frente do CAMPO.</a:t>
            </a:r>
          </a:p>
          <a:p>
            <a:r>
              <a:rPr sz="1200">
                <a:latin typeface="Segoe UI"/>
              </a:rPr>
              <a:t>Vale abrir perguntando isso para a turma e deixar votarem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Deixar a distincao no quadro o deck inteiro: FRENTE DO ROBO x FRENTE DO</a:t>
            </a:r>
          </a:p>
          <a:p>
            <a:r>
              <a:rPr sz="1200">
                <a:latin typeface="Segoe UI"/>
              </a:rPr>
              <a:t>CAMPO.</a:t>
            </a:r>
          </a:p>
          <a:p>
            <a:r>
              <a:rPr sz="1200">
                <a:latin typeface="Segoe UI"/>
              </a:rPr>
              <a:t>Analogia que funciona: a proa de um barco e a proa, independente da</a:t>
            </a:r>
          </a:p>
          <a:p>
            <a:r>
              <a:rPr sz="1200">
                <a:latin typeface="Segoe UI"/>
              </a:rPr>
              <a:t>bussola. A bussola so diz para que lado do mundo a proa esta apontando.</a:t>
            </a:r>
          </a:p>
          <a:p>
            <a:r>
              <a:rPr sz="1200">
                <a:latin typeface="Segoe UI"/>
              </a:rPr>
              <a:t>Trocar a bussola de lugar nao transforma a popa em proa.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1: onde a frente e decidida de fato. Tudo aqui e fisico —</a:t>
            </a:r>
          </a:p>
          <a:p>
            <a:r>
              <a:rPr sz="1200">
                <a:latin typeface="Segoe UI"/>
              </a:rPr>
              <a:t>nenhuma linha depende de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Ler a primeira equacao em voz alta: 'roda 1 recebe MENOS vx'.</a:t>
            </a:r>
          </a:p>
          <a:p>
            <a:r>
              <a:rPr sz="1200">
                <a:latin typeface="Segoe UI"/>
              </a:rPr>
              <a:t>Perguntar: por que menos? Porque a roda 1 esta do lado oposto ao</a:t>
            </a:r>
          </a:p>
          <a:p>
            <a:r>
              <a:rPr sz="1200">
                <a:latin typeface="Segoe UI"/>
              </a:rPr>
              <a:t>movimento — ela e a traseira. Se as tres recebessem +vx, o robo giraria</a:t>
            </a:r>
          </a:p>
          <a:p>
            <a:r>
              <a:rPr sz="1200">
                <a:latin typeface="Segoe UI"/>
              </a:rPr>
              <a:t>no lugar em vez de andar.</a:t>
            </a:r>
          </a:p>
          <a:p>
            <a:r>
              <a:rPr sz="1200">
                <a:latin typeface="Segoe UI"/>
              </a:rPr>
              <a:t>Ponto central do deck: a frente e consequencia desse sinal, nao de um</a:t>
            </a:r>
          </a:p>
          <a:p>
            <a:r>
              <a:rPr sz="1200">
                <a:latin typeface="Segoe UI"/>
              </a:rPr>
              <a:t>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Mostrar com a mao: as duas rodas da frente empurram para cima, a traseira</a:t>
            </a:r>
          </a:p>
          <a:p>
            <a:r>
              <a:rPr sz="1200">
                <a:latin typeface="Segoe UI"/>
              </a:rPr>
              <a:t>puxa no sentido contrario, e a soma vetorial da os 100% para a frente.</a:t>
            </a:r>
          </a:p>
          <a:p>
            <a:r>
              <a:rPr sz="1200">
                <a:latin typeface="Segoe UI"/>
              </a:rPr>
              <a:t>Se a turma tiver o robo na mesa, girar o chassi 120 graus e repetir a</a:t>
            </a:r>
          </a:p>
          <a:p>
            <a:r>
              <a:rPr sz="1200">
                <a:latin typeface="Segoe UI"/>
              </a:rPr>
              <a:t>pergunta: e agora, qual e a frente? Resposta: o lado oposto a roda que</a:t>
            </a:r>
          </a:p>
          <a:p>
            <a:r>
              <a:rPr sz="1200">
                <a:latin typeface="Segoe UI"/>
              </a:rPr>
              <a:t>esta no canal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Insistir no terceiro item: setInverted nao e 'ajuste fino'. Inverter uma</a:t>
            </a:r>
          </a:p>
          <a:p>
            <a:r>
              <a:rPr sz="1200">
                <a:latin typeface="Segoe UI"/>
              </a:rPr>
              <a:t>roda so, das tres, quebra a geometria — o robo passa a girar quando</a:t>
            </a:r>
          </a:p>
          <a:p>
            <a:r>
              <a:rPr sz="1200">
                <a:latin typeface="Segoe UI"/>
              </a:rPr>
              <a:t>deveria andar reto.</a:t>
            </a:r>
          </a:p>
          <a:p>
            <a:r>
              <a:rPr sz="1200">
                <a:latin typeface="Segoe UI"/>
              </a:rPr>
              <a:t>E insistir no aviso de baixo: comentario nao e configuracao. Ja perdi</a:t>
            </a:r>
          </a:p>
          <a:p>
            <a:r>
              <a:rPr sz="1200">
                <a:latin typeface="Segoe UI"/>
              </a:rPr>
              <a:t>tarde inteira procurando bug de software que era cabo trocado.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Se der, fazer ao vivo: desligar, trocar dois conectores do Titan, ligar</a:t>
            </a:r>
          </a:p>
          <a:p>
            <a:r>
              <a:rPr sz="1200">
                <a:latin typeface="Segoe UI"/>
              </a:rPr>
              <a:t>e mandar o robo 'para a frente'. Ele sai andando para outro lado.</a:t>
            </a:r>
          </a:p>
          <a:p>
            <a:r>
              <a:rPr sz="1200">
                <a:latin typeface="Segoe UI"/>
              </a:rPr>
              <a:t>Nenhuma linha de codigo mudou e o giroscopio e o mesmo — o que mudou foi</a:t>
            </a:r>
          </a:p>
          <a:p>
            <a:r>
              <a:rPr sz="1200">
                <a:latin typeface="Segoe UI"/>
              </a:rPr>
              <a:t>qual motor atende pelo nome de roda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2: agora sim entra a IMU — mas para definir outra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Mostrar com as duas maos: uma mao e a frente do robo, a outra e o +x do</a:t>
            </a:r>
          </a:p>
          <a:p>
            <a:r>
              <a:rPr sz="1200">
                <a:latin typeface="Segoe UI"/>
              </a:rPr>
              <a:t>campo. Gire so a mao do robo — o angulo entre elas muda, mas nenhuma das</a:t>
            </a:r>
          </a:p>
          <a:p>
            <a:r>
              <a:rPr sz="1200">
                <a:latin typeface="Segoe UI"/>
              </a:rPr>
              <a:t>duas 'virou' a outra.</a:t>
            </a:r>
          </a:p>
          <a:p>
            <a:r>
              <a:rPr sz="1200">
                <a:latin typeface="Segoe UI"/>
              </a:rPr>
              <a:t>theta e o unico numero que a IMU contribui para toda a navegacao. Todo o</a:t>
            </a:r>
          </a:p>
          <a:p>
            <a:r>
              <a:rPr sz="1200">
                <a:latin typeface="Segoe UI"/>
              </a:rPr>
              <a:t>resto (escala, direcao, cinematica) vem das rodas.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Este e o slide que mata a confusao. As duas setas ambar sao identicas —</a:t>
            </a:r>
          </a:p>
          <a:p>
            <a:r>
              <a:rPr sz="1200">
                <a:latin typeface="Segoe UI"/>
              </a:rPr>
              <a:t>a frente do robo nao mudou. A cinza e que mudou de lugar.</a:t>
            </a:r>
          </a:p>
          <a:p>
            <a:r>
              <a:rPr sz="1200">
                <a:latin typeface="Segoe UI"/>
              </a:rPr>
              <a:t>resetHeading() faz exatamente isso: congela o campo na direcao em que a</a:t>
            </a:r>
          </a:p>
          <a:p>
            <a:r>
              <a:rPr sz="1200">
                <a:latin typeface="Segoe UI"/>
              </a:rPr>
              <a:t>frente do robo estava apontando naquele instante. Por isso o gatilho do</a:t>
            </a:r>
          </a:p>
          <a:p>
            <a:r>
              <a:rPr sz="1200">
                <a:latin typeface="Segoe UI"/>
              </a:rPr>
              <a:t>joystick 'realinha o campo', nao o robo.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Pegar a placa (ou um livro) e girar na mao para mostrar os tres casos.</a:t>
            </a:r>
          </a:p>
          <a:p>
            <a:r>
              <a:rPr sz="1200">
                <a:latin typeface="Segoe UI"/>
              </a:rPr>
              <a:t>O caso 'deitada de lado' e o unico que quebra de verdade, e o sintoma e</a:t>
            </a:r>
          </a:p>
          <a:p>
            <a:r>
              <a:rPr sz="1200">
                <a:latin typeface="Segoe UI"/>
              </a:rPr>
              <a:t>caracteristico: o angulo muda quando voce INCLINA o robo, nao quando</a:t>
            </a:r>
          </a:p>
          <a:p>
            <a:r>
              <a:rPr sz="1200">
                <a:latin typeface="Segoe UI"/>
              </a:rPr>
              <a:t>gira. Se aparecer isso na bancada, e montagem fisica, nao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Pedir para a turma classificar cada sintoma ANTES de mostrar a coluna do</a:t>
            </a:r>
          </a:p>
          <a:p>
            <a:r>
              <a:rPr sz="1200">
                <a:latin typeface="Segoe UI"/>
              </a:rPr>
              <a:t>meio — funciona bem como exercicio rapido.</a:t>
            </a:r>
          </a:p>
          <a:p>
            <a:r>
              <a:rPr sz="1200">
                <a:latin typeface="Segoe UI"/>
              </a:rPr>
              <a:t>A regra de bolso do rodape e o que eles levam para a arena: erro no modo</a:t>
            </a:r>
          </a:p>
          <a:p>
            <a:r>
              <a:rPr sz="1200">
                <a:latin typeface="Segoe UI"/>
              </a:rPr>
              <a:t>robo = hardware; erro so no modo campo = IMU.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Ponto fino importante: o teste TEM que ser com driveRobotOriented. Se</a:t>
            </a:r>
          </a:p>
          <a:p>
            <a:r>
              <a:rPr sz="1200">
                <a:latin typeface="Segoe UI"/>
              </a:rPr>
              <a:t>usarem o field-oriented, a IMU entra na conta e o teste deixa de isolar</a:t>
            </a:r>
          </a:p>
          <a:p>
            <a:r>
              <a:rPr sz="1200">
                <a:latin typeface="Segoe UI"/>
              </a:rPr>
              <a:t>o que a gente quer medir.</a:t>
            </a:r>
          </a:p>
          <a:p>
            <a:r>
              <a:rPr sz="1200">
                <a:latin typeface="Segoe UI"/>
              </a:rPr>
              <a:t>0.4 e deliberadamente devagar: da para acompanhar andando ao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Fechar com a pergunta de abertura: 'o que determina a frente do robo e a</a:t>
            </a:r>
          </a:p>
          <a:p>
            <a:r>
              <a:rPr sz="1200">
                <a:latin typeface="Segoe UI"/>
              </a:rPr>
              <a:t>posicao do giroscopio?'. Se a turma responder 'nao, e a roda que esta no</a:t>
            </a:r>
          </a:p>
          <a:p>
            <a:r>
              <a:rPr sz="1200">
                <a:latin typeface="Segoe UI"/>
              </a:rPr>
              <a:t>canal 0', o deck cumpriu o objetivo.</a:t>
            </a:r>
          </a:p>
          <a:p>
            <a:r>
              <a:rPr sz="1200">
                <a:latin typeface="Segoe UI"/>
              </a:rPr>
              <a:t>Emendar com o deck da matriz de rotacao: agora que sabemos o que e theta,</a:t>
            </a:r>
          </a:p>
          <a:p>
            <a:r>
              <a:rPr sz="1200">
                <a:latin typeface="Segoe UI"/>
              </a:rPr>
              <a:t>da para ver o que se faz com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2423160"/>
            <a:ext cx="2560320" cy="256032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46336" y="36484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0">
            <a:off x="9244584" y="478459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14400000">
            <a:off x="10274045" y="3001517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200000">
            <a:off x="8215122" y="3001517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601200" y="2211019"/>
            <a:ext cx="0" cy="1492301"/>
          </a:xfrm>
          <a:prstGeom prst="line">
            <a:avLst/>
          </a:prstGeom>
          <a:ln w="304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9491472" y="1947672"/>
            <a:ext cx="219456" cy="219456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190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BBF24"/>
                </a:solidFill>
                <a:latin typeface="Segoe UI"/>
              </a:rPr>
              <a:t>frente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ROBÓTICA MÓVEL  ·  WORLDSKILLS  ·  LAB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7863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Quem define</a:t>
            </a:r>
          </a:p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a frente do robô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41648"/>
            <a:ext cx="1737360" cy="4572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07408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Não é o giroscópio — e entender a diferença resolve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metade dos problemas de direção na arena.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C8A"/>
                </a:solidFill>
                <a:latin typeface="Segoe UI"/>
              </a:rPr>
              <a:t>Base holonômica de 3 rodas a 120°  ·  Titan + navX  ·  WPILib /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PERGUNTA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giroscópio determina a frente do robô?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A frente nasce nas rodas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0789920" cy="1143000"/>
          </a:xfrm>
          <a:prstGeom prst="roundRect">
            <a:avLst>
              <a:gd name="adj" fmla="val 7000"/>
            </a:avLst>
          </a:prstGeom>
          <a:solidFill>
            <a:srgbClr val="1E2E4A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59152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Não. O giroscópio mede quanto o robô girou — nunca o que é a frente dele.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739896"/>
            <a:ext cx="50292" cy="15727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BBF24"/>
                </a:solidFill>
                <a:latin typeface="Segoe UI"/>
              </a:rPr>
              <a:t>A frente do ROBÔ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2"/>
            <a:ext cx="478231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Nasce da montagem das rodas e da fiação dos motores. É geometria e cabo — está decidida antes de a IMU ser ligada, e não muda enquanto o robô anda.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39896"/>
            <a:ext cx="50292" cy="157276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D9F0"/>
                </a:solidFill>
                <a:latin typeface="Segoe UI"/>
              </a:rPr>
              <a:t>A frente do CAMPO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42232"/>
            <a:ext cx="478231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Essa sim vem da IMU: o zero dela decide para onde aponta o +x da arena. É o que o field-oriented e a odometria usam como referência.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frente nasce nas rodas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Geometria e fiação, antes de qualquer 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76662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as três equações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0516" y="4526280"/>
            <a:ext cx="105704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a roda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579" y="4526280"/>
            <a:ext cx="167792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canais do Titan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1519" y="4526280"/>
            <a:ext cx="132313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setInverted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ONDE A FRENTE É DECIDIDA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No sinal da primeira equação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frente nasce nas rodas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19202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A78BFA"/>
                </a:solidFill>
                <a:latin typeface="Consolas"/>
              </a:rPr>
              <a:t>public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A78BFA"/>
                </a:solidFill>
                <a:latin typeface="Consolas"/>
              </a:rPr>
              <a:t>void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driveRobotOriented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A78BFA"/>
                </a:solidFill>
                <a:latin typeface="Consolas"/>
              </a:rPr>
              <a:t>double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vx</a:t>
            </a:r>
            <a:r>
              <a:rPr sz="1300">
                <a:solidFill>
                  <a:srgbClr val="E6EDF8"/>
                </a:solidFill>
                <a:latin typeface="Consolas"/>
              </a:rPr>
              <a:t>,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A78BFA"/>
                </a:solidFill>
                <a:latin typeface="Consolas"/>
              </a:rPr>
              <a:t>double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vy</a:t>
            </a:r>
            <a:r>
              <a:rPr sz="1300">
                <a:solidFill>
                  <a:srgbClr val="E6EDF8"/>
                </a:solidFill>
                <a:latin typeface="Consolas"/>
              </a:rPr>
              <a:t>,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A78BFA"/>
                </a:solidFill>
                <a:latin typeface="Consolas"/>
              </a:rPr>
              <a:t>double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wz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    </a:t>
            </a:r>
            <a:r>
              <a:rPr sz="1300" i="1">
                <a:solidFill>
                  <a:srgbClr val="6B82A6"/>
                </a:solidFill>
                <a:latin typeface="Consolas"/>
              </a:rPr>
              <a:t>// Cinematica holonomica de 3 rodas a 120 graus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    </a:t>
            </a:r>
            <a:r>
              <a:rPr sz="1300">
                <a:solidFill>
                  <a:srgbClr val="A78BFA"/>
                </a:solidFill>
                <a:latin typeface="Consolas"/>
              </a:rPr>
              <a:t>double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targetPercent1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=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-</a:t>
            </a:r>
            <a:r>
              <a:rPr sz="1300">
                <a:solidFill>
                  <a:srgbClr val="E6EDF8"/>
                </a:solidFill>
                <a:latin typeface="Consolas"/>
              </a:rPr>
              <a:t>vx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+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wz</a:t>
            </a:r>
            <a:r>
              <a:rPr sz="130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    </a:t>
            </a:r>
            <a:r>
              <a:rPr sz="1300">
                <a:solidFill>
                  <a:srgbClr val="A78BFA"/>
                </a:solidFill>
                <a:latin typeface="Consolas"/>
              </a:rPr>
              <a:t>double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targetPercent2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=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F472B6"/>
                </a:solidFill>
                <a:latin typeface="Consolas"/>
              </a:rPr>
              <a:t>0.5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*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vx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+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34D399"/>
                </a:solidFill>
                <a:latin typeface="Consolas"/>
              </a:rPr>
              <a:t>Math</a:t>
            </a:r>
            <a:r>
              <a:rPr sz="1300">
                <a:solidFill>
                  <a:srgbClr val="E6EDF8"/>
                </a:solidFill>
                <a:latin typeface="Consolas"/>
              </a:rPr>
              <a:t>.</a:t>
            </a:r>
            <a:r>
              <a:rPr sz="1300">
                <a:solidFill>
                  <a:srgbClr val="E6EDF8"/>
                </a:solidFill>
                <a:latin typeface="Consolas"/>
              </a:rPr>
              <a:t>sqrt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F472B6"/>
                </a:solidFill>
                <a:latin typeface="Consolas"/>
              </a:rPr>
              <a:t>3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/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F472B6"/>
                </a:solidFill>
                <a:latin typeface="Consolas"/>
              </a:rPr>
              <a:t>2.0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*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vy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+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wz</a:t>
            </a:r>
            <a:r>
              <a:rPr sz="130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    </a:t>
            </a:r>
            <a:r>
              <a:rPr sz="1300">
                <a:solidFill>
                  <a:srgbClr val="A78BFA"/>
                </a:solidFill>
                <a:latin typeface="Consolas"/>
              </a:rPr>
              <a:t>double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targetPercent3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=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F472B6"/>
                </a:solidFill>
                <a:latin typeface="Consolas"/>
              </a:rPr>
              <a:t>0.5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*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vx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-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34D399"/>
                </a:solidFill>
                <a:latin typeface="Consolas"/>
              </a:rPr>
              <a:t>Math</a:t>
            </a:r>
            <a:r>
              <a:rPr sz="1300">
                <a:solidFill>
                  <a:srgbClr val="E6EDF8"/>
                </a:solidFill>
                <a:latin typeface="Consolas"/>
              </a:rPr>
              <a:t>.</a:t>
            </a:r>
            <a:r>
              <a:rPr sz="1300">
                <a:solidFill>
                  <a:srgbClr val="E6EDF8"/>
                </a:solidFill>
                <a:latin typeface="Consolas"/>
              </a:rPr>
              <a:t>sqrt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F472B6"/>
                </a:solidFill>
                <a:latin typeface="Consolas"/>
              </a:rPr>
              <a:t>3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/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F472B6"/>
                </a:solidFill>
                <a:latin typeface="Consolas"/>
              </a:rPr>
              <a:t>2.0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*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vy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+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wz</a:t>
            </a:r>
            <a:r>
              <a:rPr sz="1300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2019909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6EDF8"/>
                </a:solidFill>
                <a:latin typeface="Segoe UI"/>
              </a:rPr>
              <a:t>Com vx positivo, a roda 1 gira ao contrário das rodas 2 e 3. A direção física em que o chassi sai andando quando isso acontece É a frente — por definição. Não há outra definição no projeto inteiro.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29200"/>
            <a:ext cx="5257800" cy="7772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5157216"/>
            <a:ext cx="50292" cy="521207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vx = “para a frente”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59552"/>
            <a:ext cx="4782312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é só um nome. O que o nome significa, quem decide é o hardware.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29200"/>
            <a:ext cx="5257800" cy="7772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5157216"/>
            <a:ext cx="50292" cy="52120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2120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A mesma conta na odometria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559552"/>
            <a:ext cx="4782312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forwardKinematics() inverte estas três linhas. Mesma convenção.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FRENTE É O LADO OPOSTO À RODA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Olhando o chassi de cima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frente nasce nas rodas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2834640" y="2743200"/>
            <a:ext cx="2560320" cy="256032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4114800" y="2395728"/>
            <a:ext cx="0" cy="1627632"/>
          </a:xfrm>
          <a:prstGeom prst="line">
            <a:avLst/>
          </a:prstGeom>
          <a:ln w="2286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4023360" y="2176272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0665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frente  (+)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487168" y="4023360"/>
            <a:ext cx="1627632" cy="0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2267712" y="3931920"/>
            <a:ext cx="182880" cy="182880"/>
          </a:xfrm>
          <a:prstGeom prst="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37307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 i="0">
                <a:solidFill>
                  <a:srgbClr val="A78BFA"/>
                </a:solidFill>
                <a:latin typeface="Segoe UI"/>
              </a:rPr>
              <a:t>lado (+)</a:t>
            </a:r>
          </a:p>
        </p:txBody>
      </p:sp>
      <p:sp>
        <p:nvSpPr>
          <p:cNvPr id="15" name="Oval 14"/>
          <p:cNvSpPr/>
          <p:nvPr/>
        </p:nvSpPr>
        <p:spPr>
          <a:xfrm>
            <a:off x="4059936" y="396849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0">
            <a:off x="3758184" y="510463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5614416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roda 1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traseira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5212080"/>
            <a:ext cx="458114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604004" y="5134356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14400000">
            <a:off x="4787645" y="33215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1347" y="2871216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roda 2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frontal dir.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915204" y="3032261"/>
            <a:ext cx="229057" cy="3967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9800000">
            <a:off x="4783073" y="2860301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7200000">
            <a:off x="2728722" y="33215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53772" y="2871216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roda 3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frontal esq.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856281" y="3429000"/>
            <a:ext cx="229057" cy="39673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2600000">
            <a:off x="2724150" y="3842250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19456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Roda 1 atrás: </a:t>
            </a:r>
            <a:r>
              <a:rPr sz="1400">
                <a:solidFill>
                  <a:srgbClr val="E6EDF8"/>
                </a:solidFill>
                <a:latin typeface="Segoe UI"/>
              </a:rPr>
              <a:t>é a única que recebe vx com sinal negativo. Ela empurra o chassi para o lado oposto a ela.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Rodas 2 e 3 na frente: </a:t>
            </a:r>
            <a:r>
              <a:rPr sz="1400">
                <a:solidFill>
                  <a:srgbClr val="E6EDF8"/>
                </a:solidFill>
                <a:latin typeface="Segoe UI"/>
              </a:rPr>
              <a:t>recebem metade de vx cada uma, somando o mesmo empurrão para a frente.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As setas brancas </a:t>
            </a:r>
            <a:r>
              <a:rPr sz="1400">
                <a:solidFill>
                  <a:srgbClr val="E6EDF8"/>
                </a:solidFill>
                <a:latin typeface="Segoe UI"/>
              </a:rPr>
              <a:t>são o sentido em que cada roda traciona quando se pede vx positivo.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4937760"/>
            <a:ext cx="4069080" cy="118872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53949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5029200"/>
            <a:ext cx="3246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Gire este desenho 120° e nada muda na matemática — muda só qual lado você chama de frente.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QUE REALMENTE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coisas, nenhuma delas um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frente nasce nas rodas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6035040" cy="896112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57984"/>
            <a:ext cx="50292" cy="6949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854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BBF24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579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 montagem das rodas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5973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6C4"/>
                </a:solidFill>
                <a:latin typeface="Segoe UI"/>
              </a:rPr>
              <a:t>Onde cada roda está parafusada no chassi, a 120° uma da outra.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6035040" cy="896112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82112"/>
            <a:ext cx="50292" cy="694944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954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D9F0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82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Qual roda está em qual canal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4838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6C4"/>
                </a:solidFill>
                <a:latin typeface="Segoe UI"/>
              </a:rPr>
              <a:t>O canal 0 é a traseira. Trocar os cabos de dois motores move a frente do robô sem mudar uma linha de código.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05656"/>
            <a:ext cx="6035040" cy="896112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206240"/>
            <a:ext cx="50292" cy="69494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336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06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Os setInverted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079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6C4"/>
                </a:solidFill>
                <a:latin typeface="Segoe UI"/>
              </a:rPr>
              <a:t>Inverter um motor inverte o sentido daquela roda e desmonta a geometria das três.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2057400"/>
            <a:ext cx="4480560" cy="15087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200" i="1">
                <a:solidFill>
                  <a:srgbClr val="6B82A6"/>
                </a:solidFill>
                <a:latin typeface="Consolas"/>
              </a:rPr>
              <a:t>// Constants.java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6EDF8"/>
                </a:solidFill>
                <a:latin typeface="Consolas"/>
              </a:rPr>
              <a:t>kMotor1Channel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>
                <a:solidFill>
                  <a:srgbClr val="E6EDF8"/>
                </a:solidFill>
                <a:latin typeface="Consolas"/>
              </a:rPr>
              <a:t>=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>
                <a:solidFill>
                  <a:srgbClr val="F472B6"/>
                </a:solidFill>
                <a:latin typeface="Consolas"/>
              </a:rPr>
              <a:t>0</a:t>
            </a:r>
            <a:r>
              <a:rPr sz="1200">
                <a:solidFill>
                  <a:srgbClr val="E6EDF8"/>
                </a:solidFill>
                <a:latin typeface="Consolas"/>
              </a:rPr>
              <a:t>;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 i="1">
                <a:solidFill>
                  <a:srgbClr val="6B82A6"/>
                </a:solidFill>
                <a:latin typeface="Consolas"/>
              </a:rPr>
              <a:t>// Traseira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6EDF8"/>
                </a:solidFill>
                <a:latin typeface="Consolas"/>
              </a:rPr>
              <a:t>kMotor2Channel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>
                <a:solidFill>
                  <a:srgbClr val="E6EDF8"/>
                </a:solidFill>
                <a:latin typeface="Consolas"/>
              </a:rPr>
              <a:t>=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>
                <a:solidFill>
                  <a:srgbClr val="F472B6"/>
                </a:solidFill>
                <a:latin typeface="Consolas"/>
              </a:rPr>
              <a:t>1</a:t>
            </a:r>
            <a:r>
              <a:rPr sz="1200">
                <a:solidFill>
                  <a:srgbClr val="E6EDF8"/>
                </a:solidFill>
                <a:latin typeface="Consolas"/>
              </a:rPr>
              <a:t>;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 i="1">
                <a:solidFill>
                  <a:srgbClr val="6B82A6"/>
                </a:solidFill>
                <a:latin typeface="Consolas"/>
              </a:rPr>
              <a:t>// Frontal Dir.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6EDF8"/>
                </a:solidFill>
                <a:latin typeface="Consolas"/>
              </a:rPr>
              <a:t>kMotor3Channel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>
                <a:solidFill>
                  <a:srgbClr val="E6EDF8"/>
                </a:solidFill>
                <a:latin typeface="Consolas"/>
              </a:rPr>
              <a:t>=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>
                <a:solidFill>
                  <a:srgbClr val="F472B6"/>
                </a:solidFill>
                <a:latin typeface="Consolas"/>
              </a:rPr>
              <a:t>2</a:t>
            </a:r>
            <a:r>
              <a:rPr sz="1200">
                <a:solidFill>
                  <a:srgbClr val="E6EDF8"/>
                </a:solidFill>
                <a:latin typeface="Consolas"/>
              </a:rPr>
              <a:t>;</a:t>
            </a:r>
            <a:r>
              <a:rPr sz="1200">
                <a:solidFill>
                  <a:srgbClr val="E6EDF8"/>
                </a:solidFill>
                <a:latin typeface="Consolas"/>
              </a:rPr>
              <a:t> </a:t>
            </a:r>
            <a:r>
              <a:rPr sz="1200" i="1">
                <a:solidFill>
                  <a:srgbClr val="6B82A6"/>
                </a:solidFill>
                <a:latin typeface="Consolas"/>
              </a:rPr>
              <a:t>// Frontal Esq.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3749039"/>
            <a:ext cx="4480560" cy="13716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200" i="1">
                <a:solidFill>
                  <a:srgbClr val="6B82A6"/>
                </a:solidFill>
                <a:latin typeface="Consolas"/>
              </a:rPr>
              <a:t>// motorSettings()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6EDF8"/>
                </a:solidFill>
                <a:latin typeface="Consolas"/>
              </a:rPr>
              <a:t>motor1</a:t>
            </a:r>
            <a:r>
              <a:rPr sz="1200">
                <a:solidFill>
                  <a:srgbClr val="E6EDF8"/>
                </a:solidFill>
                <a:latin typeface="Consolas"/>
              </a:rPr>
              <a:t>.</a:t>
            </a:r>
            <a:r>
              <a:rPr sz="1200">
                <a:solidFill>
                  <a:srgbClr val="E6EDF8"/>
                </a:solidFill>
                <a:latin typeface="Consolas"/>
              </a:rPr>
              <a:t>setInverted</a:t>
            </a:r>
            <a:r>
              <a:rPr sz="1200">
                <a:solidFill>
                  <a:srgbClr val="E6EDF8"/>
                </a:solidFill>
                <a:latin typeface="Consolas"/>
              </a:rPr>
              <a:t>(</a:t>
            </a:r>
            <a:r>
              <a:rPr sz="1200">
                <a:solidFill>
                  <a:srgbClr val="A78BFA"/>
                </a:solidFill>
                <a:latin typeface="Consolas"/>
              </a:rPr>
              <a:t>false</a:t>
            </a:r>
            <a:r>
              <a:rPr sz="1200">
                <a:solidFill>
                  <a:srgbClr val="E6EDF8"/>
                </a:solidFill>
                <a:latin typeface="Consolas"/>
              </a:rPr>
              <a:t>)</a:t>
            </a:r>
            <a:r>
              <a:rPr sz="120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6EDF8"/>
                </a:solidFill>
                <a:latin typeface="Consolas"/>
              </a:rPr>
              <a:t>motor2</a:t>
            </a:r>
            <a:r>
              <a:rPr sz="1200">
                <a:solidFill>
                  <a:srgbClr val="E6EDF8"/>
                </a:solidFill>
                <a:latin typeface="Consolas"/>
              </a:rPr>
              <a:t>.</a:t>
            </a:r>
            <a:r>
              <a:rPr sz="1200">
                <a:solidFill>
                  <a:srgbClr val="E6EDF8"/>
                </a:solidFill>
                <a:latin typeface="Consolas"/>
              </a:rPr>
              <a:t>setInverted</a:t>
            </a:r>
            <a:r>
              <a:rPr sz="1200">
                <a:solidFill>
                  <a:srgbClr val="E6EDF8"/>
                </a:solidFill>
                <a:latin typeface="Consolas"/>
              </a:rPr>
              <a:t>(</a:t>
            </a:r>
            <a:r>
              <a:rPr sz="1200">
                <a:solidFill>
                  <a:srgbClr val="A78BFA"/>
                </a:solidFill>
                <a:latin typeface="Consolas"/>
              </a:rPr>
              <a:t>false</a:t>
            </a:r>
            <a:r>
              <a:rPr sz="1200">
                <a:solidFill>
                  <a:srgbClr val="E6EDF8"/>
                </a:solidFill>
                <a:latin typeface="Consolas"/>
              </a:rPr>
              <a:t>)</a:t>
            </a:r>
            <a:r>
              <a:rPr sz="120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E6EDF8"/>
                </a:solidFill>
                <a:latin typeface="Consolas"/>
              </a:rPr>
              <a:t>motor3</a:t>
            </a:r>
            <a:r>
              <a:rPr sz="1200">
                <a:solidFill>
                  <a:srgbClr val="E6EDF8"/>
                </a:solidFill>
                <a:latin typeface="Consolas"/>
              </a:rPr>
              <a:t>.</a:t>
            </a:r>
            <a:r>
              <a:rPr sz="1200">
                <a:solidFill>
                  <a:srgbClr val="E6EDF8"/>
                </a:solidFill>
                <a:latin typeface="Consolas"/>
              </a:rPr>
              <a:t>setInverted</a:t>
            </a:r>
            <a:r>
              <a:rPr sz="1200">
                <a:solidFill>
                  <a:srgbClr val="E6EDF8"/>
                </a:solidFill>
                <a:latin typeface="Consolas"/>
              </a:rPr>
              <a:t>(</a:t>
            </a:r>
            <a:r>
              <a:rPr sz="1200">
                <a:solidFill>
                  <a:srgbClr val="A78BFA"/>
                </a:solidFill>
                <a:latin typeface="Consolas"/>
              </a:rPr>
              <a:t>false</a:t>
            </a:r>
            <a:r>
              <a:rPr sz="1200">
                <a:solidFill>
                  <a:srgbClr val="E6EDF8"/>
                </a:solidFill>
                <a:latin typeface="Consolas"/>
              </a:rPr>
              <a:t>)</a:t>
            </a:r>
            <a:r>
              <a:rPr sz="1200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57800"/>
            <a:ext cx="10789920" cy="969264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60527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9304" y="5349240"/>
            <a:ext cx="9966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Os comentários “Traseira / Frontal Dir. / Frontal Esq.” não configuram nada: eles descrevem o que já foi decidido no parafuso e no conector. Se o cabo não bate com o comentário, quem está errado é o comentário.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PROVA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Troque dois cabos e a frente muda de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frente nasce nas rodas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257800" cy="352044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85416"/>
            <a:ext cx="50292" cy="32644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Como está hoje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3255263"/>
            <a:ext cx="1133856" cy="1133856"/>
          </a:xfrm>
          <a:prstGeom prst="ellipse">
            <a:avLst/>
          </a:prstGeom>
          <a:solidFill>
            <a:srgbClr val="1E2E4A"/>
          </a:solidFill>
          <a:ln w="16510">
            <a:solidFill>
              <a:srgbClr val="93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0">
            <a:off x="3118104" y="4325112"/>
            <a:ext cx="384048" cy="128016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45628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Consola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 rot="14400000">
            <a:off x="3609078" y="3474720"/>
            <a:ext cx="384048" cy="128016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3826" y="32598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38D9F0"/>
                </a:solidFill>
                <a:latin typeface="Consola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 rot="7200000">
            <a:off x="2627129" y="3474720"/>
            <a:ext cx="384048" cy="128016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9229" y="32598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34D399"/>
                </a:solidFill>
                <a:latin typeface="Consola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310128" y="3030321"/>
            <a:ext cx="0" cy="791870"/>
          </a:xfrm>
          <a:prstGeom prst="line">
            <a:avLst/>
          </a:prstGeom>
          <a:ln w="304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>
            <a:off x="3209544" y="2788920"/>
            <a:ext cx="201168" cy="201168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22677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BBF24"/>
                </a:solidFill>
                <a:latin typeface="Segoe UI"/>
              </a:rPr>
              <a:t>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1947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Canal 0 = roda de trás.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 frente é o lado entre as rodas 2 e 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57400"/>
            <a:ext cx="5257800" cy="352044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85416"/>
            <a:ext cx="50292" cy="32644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26771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Trocando os cabos 0 e 1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3255263"/>
            <a:ext cx="1133856" cy="1133856"/>
          </a:xfrm>
          <a:prstGeom prst="ellipse">
            <a:avLst/>
          </a:prstGeom>
          <a:solidFill>
            <a:srgbClr val="1E2E4A"/>
          </a:solidFill>
          <a:ln w="16510">
            <a:solidFill>
              <a:srgbClr val="93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14400000">
            <a:off x="9141198" y="3474720"/>
            <a:ext cx="384048" cy="128016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5946" y="32598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Consola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 rot="7200000">
            <a:off x="8159249" y="3474720"/>
            <a:ext cx="384048" cy="128016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1349" y="32598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38D9F0"/>
                </a:solidFill>
                <a:latin typeface="Consolas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 rot="0">
            <a:off x="8650224" y="4325112"/>
            <a:ext cx="384048" cy="128016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45628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34D399"/>
                </a:solidFill>
                <a:latin typeface="Consolas"/>
              </a:rPr>
              <a:t>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42248" y="3822191"/>
            <a:ext cx="685779" cy="395936"/>
          </a:xfrm>
          <a:prstGeom prst="line">
            <a:avLst/>
          </a:prstGeom>
          <a:ln w="3048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7200000">
            <a:off x="9549395" y="4187951"/>
            <a:ext cx="201168" cy="201168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1043" y="439369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472B6"/>
                </a:solidFill>
                <a:latin typeface="Segoe UI"/>
              </a:rPr>
              <a:t>frente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491947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Canal 0 passou a ser outra roda.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 frente girou 120°, sem recompilar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O que a IMU realmente define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436168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0064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 zero da IMU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8611" y="4526280"/>
            <a:ext cx="1855317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montagem da placa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01944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kGyroReversed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QUE A IMU MEDE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ângulo entre a frente do robô e o +x do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931920" y="2322576"/>
            <a:ext cx="0" cy="1700784"/>
          </a:xfrm>
          <a:prstGeom prst="line">
            <a:avLst/>
          </a:prstGeom>
          <a:ln w="1905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3840480" y="2103120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47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+x do campo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31135" y="4023360"/>
            <a:ext cx="1700785" cy="0"/>
          </a:xfrm>
          <a:prstGeom prst="line">
            <a:avLst/>
          </a:prstGeom>
          <a:ln w="1905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6200000">
            <a:off x="2011679" y="3931920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+y</a:t>
            </a:r>
          </a:p>
        </p:txBody>
      </p:sp>
      <p:sp>
        <p:nvSpPr>
          <p:cNvPr id="14" name="Oval 13"/>
          <p:cNvSpPr/>
          <p:nvPr/>
        </p:nvSpPr>
        <p:spPr>
          <a:xfrm>
            <a:off x="3063239" y="3154680"/>
            <a:ext cx="1737360" cy="173736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841597" y="2812434"/>
            <a:ext cx="1090323" cy="1210926"/>
          </a:xfrm>
          <a:prstGeom prst="line">
            <a:avLst/>
          </a:prstGeom>
          <a:ln w="3048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9080000">
            <a:off x="2629078" y="2588545"/>
            <a:ext cx="219456" cy="219456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388" y="245003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BBF24"/>
                </a:solidFill>
                <a:latin typeface="Segoe UI"/>
              </a:rPr>
              <a:t>frente do robô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72491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38D9F0"/>
                </a:solidFill>
                <a:latin typeface="Segoe UI"/>
              </a:rPr>
              <a:t>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9456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A frente do robô (âmbar) </a:t>
            </a:r>
            <a:r>
              <a:rPr sz="1400">
                <a:solidFill>
                  <a:srgbClr val="E6EDF8"/>
                </a:solidFill>
                <a:latin typeface="Segoe UI"/>
              </a:rPr>
              <a:t>está presa ao chassi. Ela não depende da IMU.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O +x do campo (cinza) </a:t>
            </a:r>
            <a:r>
              <a:rPr sz="1400">
                <a:solidFill>
                  <a:srgbClr val="E6EDF8"/>
                </a:solidFill>
                <a:latin typeface="Segoe UI"/>
              </a:rPr>
              <a:t>está preso à arena. Ele não gira com o robô.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θ é só o ângulo entre os dois. </a:t>
            </a:r>
            <a:r>
              <a:rPr sz="1400">
                <a:solidFill>
                  <a:srgbClr val="E6EDF8"/>
                </a:solidFill>
                <a:latin typeface="Segoe UI"/>
              </a:rPr>
              <a:t>É a única coisa que a IMU entrega — e é exatamente o que falta para converter um referencial no outro.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846320"/>
            <a:ext cx="4709160" cy="9144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34D399"/>
                </a:solidFill>
                <a:latin typeface="Consolas"/>
              </a:rPr>
              <a:t>Rotation2d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fromDegrees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</a:t>
            </a:r>
            <a:r>
              <a:rPr sz="1150">
                <a:solidFill>
                  <a:srgbClr val="E6EDF8"/>
                </a:solidFill>
                <a:latin typeface="Consolas"/>
              </a:rPr>
              <a:t>kGyroReversed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?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-</a:t>
            </a:r>
            <a:r>
              <a:rPr sz="1150">
                <a:solidFill>
                  <a:srgbClr val="E6EDF8"/>
                </a:solidFill>
                <a:latin typeface="Consolas"/>
              </a:rPr>
              <a:t>getHeading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: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getHeading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31152" y="4690872"/>
            <a:ext cx="141274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getRotation2d()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ZERO DA IMU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Ele decide para onde aponta o +x do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93A6C4"/>
                </a:solidFill>
                <a:latin typeface="Segoe UI"/>
              </a:rPr>
              <a:t>Mesmo robô, mesma frente, nos dois quadros. O que muda é quando a IMU foi zerada.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95728"/>
            <a:ext cx="5257800" cy="3273552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23744"/>
            <a:ext cx="50292" cy="3017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Zerou com o robô assim</a:t>
            </a:r>
          </a:p>
        </p:txBody>
      </p:sp>
      <p:sp>
        <p:nvSpPr>
          <p:cNvPr id="12" name="Oval 11"/>
          <p:cNvSpPr/>
          <p:nvPr/>
        </p:nvSpPr>
        <p:spPr>
          <a:xfrm>
            <a:off x="2807208" y="3840480"/>
            <a:ext cx="1005840" cy="1005840"/>
          </a:xfrm>
          <a:prstGeom prst="ellipse">
            <a:avLst/>
          </a:prstGeom>
          <a:solidFill>
            <a:srgbClr val="1E2E4A"/>
          </a:solidFill>
          <a:ln w="15240">
            <a:solidFill>
              <a:srgbClr val="93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310128" y="3615537"/>
            <a:ext cx="0" cy="727863"/>
          </a:xfrm>
          <a:prstGeom prst="line">
            <a:avLst/>
          </a:prstGeom>
          <a:ln w="2794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>
            <a:off x="3209544" y="3374136"/>
            <a:ext cx="201168" cy="201168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3101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frente do robô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47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= +x do campo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 frente do robô vira o +x do campo.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θ = 0°.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95728"/>
            <a:ext cx="5257800" cy="3273552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23744"/>
            <a:ext cx="50292" cy="30175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5603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72B6"/>
                </a:solidFill>
                <a:latin typeface="Segoe UI"/>
              </a:rPr>
              <a:t>Zerou com o robô girado</a:t>
            </a:r>
          </a:p>
        </p:txBody>
      </p:sp>
      <p:sp>
        <p:nvSpPr>
          <p:cNvPr id="21" name="Oval 20"/>
          <p:cNvSpPr/>
          <p:nvPr/>
        </p:nvSpPr>
        <p:spPr>
          <a:xfrm>
            <a:off x="8339327" y="3840480"/>
            <a:ext cx="1005840" cy="1005840"/>
          </a:xfrm>
          <a:prstGeom prst="ellipse">
            <a:avLst/>
          </a:prstGeom>
          <a:solidFill>
            <a:srgbClr val="1E2E4A"/>
          </a:solidFill>
          <a:ln w="15240">
            <a:solidFill>
              <a:srgbClr val="93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8842248" y="3615537"/>
            <a:ext cx="0" cy="727863"/>
          </a:xfrm>
          <a:prstGeom prst="line">
            <a:avLst/>
          </a:prstGeom>
          <a:ln w="2794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>
            <a:off x="8741664" y="3374136"/>
            <a:ext cx="201168" cy="201168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8131052" y="3495830"/>
            <a:ext cx="711196" cy="847570"/>
          </a:xfrm>
          <a:prstGeom prst="line">
            <a:avLst/>
          </a:prstGeom>
          <a:ln w="1905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9200000">
            <a:off x="7957325" y="3306324"/>
            <a:ext cx="182880" cy="182880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05409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+x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4290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frente do robô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611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38D9F0"/>
                </a:solidFill>
                <a:latin typeface="Segoe UI"/>
              </a:rPr>
              <a:t>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0749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O +x do campo ficou em outro lugar.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Agora o mesmo robô marca θ = 40°.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E A PLACA, MONTADA TORTA?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Yaw é rotação em torno do eixo vertical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31136"/>
            <a:ext cx="50292" cy="1801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3090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Girada na horizontal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33472"/>
            <a:ext cx="3090672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 navX parafusada 90° torta no chassi.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Soma uma constante a θ. A frente do robô não se mexe — o campo é que nasce girado.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1031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231136"/>
            <a:ext cx="50292" cy="1801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286000"/>
            <a:ext cx="3090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De cabeça para baixo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33472"/>
            <a:ext cx="3090672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 yaw troca de sinal: girar para a esquerda passa a contar como direita.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É isso que kGyroReversed conserta.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1031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231136"/>
            <a:ext cx="50292" cy="180136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286000"/>
            <a:ext cx="3090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Deitada de 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633472"/>
            <a:ext cx="3090672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Aí sim quebra: o que era yaw virou pitch ou roll, e getAngle() deixa de medir a rotação no plano do chão.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400">
                <a:solidFill>
                  <a:srgbClr val="E6EDF8"/>
                </a:solidFill>
                <a:latin typeface="Consolas"/>
              </a:rPr>
              <a:t>placa torta na horizontal  →  θ + constante        placa invertida  →  θ com sinal trocado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32120"/>
            <a:ext cx="112471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76986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" y="5623559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Em nenhum dos três casos a frente do robô muda. A placa só mede rotação; ela não tem como saber onde ficam as rodas.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sintoma diz se é cabo ou se é IMU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10789920" cy="512064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103120"/>
            <a:ext cx="4626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Sintoma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4" y="2103120"/>
            <a:ext cx="26151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3064" y="2103120"/>
            <a:ext cx="28895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Onde mexer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615184"/>
            <a:ext cx="4626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Anda para o lado errado com o campo zerado certo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8424" y="2615184"/>
            <a:ext cx="26151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fiação ou montagem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2615184"/>
            <a:ext cx="28895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canais em Constants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27248"/>
            <a:ext cx="10789920" cy="512064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127248"/>
            <a:ext cx="4626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Gira no lugar quando devia andar reto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3127248"/>
            <a:ext cx="26151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uma roda invertida das três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3127248"/>
            <a:ext cx="28895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setInverted()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639312"/>
            <a:ext cx="4626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Robô-relativo certo, field-oriented girado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8424" y="3639312"/>
            <a:ext cx="26151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zero da IMU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639312"/>
            <a:ext cx="28895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resetHeading no início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51376"/>
            <a:ext cx="10789920" cy="512064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151376"/>
            <a:ext cx="4626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Field-oriented espelhado: corrige para o lado errado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8424" y="4151376"/>
            <a:ext cx="26151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sinal do yaw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4151376"/>
            <a:ext cx="28895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kGyroReversed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663440"/>
            <a:ext cx="4626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θ muda quando você inclina o robô, não quando gira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8424" y="4663440"/>
            <a:ext cx="261518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placa deitada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4663440"/>
            <a:ext cx="28895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montagem da navX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1208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44982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38D9F0"/>
                </a:solidFill>
                <a:latin typeface="Segoe UI"/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9304" y="5303520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Regra de bolso: se o erro aparece no modo robô, é hardware. Se só aparece no modo campo, é IMU. Testar nessa ordem economiza a tarde.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TESTE DE 30 SEGUNDOS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Qual lado é a frente, sem discussão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1. </a:t>
            </a:r>
            <a:r>
              <a:rPr sz="1500">
                <a:solidFill>
                  <a:srgbClr val="E6EDF8"/>
                </a:solidFill>
                <a:latin typeface="Segoe UI"/>
              </a:rPr>
              <a:t>Robô no chão, espaço livre à frente, bateria carregada.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2. </a:t>
            </a:r>
            <a:r>
              <a:rPr sz="1500">
                <a:solidFill>
                  <a:srgbClr val="E6EDF8"/>
                </a:solidFill>
                <a:latin typeface="Segoe UI"/>
              </a:rPr>
              <a:t>Segure o botão e mande vx positivo, sem rotação e sem campo.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3. </a:t>
            </a:r>
            <a:r>
              <a:rPr sz="1500">
                <a:solidFill>
                  <a:srgbClr val="E6EDF8"/>
                </a:solidFill>
                <a:latin typeface="Segoe UI"/>
              </a:rPr>
              <a:t>O lado para onde ele sai andando é a frente. Fim da discussão.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4. </a:t>
            </a:r>
            <a:r>
              <a:rPr sz="1500">
                <a:solidFill>
                  <a:srgbClr val="E6EDF8"/>
                </a:solidFill>
                <a:latin typeface="Segoe UI"/>
              </a:rPr>
              <a:t>Não é o lado que você queria? Então é cabo ou parafuso — não mexa na IMU.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03120"/>
            <a:ext cx="4754880" cy="20116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50" i="1">
                <a:solidFill>
                  <a:srgbClr val="6B82A6"/>
                </a:solidFill>
                <a:latin typeface="Consolas"/>
              </a:rPr>
              <a:t>// RobotContainer, so para o teste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A78BFA"/>
                </a:solidFill>
                <a:latin typeface="Consolas"/>
              </a:rPr>
              <a:t>new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JoystickButton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joystick</a:t>
            </a:r>
            <a:r>
              <a:rPr sz="1150">
                <a:solidFill>
                  <a:srgbClr val="E6EDF8"/>
                </a:solidFill>
                <a:latin typeface="Consolas"/>
              </a:rPr>
              <a:t>,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F472B6"/>
                </a:solidFill>
                <a:latin typeface="Consolas"/>
              </a:rPr>
              <a:t>2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whileHeld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</a:t>
            </a:r>
            <a:r>
              <a:rPr sz="1150">
                <a:solidFill>
                  <a:srgbClr val="A78BFA"/>
                </a:solidFill>
                <a:latin typeface="Consolas"/>
              </a:rPr>
              <a:t>new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RunCommand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    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-</a:t>
            </a:r>
            <a:r>
              <a:rPr sz="1150">
                <a:solidFill>
                  <a:srgbClr val="E6EDF8"/>
                </a:solidFill>
                <a:latin typeface="Consolas"/>
              </a:rPr>
              <a:t>&gt;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driveSubsystem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        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driveRobotOriented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F472B6"/>
                </a:solidFill>
                <a:latin typeface="Consolas"/>
              </a:rPr>
              <a:t>0.4</a:t>
            </a:r>
            <a:r>
              <a:rPr sz="1150">
                <a:solidFill>
                  <a:srgbClr val="E6EDF8"/>
                </a:solidFill>
                <a:latin typeface="Consolas"/>
              </a:rPr>
              <a:t>,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F472B6"/>
                </a:solidFill>
                <a:latin typeface="Consolas"/>
              </a:rPr>
              <a:t>0.0</a:t>
            </a:r>
            <a:r>
              <a:rPr sz="1150">
                <a:solidFill>
                  <a:srgbClr val="E6EDF8"/>
                </a:solidFill>
                <a:latin typeface="Consolas"/>
              </a:rPr>
              <a:t>,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F472B6"/>
                </a:solidFill>
                <a:latin typeface="Consolas"/>
              </a:rPr>
              <a:t>0.0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    </a:t>
            </a:r>
            <a:r>
              <a:rPr sz="1150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4343400"/>
            <a:ext cx="4754880" cy="530352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447141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4434840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driveRobotOriented, não driveFieldOriented: o teste tem que ficar fora do alcance da IMU.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levar do laboratório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giroscópio e o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0789920" cy="1325880"/>
          </a:xfrm>
          <a:prstGeom prst="roundRect">
            <a:avLst>
              <a:gd name="adj" fmla="val 6000"/>
            </a:avLst>
          </a:prstGeom>
          <a:solidFill>
            <a:srgbClr val="1E2E4A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A frente do robô é decidida por parafuso e cabo. O giroscópio só diz para onde essa frente está apontando no campo.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831335"/>
            <a:ext cx="50292" cy="11155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Mude a fiação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295351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frente do robô muda de lugar — e o código nem fica sabendo.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70332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3831335"/>
            <a:ext cx="50292" cy="111556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88620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Zere a IMU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233672"/>
            <a:ext cx="295351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frente do campo muda de lugar. O robô continua igual.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0332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831335"/>
            <a:ext cx="50292" cy="11155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Nunca o contrário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33672"/>
            <a:ext cx="295351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Nenhuma flag de software move uma roda; nenhum parafuso move o norte.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949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C8A"/>
                </a:solidFill>
                <a:latin typeface="Consolas"/>
              </a:rPr>
              <a:t>Decks irmãos:  Lab9-OmniDrive-CommandBased-Odometria  ·  Lab9-MatrizRotacao-Trajetoria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