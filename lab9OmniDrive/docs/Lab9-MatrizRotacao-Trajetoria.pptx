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516" autoAdjust="0"/>
  </p:normalViewPr>
  <p:slideViewPr>
    <p:cSldViewPr snapToGrid="0" snapToObjects="1">
      <p:cViewPr varScale="1">
        <p:scale>
          <a:sx n="64" d="100"/>
          <a:sy n="64" d="100"/>
        </p:scale>
        <p:origin x="139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209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Deck curto, para rodar depois do Lab 9 principal.</a:t>
            </a:r>
          </a:p>
          <a:p>
            <a:r>
              <a:rPr sz="1200">
                <a:latin typeface="Segoe UI"/>
              </a:rPr>
              <a:t>A ideia central: o robo mede e atua no referencial dele, a arena e</a:t>
            </a:r>
          </a:p>
          <a:p>
            <a:r>
              <a:rPr sz="1200">
                <a:latin typeface="Segoe UI"/>
              </a:rPr>
              <a:t>descrita em outro referencial, e a unica coisa que liga os dois e uma</a:t>
            </a:r>
          </a:p>
          <a:p>
            <a:r>
              <a:rPr sz="1200">
                <a:latin typeface="Segoe UI"/>
              </a:rPr>
              <a:t>matriz 2x2. Quem entende essa matriz entende field-oriented, odometria</a:t>
            </a:r>
          </a:p>
          <a:p>
            <a:r>
              <a:rPr sz="1200">
                <a:latin typeface="Segoe UI"/>
              </a:rPr>
              <a:t>e navegacao por coordenadas de uma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Combinar com a turma: a parte 1 e matematica no quadro, a parte 2 e</a:t>
            </a:r>
          </a:p>
          <a:p>
            <a:r>
              <a:rPr sz="1200">
                <a:latin typeface="Segoe UI"/>
              </a:rPr>
              <a:t>codigo. Se o tempo apertar, a parte 1 e a que nao pode ser cortada —</a:t>
            </a:r>
          </a:p>
          <a:p>
            <a:r>
              <a:rPr sz="1200">
                <a:latin typeface="Segoe UI"/>
              </a:rPr>
              <a:t>a parte 2 e aplicacao direta dela.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Parte 1. Objetivo: sair daqui sabendo escrever a matriz de cabeca e</a:t>
            </a:r>
          </a:p>
          <a:p>
            <a:r>
              <a:rPr sz="1200">
                <a:latin typeface="Segoe UI"/>
              </a:rPr>
              <a:t>saber dizer, olhando uma linha de codigo, em que sentido ela esta</a:t>
            </a:r>
          </a:p>
          <a:p>
            <a:r>
              <a:rPr sz="1200">
                <a:latin typeface="Segoe UI"/>
              </a:rPr>
              <a:t>sendo aplicada.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Perguntar para a turma: se eu mando “vx = 1” com o robo girado 40 graus,</a:t>
            </a:r>
          </a:p>
          <a:p>
            <a:r>
              <a:rPr sz="1200">
                <a:latin typeface="Segoe UI"/>
              </a:rPr>
              <a:t>para onde ele vai? Resposta: para a frente DELE, que nao e mais o +x do</a:t>
            </a:r>
          </a:p>
          <a:p>
            <a:r>
              <a:rPr sz="1200">
                <a:latin typeface="Segoe UI"/>
              </a:rPr>
              <a:t>campo. Esse e o slide em que a ficha cai.</a:t>
            </a:r>
          </a:p>
          <a:p>
            <a:r>
              <a:rPr sz="1200">
                <a:latin typeface="Segoe UI"/>
              </a:rPr>
              <a:t>theta e o angulo do campo para o robo, medido anti-horario.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Deduzir no quadro com theta = 90 graus antes de mostrar o caso geral:</a:t>
            </a:r>
          </a:p>
          <a:p>
            <a:r>
              <a:rPr sz="1200">
                <a:latin typeface="Segoe UI"/>
              </a:rPr>
              <a:t>cos 90 = 0, sin 90 = 1, entao (vx, vy) = (1, 0) vira (0, 1).</a:t>
            </a:r>
          </a:p>
          <a:p>
            <a:r>
              <a:rPr sz="1200">
                <a:latin typeface="Segoe UI"/>
              </a:rPr>
              <a:t>Insistir que a matriz nao muda o comprimento do vetor — e rotacao pura,</a:t>
            </a:r>
          </a:p>
          <a:p>
            <a:r>
              <a:rPr sz="1200">
                <a:latin typeface="Segoe UI"/>
              </a:rPr>
              <a:t>nao escala. Erro de escala nunca e culpa da matriz.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Truque para a turma lembrar o sentido: olhe de quem e o dado de entrada.</a:t>
            </a:r>
          </a:p>
          <a:p>
            <a:r>
              <a:rPr sz="1200">
                <a:latin typeface="Segoe UI"/>
              </a:rPr>
              <a:t>Dado que veio das RODAS -&gt; R(+theta), porque ele nasceu no referencial do</a:t>
            </a:r>
          </a:p>
          <a:p>
            <a:r>
              <a:rPr sz="1200">
                <a:latin typeface="Segoe UI"/>
              </a:rPr>
              <a:t>robo e precisa ir para o campo. Dado que veio de um ALVO ou do joystick</a:t>
            </a:r>
          </a:p>
          <a:p>
            <a:r>
              <a:rPr sz="1200">
                <a:latin typeface="Segoe UI"/>
              </a:rPr>
              <a:t>em campo -&gt; R(-theta), porque ele precisa descer para as rodas.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Mostrar linha por linha ao lado da formula do slide anterior.</a:t>
            </a:r>
          </a:p>
          <a:p>
            <a:r>
              <a:rPr sz="1200">
                <a:latin typeface="Segoe UI"/>
              </a:rPr>
              <a:t>Se alguem perguntar dos smoothVx: e o SlewRateLimiter, que suaviza a</a:t>
            </a:r>
          </a:p>
          <a:p>
            <a:r>
              <a:rPr sz="1200">
                <a:latin typeface="Segoe UI"/>
              </a:rPr>
              <a:t>rampa de velocidade antes da rotacao. Nao muda a matematica da rotacao.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Ponto importante: na odometria a matriz existe, mas quem a aplica e o</a:t>
            </a:r>
          </a:p>
          <a:p>
            <a:r>
              <a:rPr sz="1200">
                <a:latin typeface="Segoe UI"/>
              </a:rPr>
              <a:t>Pose2d.exp(). Com dTheta = 0 o exp degenera exatamente na matriz 2x2.</a:t>
            </a:r>
          </a:p>
          <a:p>
            <a:r>
              <a:rPr sz="1200">
                <a:latin typeface="Segoe UI"/>
              </a:rPr>
              <a:t>Com dTheta diferente de zero ele ainda corrige o arco percorrido dentro</a:t>
            </a:r>
          </a:p>
          <a:p>
            <a:r>
              <a:rPr sz="1200">
                <a:latin typeface="Segoe UI"/>
              </a:rPr>
              <a:t>dos 20 ms — por isso vale mais que uma rotacao simples.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Fechar a parte 1 aqui: a conta no quadro e o teste automatizado dizem a</a:t>
            </a:r>
          </a:p>
          <a:p>
            <a:r>
              <a:rPr sz="1200">
                <a:latin typeface="Segoe UI"/>
              </a:rPr>
              <a:t>mesma coisa. Rodar ./gradlew test na frente da turma se der tempo —</a:t>
            </a:r>
          </a:p>
          <a:p>
            <a:r>
              <a:rPr sz="1200">
                <a:latin typeface="Segoe UI"/>
              </a:rPr>
              <a:t>13 testes, dois deles so dessa rotacao.</a:t>
            </a:r>
          </a:p>
          <a:p>
            <a:r>
              <a:rPr sz="1200">
                <a:latin typeface="Segoe UI"/>
              </a:rPr>
              <a:t>Se o sinal estivesse trocado, o teste de 90 graus daria -1 em vez de +1.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Parte 2. Agora a matriz vira ferramenta: ela e um dos elos da corrente</a:t>
            </a:r>
          </a:p>
          <a:p>
            <a:r>
              <a:rPr sz="1200">
                <a:latin typeface="Segoe UI"/>
              </a:rPr>
              <a:t>que transforma uma coordenada da arena em rotacao de roda.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Insistir no passo 2: normalizar. Quem esquece de dividir pela distancia</a:t>
            </a:r>
          </a:p>
          <a:p>
            <a:r>
              <a:rPr sz="1200">
                <a:latin typeface="Segoe UI"/>
              </a:rPr>
              <a:t>acaba com um controlador cuja velocidade depende do tamanho da arena.</a:t>
            </a:r>
          </a:p>
          <a:p>
            <a:r>
              <a:rPr sz="1200">
                <a:latin typeface="Segoe UI"/>
              </a:rPr>
              <a:t>O passo 3 e o que da a desaceleracao de graca: perto do alvo o erro e</a:t>
            </a:r>
          </a:p>
          <a:p>
            <a:r>
              <a:rPr sz="1200">
                <a:latin typeface="Segoe UI"/>
              </a:rPr>
              <a:t>pequeno, logo a velocidade e pequena. Nao precisa de rampa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Percorrer a corrente com o dedo, da esquerda para a direita, e depois a</a:t>
            </a:r>
          </a:p>
          <a:p>
            <a:r>
              <a:rPr sz="1200">
                <a:latin typeface="Segoe UI"/>
              </a:rPr>
              <a:t>linha tracejada de volta. Os dois blocos rosa sao a mesma matriz, em</a:t>
            </a:r>
          </a:p>
          <a:p>
            <a:r>
              <a:rPr sz="1200">
                <a:latin typeface="Segoe UI"/>
              </a:rPr>
              <a:t>sentidos opostos — e o resumo visual do deck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Marcar no tapete, com fita, o ponto de partida antes da demonstracao —</a:t>
            </a:r>
          </a:p>
          <a:p>
            <a:r>
              <a:rPr sz="1200">
                <a:latin typeface="Segoe UI"/>
              </a:rPr>
              <a:t>ele e a origem de tudo.</a:t>
            </a:r>
          </a:p>
          <a:p>
            <a:r>
              <a:rPr sz="1200">
                <a:latin typeface="Segoe UI"/>
              </a:rPr>
              <a:t>Perguntar para a turma: na segunda perna, qual roda gira mais? Resposta:</a:t>
            </a:r>
          </a:p>
          <a:p>
            <a:r>
              <a:rPr sz="1200">
                <a:latin typeface="Segoe UI"/>
              </a:rPr>
              <a:t>depende do rumo; e justamente a matriz que distribui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Comparar com o DriveDistanceCommand do deck anterior: lá o alvo e uma</a:t>
            </a:r>
          </a:p>
          <a:p>
            <a:r>
              <a:rPr sz="1200">
                <a:latin typeface="Segoe UI"/>
              </a:rPr>
              <a:t>distancia relativa e o comando zera os encoders no initialize. Aqui o</a:t>
            </a:r>
          </a:p>
          <a:p>
            <a:r>
              <a:rPr sz="1200">
                <a:latin typeface="Segoe UI"/>
              </a:rPr>
              <a:t>alvo e absoluto e zerar encoder seria perder a referencia.</a:t>
            </a:r>
          </a:p>
          <a:p>
            <a:r>
              <a:rPr sz="1200">
                <a:latin typeface="Segoe UI"/>
              </a:rPr>
              <a:t>O 'turn' que aparece na ultima linha e a correcao de rumo, calculada</a:t>
            </a:r>
          </a:p>
          <a:p>
            <a:r>
              <a:rPr sz="1200">
                <a:latin typeface="Segoe UI"/>
              </a:rPr>
              <a:t>acima com kHeadingP — o robo translada, nao gira.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O detalhe da pausa e o tipo de erro que so aparece na arena, com o</a:t>
            </a:r>
          </a:p>
          <a:p>
            <a:r>
              <a:rPr sz="1200">
                <a:latin typeface="Segoe UI"/>
              </a:rPr>
              <a:t>joystick ligado e fora do centro. Vale contar como armadilha classica</a:t>
            </a:r>
          </a:p>
          <a:p>
            <a:r>
              <a:rPr sz="1200">
                <a:latin typeface="Segoe UI"/>
              </a:rPr>
              <a:t>do Command-Based: quem nao exige o subsystem, nao manda nele.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Mexer em ganho antes de fechar escala e sinal e perder a tarde: o</a:t>
            </a:r>
          </a:p>
          <a:p>
            <a:r>
              <a:rPr sz="1200">
                <a:latin typeface="Segoe UI"/>
              </a:rPr>
              <a:t>controlador vai perseguir um alvo que a odometria esta informando errado.</a:t>
            </a:r>
          </a:p>
          <a:p>
            <a:r>
              <a:rPr sz="1200">
                <a:latin typeface="Segoe UI"/>
              </a:rPr>
              <a:t>Teste de escala: empurrar o robo 1 m com trena ao lado e comparar com</a:t>
            </a:r>
          </a:p>
          <a:p>
            <a:r>
              <a:rPr sz="1200">
                <a:latin typeface="Segoe UI"/>
              </a:rPr>
              <a:t>Odom X. Diferenca maior que 5 cm e escala, nao ganho.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Fechar pedindo para cada dupla responder, sem olhar o codigo: nesta</a:t>
            </a:r>
          </a:p>
          <a:p>
            <a:r>
              <a:rPr sz="1200">
                <a:latin typeface="Segoe UI"/>
              </a:rPr>
              <a:t>linha, a rotacao e de +theta ou de -theta? Se a turma acerta isso, o</a:t>
            </a:r>
          </a:p>
          <a:p>
            <a:r>
              <a:rPr sz="1200">
                <a:latin typeface="Segoe UI"/>
              </a:rPr>
              <a:t>objetivo do deck foi cumprido.</a:t>
            </a:r>
          </a:p>
          <a:p>
            <a:r>
              <a:rPr sz="1200">
                <a:latin typeface="Segoe UI"/>
              </a:rPr>
              <a:t>Mandar o guia HTML junto com os slides — ele tem o checklist de campo e</a:t>
            </a:r>
          </a:p>
          <a:p>
            <a:r>
              <a:rPr sz="1200">
                <a:latin typeface="Segoe UI"/>
              </a:rPr>
              <a:t>a tabela de diagnostico.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9408" y="-79408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V="1">
            <a:off x="9509760" y="2231135"/>
            <a:ext cx="0" cy="1700785"/>
          </a:xfrm>
          <a:prstGeom prst="line">
            <a:avLst/>
          </a:prstGeom>
          <a:ln w="2032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9418320" y="2011679"/>
            <a:ext cx="182880" cy="182880"/>
          </a:xfrm>
          <a:prstGeom prst="triangle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H="1">
            <a:off x="7808976" y="3931920"/>
            <a:ext cx="1700784" cy="0"/>
          </a:xfrm>
          <a:prstGeom prst="line">
            <a:avLst/>
          </a:prstGeom>
          <a:ln w="2032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16200000">
            <a:off x="7589520" y="3840480"/>
            <a:ext cx="182880" cy="182880"/>
          </a:xfrm>
          <a:prstGeom prst="triangle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8426771" y="2326323"/>
            <a:ext cx="1082989" cy="1605597"/>
          </a:xfrm>
          <a:prstGeom prst="line">
            <a:avLst/>
          </a:prstGeom>
          <a:ln w="33020">
            <a:solidFill>
              <a:srgbClr val="38D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9560000">
            <a:off x="8214838" y="2069482"/>
            <a:ext cx="237744" cy="237744"/>
          </a:xfrm>
          <a:prstGeom prst="triangle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8333710" y="2188354"/>
            <a:ext cx="0" cy="1743566"/>
          </a:xfrm>
          <a:prstGeom prst="line">
            <a:avLst/>
          </a:prstGeom>
          <a:ln w="13970">
            <a:solidFill>
              <a:srgbClr val="FBBF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33710" y="2188354"/>
            <a:ext cx="1176050" cy="0"/>
          </a:xfrm>
          <a:prstGeom prst="line">
            <a:avLst/>
          </a:prstGeom>
          <a:ln w="13970">
            <a:solidFill>
              <a:srgbClr val="FBBF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92240" y="42428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D9F0"/>
                </a:solidFill>
                <a:latin typeface="Segoe UI"/>
              </a:rPr>
              <a:t>um vetor, dois nomes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8D9F0"/>
                </a:solidFill>
                <a:latin typeface="Segoe UI"/>
              </a:rPr>
              <a:t>ROBÓTICA MÓVEL  ·  WORLDSKILLS  ·  LAB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920240"/>
            <a:ext cx="85953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A matriz de rotação</a:t>
            </a:r>
          </a:p>
          <a:p>
            <a:pPr algn="l">
              <a:lnSpc>
                <a:spcPct val="108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e o trajeto pela arena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041648"/>
            <a:ext cx="173736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3A6C4"/>
                </a:solidFill>
                <a:latin typeface="Segoe UI"/>
              </a:rPr>
              <a:t>Dois referenciais, uma matriz 2×2 — e como ela leva o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3A6C4"/>
                </a:solidFill>
                <a:latin typeface="Segoe UI"/>
              </a:rPr>
              <a:t>robô até uma coordenada da arena.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6072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C8A"/>
                </a:solidFill>
                <a:latin typeface="Segoe UI"/>
              </a:rPr>
              <a:t>Base holonômica de 3 rodas a 120°  ·  odometria + navX  ·  WPILib /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Duas partes, um conceito só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A matriz de rotação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10789920" cy="1417320"/>
          </a:xfrm>
          <a:prstGeom prst="roundRect">
            <a:avLst>
              <a:gd name="adj" fmla="val 7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249424"/>
            <a:ext cx="54864" cy="1124712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304288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38D9F0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340863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Segoe UI"/>
              </a:rPr>
              <a:t>A matriz de rotação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816352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3A6C4"/>
                </a:solidFill>
                <a:latin typeface="Segoe UI"/>
              </a:rPr>
              <a:t>Por que existem dois referenciais, de onde sai a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3A6C4"/>
                </a:solidFill>
                <a:latin typeface="Segoe UI"/>
              </a:rPr>
              <a:t>matriz 2×2 e os dois sentidos em que ela é usada.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40479"/>
            <a:ext cx="10789920" cy="1417320"/>
          </a:xfrm>
          <a:prstGeom prst="roundRect">
            <a:avLst>
              <a:gd name="adj" fmla="val 7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986783"/>
            <a:ext cx="54864" cy="112471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041647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BBF24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078223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Segoe UI"/>
              </a:rPr>
              <a:t>Trajeto por coordenadas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553712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3A6C4"/>
                </a:solidFill>
                <a:latin typeface="Segoe UI"/>
              </a:rPr>
              <a:t>Como transformar “vá para (1,80 · 0,80)” em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3A6C4"/>
                </a:solidFill>
                <a:latin typeface="Segoe UI"/>
              </a:rPr>
              <a:t>velocidade para as três rodas, ciclo a ciclo.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559552"/>
            <a:ext cx="1078992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5650992"/>
            <a:ext cx="9966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Pré-requisito: a odometria tem que estar com escala e sinal conferidos. Matriz certa com escala errada leva o robô, com toda a convicção, para o lugar errado.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0" y="132588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0" b="1" i="0">
                <a:solidFill>
                  <a:srgbClr val="1E2E4A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D9F0"/>
                </a:solidFill>
                <a:latin typeface="Segoe UI"/>
              </a:rPr>
              <a:t>PARTE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95097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 matriz de rotação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3A6C4"/>
                </a:solidFill>
                <a:latin typeface="Segoe UI"/>
              </a:rPr>
              <a:t>Dois referenciais e a ponte entre eles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2032711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referencial do robô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607" y="4526280"/>
            <a:ext cx="2121408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referencial do campo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36031" y="4526280"/>
            <a:ext cx="1411833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R(θ) e R(-θ)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5880" y="4526280"/>
            <a:ext cx="2032711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onde está no código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robô mede num referencial, a arena vive em outro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matriz de rotação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224"/>
              </a:spcAft>
            </a:pPr>
            <a:r>
              <a:rPr sz="1550">
                <a:solidFill>
                  <a:srgbClr val="38D9F0"/>
                </a:solidFill>
                <a:latin typeface="Segoe UI"/>
              </a:rPr>
              <a:t>▸  </a:t>
            </a:r>
            <a:r>
              <a:rPr sz="1550" b="1">
                <a:solidFill>
                  <a:srgbClr val="FBBF24"/>
                </a:solidFill>
                <a:latin typeface="Segoe UI"/>
              </a:rPr>
              <a:t>Referencial do robô: </a:t>
            </a:r>
            <a:r>
              <a:rPr sz="1550">
                <a:solidFill>
                  <a:srgbClr val="E6EDF8"/>
                </a:solidFill>
                <a:latin typeface="Segoe UI"/>
              </a:rPr>
              <a:t>é onde as rodas e os encoders vivem. “vx” é sempre para a frente do robô, “vy” é sempre para a esquerda dele.</a:t>
            </a:r>
          </a:p>
          <a:p>
            <a:pPr>
              <a:lnSpc>
                <a:spcPct val="118000"/>
              </a:lnSpc>
              <a:spcAft>
                <a:spcPts val="1224"/>
              </a:spcAft>
            </a:pPr>
            <a:r>
              <a:rPr sz="1550">
                <a:solidFill>
                  <a:srgbClr val="38D9F0"/>
                </a:solidFill>
                <a:latin typeface="Segoe UI"/>
              </a:rPr>
              <a:t>▸  </a:t>
            </a:r>
            <a:r>
              <a:rPr sz="1550" b="1">
                <a:solidFill>
                  <a:srgbClr val="FBBF24"/>
                </a:solidFill>
                <a:latin typeface="Segoe UI"/>
              </a:rPr>
              <a:t>Referencial do campo: </a:t>
            </a:r>
            <a:r>
              <a:rPr sz="1550">
                <a:solidFill>
                  <a:srgbClr val="E6EDF8"/>
                </a:solidFill>
                <a:latin typeface="Segoe UI"/>
              </a:rPr>
              <a:t>é onde a arena vive. Uma coordenada só faz sentido aqui — o ponto (1,80 · 0,80) não se move quando o robô gira.</a:t>
            </a:r>
          </a:p>
          <a:p>
            <a:pPr>
              <a:lnSpc>
                <a:spcPct val="118000"/>
              </a:lnSpc>
              <a:spcAft>
                <a:spcPts val="1224"/>
              </a:spcAft>
            </a:pPr>
            <a:r>
              <a:rPr sz="1550">
                <a:solidFill>
                  <a:srgbClr val="38D9F0"/>
                </a:solidFill>
                <a:latin typeface="Segoe UI"/>
              </a:rPr>
              <a:t>▸  </a:t>
            </a:r>
            <a:r>
              <a:rPr sz="1550" b="1">
                <a:solidFill>
                  <a:srgbClr val="FBBF24"/>
                </a:solidFill>
                <a:latin typeface="Segoe UI"/>
              </a:rPr>
              <a:t>O conflito: </a:t>
            </a:r>
            <a:r>
              <a:rPr sz="1550">
                <a:solidFill>
                  <a:srgbClr val="E6EDF8"/>
                </a:solidFill>
                <a:latin typeface="Segoe UI"/>
              </a:rPr>
              <a:t>gire o chassi 90° e “para a frente do robô” passou a apontar para outro lado da arena. A medida é a mesma, o significado mudou.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686800" y="2048255"/>
            <a:ext cx="0" cy="1929384"/>
          </a:xfrm>
          <a:prstGeom prst="line">
            <a:avLst/>
          </a:prstGeom>
          <a:ln w="1905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>
            <a:off x="8595360" y="1828799"/>
            <a:ext cx="182880" cy="182880"/>
          </a:xfrm>
          <a:prstGeom prst="triangle">
            <a:avLst/>
          </a:prstGeom>
          <a:solidFill>
            <a:srgbClr val="93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58191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+x campo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757416" y="3977639"/>
            <a:ext cx="1929384" cy="0"/>
          </a:xfrm>
          <a:prstGeom prst="line">
            <a:avLst/>
          </a:prstGeom>
          <a:ln w="1905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6200000">
            <a:off x="6537960" y="3886200"/>
            <a:ext cx="182880" cy="182880"/>
          </a:xfrm>
          <a:prstGeom prst="triangle">
            <a:avLst/>
          </a:prstGeom>
          <a:solidFill>
            <a:srgbClr val="93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0" y="364845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+y campo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0" y="3063239"/>
            <a:ext cx="1828800" cy="1828800"/>
          </a:xfrm>
          <a:prstGeom prst="ellipse">
            <a:avLst/>
          </a:prstGeom>
          <a:solidFill>
            <a:srgbClr val="162238"/>
          </a:solidFill>
          <a:ln w="1778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660562" y="2754617"/>
            <a:ext cx="1026238" cy="1223022"/>
          </a:xfrm>
          <a:prstGeom prst="line">
            <a:avLst/>
          </a:prstGeom>
          <a:ln w="2794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9200000">
            <a:off x="7469462" y="2546161"/>
            <a:ext cx="201168" cy="201168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61286" y="2555305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 i="0">
                <a:solidFill>
                  <a:srgbClr val="FBBF24"/>
                </a:solidFill>
                <a:latin typeface="Segoe UI"/>
              </a:rPr>
              <a:t>frente do robô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743965" y="3977639"/>
            <a:ext cx="942835" cy="791132"/>
          </a:xfrm>
          <a:prstGeom prst="line">
            <a:avLst/>
          </a:prstGeom>
          <a:ln w="2794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3800000">
            <a:off x="7535509" y="4758703"/>
            <a:ext cx="201168" cy="201168"/>
          </a:xfrm>
          <a:prstGeom prst="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8773" y="4804423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 i="0">
                <a:solidFill>
                  <a:srgbClr val="A78BFA"/>
                </a:solidFill>
                <a:latin typeface="Segoe UI"/>
              </a:rPr>
              <a:t>lado do robô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2679191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1">
                <a:solidFill>
                  <a:srgbClr val="38D9F0"/>
                </a:solidFill>
                <a:latin typeface="Segoe UI"/>
              </a:rPr>
              <a:t>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DE ONDE SAI A MATRIZ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Projetar os eixos do robô nos eixos do campo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matriz de rotação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93A6C4"/>
                </a:solidFill>
                <a:latin typeface="Segoe UI"/>
              </a:rPr>
              <a:t>Um vetor (vx, vy) escrito no referencial do robô significa: ande vx ao longo da frente do robô, e vy ao longo do lado dele. Para saber o que isso dá no campo, basta somar a contribuição de cada um nos eixos do campo.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5120640" cy="137160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1700">
                <a:solidFill>
                  <a:srgbClr val="E6EDF8"/>
                </a:solidFill>
                <a:latin typeface="Consolas"/>
              </a:rPr>
              <a:t>x_campo = vx·cos θ - vy·sin θ</a:t>
            </a:r>
          </a:p>
          <a:p>
            <a:pPr algn="ctr">
              <a:lnSpc>
                <a:spcPct val="132000"/>
              </a:lnSpc>
            </a:pPr>
            <a:r>
              <a:rPr sz="1700">
                <a:solidFill>
                  <a:srgbClr val="E6EDF8"/>
                </a:solidFill>
                <a:latin typeface="Consolas"/>
              </a:rPr>
              <a:t>y_campo = vx·sin θ + vy·cos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245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C8A"/>
                </a:solidFill>
                <a:latin typeface="Segoe UI"/>
              </a:rPr>
              <a:t>as mesmas duas linhas, em forma de matriz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26280"/>
            <a:ext cx="5120640" cy="123444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1500">
                <a:solidFill>
                  <a:srgbClr val="38D9F0"/>
                </a:solidFill>
                <a:latin typeface="Consolas"/>
              </a:rPr>
              <a:t>[ x_c ]   [ cos θ  -sin θ ] [ vx ]</a:t>
            </a:r>
          </a:p>
          <a:p>
            <a:pPr algn="ctr">
              <a:lnSpc>
                <a:spcPct val="132000"/>
              </a:lnSpc>
            </a:pPr>
            <a:r>
              <a:rPr sz="1500">
                <a:solidFill>
                  <a:srgbClr val="38D9F0"/>
                </a:solidFill>
                <a:latin typeface="Consolas"/>
              </a:rPr>
              <a:t>[ y_c ] = [ sin θ   cos θ ] [ vy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4320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2871216"/>
            <a:ext cx="50292" cy="11155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4782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É só uma troca de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73552"/>
            <a:ext cx="478231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As colunas da matriz são os eixos do robô escritos em coordenadas de campo. Nada é esticado: a matriz só gira, então o comprimento do vetor não muda.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257800" cy="146304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4425696"/>
            <a:ext cx="50292" cy="1207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782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Dois casos para decorar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28032"/>
            <a:ext cx="4782312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θ = 0° → a matriz é a identidade: robô e campo coincidem.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θ = 90° → a frente do robô virou o +y do campo: (1, 0) vira (0, 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OS DOIS SENTIDOS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mesma matriz, usada de ida e de volta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matriz de rotação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93A6C4"/>
                </a:solidFill>
                <a:latin typeface="Segoe UI"/>
              </a:rPr>
              <a:t>Rotação é fácil de inverter: girar de -θ desfaz girar de +θ. Na forma de matriz, a inversa é a transposta — trocar o sinal dos dois senos.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5257800" cy="274320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528" y="2514600"/>
            <a:ext cx="5038344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72491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Segoe UI"/>
              </a:rPr>
              <a:t>ROBÔ  →  CAMPO     R(θ)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Usado na odometria: as rodas mediram deslocamento no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referencial do robô.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703320"/>
            <a:ext cx="4709160" cy="96012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1350">
                <a:solidFill>
                  <a:srgbClr val="E6EDF8"/>
                </a:solidFill>
                <a:latin typeface="Consolas"/>
              </a:rPr>
              <a:t>x_c = vx·cos θ - vy·sin θ</a:t>
            </a:r>
          </a:p>
          <a:p>
            <a:pPr algn="ctr">
              <a:lnSpc>
                <a:spcPct val="132000"/>
              </a:lnSpc>
            </a:pPr>
            <a:r>
              <a:rPr sz="1350">
                <a:solidFill>
                  <a:srgbClr val="E6EDF8"/>
                </a:solidFill>
                <a:latin typeface="Consolas"/>
              </a:rPr>
              <a:t>y_c = vx·sin θ + vy·cos 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Pose2d.exp()  ·  Translation2d.rotateBy(+θ)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14600"/>
            <a:ext cx="5257800" cy="274320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651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27648" y="2514600"/>
            <a:ext cx="5038344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72491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CAMPO  →  ROBÔ     R(-θ)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089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Usado para acionar: o alvo veio em coordenadas de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arena, as rodas não entendem isso.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703320"/>
            <a:ext cx="4709160" cy="96012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1350">
                <a:solidFill>
                  <a:srgbClr val="E6EDF8"/>
                </a:solidFill>
                <a:latin typeface="Consolas"/>
              </a:rPr>
              <a:t>vx =  x_c·cos θ + y_c·sin θ</a:t>
            </a:r>
          </a:p>
          <a:p>
            <a:pPr algn="ctr">
              <a:lnSpc>
                <a:spcPct val="132000"/>
              </a:lnSpc>
            </a:pPr>
            <a:r>
              <a:rPr sz="1350">
                <a:solidFill>
                  <a:srgbClr val="E6EDF8"/>
                </a:solidFill>
                <a:latin typeface="Consolas"/>
              </a:rPr>
              <a:t>vy = -x_c·sin θ + y_c·cos 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006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BBF24"/>
                </a:solidFill>
                <a:latin typeface="Consolas"/>
              </a:rPr>
              <a:t>driveFieldOriented()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86400"/>
            <a:ext cx="1078992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572414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9304" y="5577840"/>
            <a:ext cx="9966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Os dois sentidos leem o mesmo rumo (getRotation2d()), com a mesma flag kGyroReversed. É por isso que odometria e field-oriented nunca divergem de convenção neste projeto.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NO CÓDIGO · CAMPO → ROBÔ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É literalmente a matriz, em duas linhas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matriz de rotação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0789920" cy="22860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72">
                <a:solidFill>
                  <a:srgbClr val="A78BFA"/>
                </a:solidFill>
                <a:latin typeface="Consolas"/>
              </a:rPr>
              <a:t>public</a:t>
            </a:r>
            <a:r>
              <a:rPr sz="1072">
                <a:solidFill>
                  <a:srgbClr val="E6EDF8"/>
                </a:solidFill>
                <a:latin typeface="Consolas"/>
              </a:rPr>
              <a:t> </a:t>
            </a:r>
            <a:r>
              <a:rPr sz="1072">
                <a:solidFill>
                  <a:srgbClr val="A78BFA"/>
                </a:solidFill>
                <a:latin typeface="Consolas"/>
              </a:rPr>
              <a:t>void</a:t>
            </a:r>
            <a:r>
              <a:rPr sz="1072">
                <a:solidFill>
                  <a:srgbClr val="E6EDF8"/>
                </a:solidFill>
                <a:latin typeface="Consolas"/>
              </a:rPr>
              <a:t> driveFieldOriented(</a:t>
            </a:r>
            <a:r>
              <a:rPr sz="1072">
                <a:solidFill>
                  <a:srgbClr val="A78BFA"/>
                </a:solidFill>
                <a:latin typeface="Consolas"/>
              </a:rPr>
              <a:t>double</a:t>
            </a:r>
            <a:r>
              <a:rPr sz="1072">
                <a:solidFill>
                  <a:srgbClr val="E6EDF8"/>
                </a:solidFill>
                <a:latin typeface="Consolas"/>
              </a:rPr>
              <a:t> fieldVx, </a:t>
            </a:r>
            <a:r>
              <a:rPr sz="1072">
                <a:solidFill>
                  <a:srgbClr val="A78BFA"/>
                </a:solidFill>
                <a:latin typeface="Consolas"/>
              </a:rPr>
              <a:t>double</a:t>
            </a:r>
            <a:r>
              <a:rPr sz="1072">
                <a:solidFill>
                  <a:srgbClr val="E6EDF8"/>
                </a:solidFill>
                <a:latin typeface="Consolas"/>
              </a:rPr>
              <a:t> fieldVy, </a:t>
            </a:r>
            <a:r>
              <a:rPr sz="1072">
                <a:solidFill>
                  <a:srgbClr val="A78BFA"/>
                </a:solidFill>
                <a:latin typeface="Consolas"/>
              </a:rPr>
              <a:t>double</a:t>
            </a:r>
            <a:r>
              <a:rPr sz="1072">
                <a:solidFill>
                  <a:srgbClr val="E6EDF8"/>
                </a:solidFill>
                <a:latin typeface="Consolas"/>
              </a:rPr>
              <a:t> wz)</a:t>
            </a:r>
          </a:p>
          <a:p>
            <a:pPr algn="l">
              <a:lnSpc>
                <a:spcPct val="120000"/>
              </a:lnSpc>
            </a:pPr>
            <a:r>
              <a:rPr sz="1072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72">
                <a:solidFill>
                  <a:srgbClr val="E6EDF8"/>
                </a:solidFill>
                <a:latin typeface="Consolas"/>
              </a:rPr>
              <a:t>    </a:t>
            </a:r>
            <a:r>
              <a:rPr sz="1072" i="1">
                <a:solidFill>
                  <a:srgbClr val="6B82A6"/>
                </a:solidFill>
                <a:latin typeface="Consolas"/>
              </a:rPr>
              <a:t>// Rotacao campo -&gt; robo: gira o vetor de -theta. Mesma fonte de rumo</a:t>
            </a:r>
          </a:p>
          <a:p>
            <a:pPr algn="l">
              <a:lnSpc>
                <a:spcPct val="120000"/>
              </a:lnSpc>
            </a:pPr>
            <a:r>
              <a:rPr sz="1072">
                <a:solidFill>
                  <a:srgbClr val="E6EDF8"/>
                </a:solidFill>
                <a:latin typeface="Consolas"/>
              </a:rPr>
              <a:t>    </a:t>
            </a:r>
            <a:r>
              <a:rPr sz="1072" i="1">
                <a:solidFill>
                  <a:srgbClr val="6B82A6"/>
                </a:solidFill>
                <a:latin typeface="Consolas"/>
              </a:rPr>
              <a:t>// que a odometria usa, para as duas nao divergirem de convencao.</a:t>
            </a:r>
          </a:p>
          <a:p>
            <a:pPr algn="l">
              <a:lnSpc>
                <a:spcPct val="120000"/>
              </a:lnSpc>
            </a:pPr>
            <a:r>
              <a:rPr sz="1072">
                <a:solidFill>
                  <a:srgbClr val="E6EDF8"/>
                </a:solidFill>
                <a:latin typeface="Consolas"/>
              </a:rPr>
              <a:t>    </a:t>
            </a:r>
            <a:r>
              <a:rPr sz="1072">
                <a:solidFill>
                  <a:srgbClr val="34D399"/>
                </a:solidFill>
                <a:latin typeface="Consolas"/>
              </a:rPr>
              <a:t>Rotation2d</a:t>
            </a:r>
            <a:r>
              <a:rPr sz="1072">
                <a:solidFill>
                  <a:srgbClr val="E6EDF8"/>
                </a:solidFill>
                <a:latin typeface="Consolas"/>
              </a:rPr>
              <a:t> angle = getRotation2d();</a:t>
            </a:r>
          </a:p>
          <a:p>
            <a:pPr algn="l">
              <a:lnSpc>
                <a:spcPct val="120000"/>
              </a:lnSpc>
            </a:pPr>
            <a:r>
              <a:rPr sz="1072">
                <a:solidFill>
                  <a:srgbClr val="E6EDF8"/>
                </a:solidFill>
                <a:latin typeface="Consolas"/>
              </a:rPr>
              <a:t>    </a:t>
            </a:r>
            <a:r>
              <a:rPr sz="1072">
                <a:solidFill>
                  <a:srgbClr val="A78BFA"/>
                </a:solidFill>
                <a:latin typeface="Consolas"/>
              </a:rPr>
              <a:t>double</a:t>
            </a:r>
            <a:r>
              <a:rPr sz="1072">
                <a:solidFill>
                  <a:srgbClr val="E6EDF8"/>
                </a:solidFill>
                <a:latin typeface="Consolas"/>
              </a:rPr>
              <a:t> robotVx =  smoothVx * angle.getCos() + smoothVy * angle.getSin();</a:t>
            </a:r>
          </a:p>
          <a:p>
            <a:pPr algn="l">
              <a:lnSpc>
                <a:spcPct val="120000"/>
              </a:lnSpc>
            </a:pPr>
            <a:r>
              <a:rPr sz="1072">
                <a:solidFill>
                  <a:srgbClr val="E6EDF8"/>
                </a:solidFill>
                <a:latin typeface="Consolas"/>
              </a:rPr>
              <a:t>    </a:t>
            </a:r>
            <a:r>
              <a:rPr sz="1072">
                <a:solidFill>
                  <a:srgbClr val="A78BFA"/>
                </a:solidFill>
                <a:latin typeface="Consolas"/>
              </a:rPr>
              <a:t>double</a:t>
            </a:r>
            <a:r>
              <a:rPr sz="1072">
                <a:solidFill>
                  <a:srgbClr val="E6EDF8"/>
                </a:solidFill>
                <a:latin typeface="Consolas"/>
              </a:rPr>
              <a:t> robotVy = -smoothVx * angle.getSin() + smoothVy * angle.getCos();</a:t>
            </a:r>
          </a:p>
          <a:p>
            <a:pPr algn="l">
              <a:lnSpc>
                <a:spcPct val="120000"/>
              </a:lnSpc>
            </a:pPr>
            <a:endParaRPr sz="1072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072">
                <a:solidFill>
                  <a:srgbClr val="E6EDF8"/>
                </a:solidFill>
                <a:latin typeface="Consolas"/>
              </a:rPr>
              <a:t>    driveRobotOriented(robotVx, robotVy, smoothWz);</a:t>
            </a:r>
          </a:p>
          <a:p>
            <a:pPr algn="l">
              <a:lnSpc>
                <a:spcPct val="120000"/>
              </a:lnSpc>
            </a:pPr>
            <a:r>
              <a:rPr sz="1072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1856232"/>
            <a:ext cx="2019909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OmnidriveSubsystem.java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617720"/>
            <a:ext cx="5257800" cy="11887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4745736"/>
            <a:ext cx="50292" cy="93268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800600"/>
            <a:ext cx="4782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O sinal é a única pegadinha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48072"/>
            <a:ext cx="478231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Os dois senos trocados de sinal em relação a R(θ) são o que fazem a rotação ser de -θ. Inverter isso faz o robô andar espelhado.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17720"/>
            <a:ext cx="5257800" cy="11887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4745736"/>
            <a:ext cx="50292" cy="932688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800600"/>
            <a:ext cx="4782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8D9F0"/>
                </a:solidFill>
                <a:latin typeface="Segoe UI"/>
              </a:rPr>
              <a:t>Rotation2d já traz cos e sin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148072"/>
            <a:ext cx="478231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getCos() e getSin() vêm pré-calculados no objeto: não há chamada trigonométrica por ciclo nessa conta.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NO CÓDIGO · ROBÔ →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Na odometria ela está escondida no exp()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matriz de rotação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0789920" cy="20116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154">
                <a:solidFill>
                  <a:srgbClr val="A78BFA"/>
                </a:solidFill>
                <a:latin typeface="Consolas"/>
              </a:rPr>
              <a:t>double</a:t>
            </a:r>
            <a:r>
              <a:rPr sz="1154">
                <a:solidFill>
                  <a:srgbClr val="E6EDF8"/>
                </a:solidFill>
                <a:latin typeface="Consolas"/>
              </a:rPr>
              <a:t>[] robotDelta = forwardKinematics(delta1, delta2, delta3);</a:t>
            </a:r>
          </a:p>
          <a:p>
            <a:pPr algn="l">
              <a:lnSpc>
                <a:spcPct val="120000"/>
              </a:lnSpc>
            </a:pPr>
            <a:endParaRPr sz="1154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154">
                <a:solidFill>
                  <a:srgbClr val="34D399"/>
                </a:solidFill>
                <a:latin typeface="Consolas"/>
              </a:rPr>
              <a:t>Rotation2d</a:t>
            </a:r>
            <a:r>
              <a:rPr sz="1154">
                <a:solidFill>
                  <a:srgbClr val="E6EDF8"/>
                </a:solidFill>
                <a:latin typeface="Consolas"/>
              </a:rPr>
              <a:t> angle = gyroAngle.plus(gyroOffset);</a:t>
            </a:r>
          </a:p>
          <a:p>
            <a:pPr algn="l">
              <a:lnSpc>
                <a:spcPct val="120000"/>
              </a:lnSpc>
            </a:pPr>
            <a:r>
              <a:rPr sz="1154">
                <a:solidFill>
                  <a:srgbClr val="A78BFA"/>
                </a:solidFill>
                <a:latin typeface="Consolas"/>
              </a:rPr>
              <a:t>double</a:t>
            </a:r>
            <a:r>
              <a:rPr sz="1154">
                <a:solidFill>
                  <a:srgbClr val="E6EDF8"/>
                </a:solidFill>
                <a:latin typeface="Consolas"/>
              </a:rPr>
              <a:t> dTheta = angle.minus(previousAngle).getRadians();</a:t>
            </a:r>
          </a:p>
          <a:p>
            <a:pPr algn="l">
              <a:lnSpc>
                <a:spcPct val="120000"/>
              </a:lnSpc>
            </a:pPr>
            <a:endParaRPr sz="1154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154" i="1">
                <a:solidFill>
                  <a:srgbClr val="6B82A6"/>
                </a:solidFill>
                <a:latin typeface="Consolas"/>
              </a:rPr>
              <a:t>// exp() gira o deslocamento local para o campo E integra o arco de</a:t>
            </a:r>
          </a:p>
          <a:p>
            <a:pPr algn="l">
              <a:lnSpc>
                <a:spcPct val="120000"/>
              </a:lnSpc>
            </a:pPr>
            <a:r>
              <a:rPr sz="1154" i="1">
                <a:solidFill>
                  <a:srgbClr val="6B82A6"/>
                </a:solidFill>
                <a:latin typeface="Consolas"/>
              </a:rPr>
              <a:t>// verdade, em vez de assumir que o robo andou reto dentro do ciclo</a:t>
            </a:r>
          </a:p>
          <a:p>
            <a:pPr algn="l">
              <a:lnSpc>
                <a:spcPct val="120000"/>
              </a:lnSpc>
            </a:pPr>
            <a:r>
              <a:rPr sz="1154">
                <a:solidFill>
                  <a:srgbClr val="34D399"/>
                </a:solidFill>
                <a:latin typeface="Consolas"/>
              </a:rPr>
              <a:t>Pose2d</a:t>
            </a:r>
            <a:r>
              <a:rPr sz="1154">
                <a:solidFill>
                  <a:srgbClr val="E6EDF8"/>
                </a:solidFill>
                <a:latin typeface="Consolas"/>
              </a:rPr>
              <a:t> newPose = pose.exp(</a:t>
            </a:r>
            <a:r>
              <a:rPr sz="1154">
                <a:solidFill>
                  <a:srgbClr val="A78BFA"/>
                </a:solidFill>
                <a:latin typeface="Consolas"/>
              </a:rPr>
              <a:t>new</a:t>
            </a:r>
            <a:r>
              <a:rPr sz="1154">
                <a:solidFill>
                  <a:srgbClr val="E6EDF8"/>
                </a:solidFill>
                <a:latin typeface="Consolas"/>
              </a:rPr>
              <a:t> </a:t>
            </a:r>
            <a:r>
              <a:rPr sz="1154">
                <a:solidFill>
                  <a:srgbClr val="34D399"/>
                </a:solidFill>
                <a:latin typeface="Consolas"/>
              </a:rPr>
              <a:t>Twist2d</a:t>
            </a:r>
            <a:r>
              <a:rPr sz="1154">
                <a:solidFill>
                  <a:srgbClr val="E6EDF8"/>
                </a:solidFill>
                <a:latin typeface="Consolas"/>
              </a:rPr>
              <a:t>(robotDelta[</a:t>
            </a:r>
            <a:r>
              <a:rPr sz="1154">
                <a:solidFill>
                  <a:srgbClr val="F472B6"/>
                </a:solidFill>
                <a:latin typeface="Consolas"/>
              </a:rPr>
              <a:t>0</a:t>
            </a:r>
            <a:r>
              <a:rPr sz="1154">
                <a:solidFill>
                  <a:srgbClr val="E6EDF8"/>
                </a:solidFill>
                <a:latin typeface="Consolas"/>
              </a:rPr>
              <a:t>], robotDelta[</a:t>
            </a:r>
            <a:r>
              <a:rPr sz="1154">
                <a:solidFill>
                  <a:srgbClr val="F472B6"/>
                </a:solidFill>
                <a:latin typeface="Consolas"/>
              </a:rPr>
              <a:t>1</a:t>
            </a:r>
            <a:r>
              <a:rPr sz="1154">
                <a:solidFill>
                  <a:srgbClr val="E6EDF8"/>
                </a:solidFill>
                <a:latin typeface="Consolas"/>
              </a:rPr>
              <a:t>], dTheta));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1856232"/>
            <a:ext cx="2702966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Odometry.java · updateWithTime()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519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3A6C4"/>
                </a:solidFill>
                <a:latin typeface="Segoe UI"/>
              </a:rPr>
              <a:t>Quando o dado é velocidade e não deslocamento, a rotação aparece sem disfarce: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663440"/>
            <a:ext cx="6675120" cy="11430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A78BFA"/>
                </a:solidFill>
                <a:latin typeface="Consolas"/>
              </a:rPr>
              <a:t>return</a:t>
            </a:r>
            <a:r>
              <a:rPr sz="1250">
                <a:solidFill>
                  <a:srgbClr val="E6EDF8"/>
                </a:solidFill>
                <a:latin typeface="Consolas"/>
              </a:rPr>
              <a:t> </a:t>
            </a:r>
            <a:r>
              <a:rPr sz="1250">
                <a:solidFill>
                  <a:srgbClr val="A78BFA"/>
                </a:solidFill>
                <a:latin typeface="Consolas"/>
              </a:rPr>
              <a:t>new</a:t>
            </a:r>
            <a:r>
              <a:rPr sz="1250">
                <a:solidFill>
                  <a:srgbClr val="E6EDF8"/>
                </a:solidFill>
                <a:latin typeface="Consolas"/>
              </a:rPr>
              <a:t> </a:t>
            </a:r>
            <a:r>
              <a:rPr sz="1250">
                <a:solidFill>
                  <a:srgbClr val="34D399"/>
                </a:solidFill>
                <a:latin typeface="Consolas"/>
              </a:rPr>
              <a:t>Translation2d</a:t>
            </a:r>
            <a:r>
              <a:rPr sz="1250">
                <a:solidFill>
                  <a:srgbClr val="E6EDF8"/>
                </a:solidFill>
                <a:latin typeface="Consolas"/>
              </a:rPr>
              <a:t>(vxMetersPerSecond, vyMetersPerSecond)</a:t>
            </a:r>
          </a:p>
          <a:p>
            <a:pPr algn="l">
              <a:lnSpc>
                <a:spcPct val="120000"/>
              </a:lnSpc>
            </a:pPr>
            <a:r>
              <a:rPr sz="1250">
                <a:solidFill>
                  <a:srgbClr val="E6EDF8"/>
                </a:solidFill>
                <a:latin typeface="Consolas"/>
              </a:rPr>
              <a:t>           .rotateBy(pose.getRotation());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4507992"/>
            <a:ext cx="2854756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Odometry.java · getFieldVelocity()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663440"/>
            <a:ext cx="3794760" cy="11430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80960" y="4791455"/>
            <a:ext cx="50292" cy="8869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0" y="4846320"/>
            <a:ext cx="33192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Por que exp() e não só a matriz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5193792"/>
            <a:ext cx="3319272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Com dθ ≠ 0 o robô andou em arco. O exp() aplica a rotação e corrige o arco; com dθ = 0 ele vira a matriz pura.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PROVA NUMÉRICA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Robô girado 90°, andando para a frente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matriz de rotação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3A6C4"/>
                </a:solidFill>
                <a:latin typeface="Segoe UI"/>
              </a:rPr>
              <a:t>Melhor caso para conferir sinal: com θ = 90° os cossenos somem e sobra só a troca de eixos.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5852160" cy="420624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2560320"/>
            <a:ext cx="188366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Grandeza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2560320"/>
            <a:ext cx="165506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Robô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2560320"/>
            <a:ext cx="165506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Campo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980944"/>
            <a:ext cx="188366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velocidade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980944"/>
            <a:ext cx="165506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(1 · 0) m/s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980944"/>
            <a:ext cx="165506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(0 · 1) m/s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01568"/>
            <a:ext cx="5852160" cy="420624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3401568"/>
            <a:ext cx="188366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significado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3401568"/>
            <a:ext cx="165506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para a frente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3401568"/>
            <a:ext cx="165506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para a esquerda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5137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C8A"/>
                </a:solidFill>
                <a:latin typeface="Segoe UI"/>
              </a:rPr>
              <a:t>substituindo cos 90° = 0  e  sin 90° =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17136"/>
            <a:ext cx="5852160" cy="100584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1500">
                <a:solidFill>
                  <a:srgbClr val="38D9F0"/>
                </a:solidFill>
                <a:latin typeface="Consolas"/>
              </a:rPr>
              <a:t>x_c = 1·0 - 0·1 = 0</a:t>
            </a:r>
          </a:p>
          <a:p>
            <a:pPr algn="ctr">
              <a:lnSpc>
                <a:spcPct val="132000"/>
              </a:lnSpc>
            </a:pPr>
            <a:r>
              <a:rPr sz="1500">
                <a:solidFill>
                  <a:srgbClr val="38D9F0"/>
                </a:solidFill>
                <a:latin typeface="Consolas"/>
              </a:rPr>
              <a:t>y_c = 1·1 + 0·0 =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2560320"/>
            <a:ext cx="4526280" cy="26060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958">
                <a:solidFill>
                  <a:srgbClr val="E6EDF8"/>
                </a:solidFill>
                <a:latin typeface="Consolas"/>
              </a:rPr>
              <a:t>odometry.resetPose(</a:t>
            </a:r>
          </a:p>
          <a:p>
            <a:pPr algn="l">
              <a:lnSpc>
                <a:spcPct val="120000"/>
              </a:lnSpc>
            </a:pPr>
            <a:r>
              <a:rPr sz="958">
                <a:solidFill>
                  <a:srgbClr val="E6EDF8"/>
                </a:solidFill>
                <a:latin typeface="Consolas"/>
              </a:rPr>
              <a:t>    </a:t>
            </a:r>
            <a:r>
              <a:rPr sz="958">
                <a:solidFill>
                  <a:srgbClr val="A78BFA"/>
                </a:solidFill>
                <a:latin typeface="Consolas"/>
              </a:rPr>
              <a:t>new</a:t>
            </a:r>
            <a:r>
              <a:rPr sz="958">
                <a:solidFill>
                  <a:srgbClr val="E6EDF8"/>
                </a:solidFill>
                <a:latin typeface="Consolas"/>
              </a:rPr>
              <a:t> </a:t>
            </a:r>
            <a:r>
              <a:rPr sz="958">
                <a:solidFill>
                  <a:srgbClr val="34D399"/>
                </a:solidFill>
                <a:latin typeface="Consolas"/>
              </a:rPr>
              <a:t>Pose2d</a:t>
            </a:r>
            <a:r>
              <a:rPr sz="958">
                <a:solidFill>
                  <a:srgbClr val="E6EDF8"/>
                </a:solidFill>
                <a:latin typeface="Consolas"/>
              </a:rPr>
              <a:t>(</a:t>
            </a:r>
            <a:r>
              <a:rPr sz="958">
                <a:solidFill>
                  <a:srgbClr val="F472B6"/>
                </a:solidFill>
                <a:latin typeface="Consolas"/>
              </a:rPr>
              <a:t>0</a:t>
            </a:r>
            <a:r>
              <a:rPr sz="958">
                <a:solidFill>
                  <a:srgbClr val="E6EDF8"/>
                </a:solidFill>
                <a:latin typeface="Consolas"/>
              </a:rPr>
              <a:t>, </a:t>
            </a:r>
            <a:r>
              <a:rPr sz="958">
                <a:solidFill>
                  <a:srgbClr val="F472B6"/>
                </a:solidFill>
                <a:latin typeface="Consolas"/>
              </a:rPr>
              <a:t>0</a:t>
            </a:r>
            <a:r>
              <a:rPr sz="958">
                <a:solidFill>
                  <a:srgbClr val="E6EDF8"/>
                </a:solidFill>
                <a:latin typeface="Consolas"/>
              </a:rPr>
              <a:t>, </a:t>
            </a:r>
            <a:r>
              <a:rPr sz="958">
                <a:solidFill>
                  <a:srgbClr val="34D399"/>
                </a:solidFill>
                <a:latin typeface="Consolas"/>
              </a:rPr>
              <a:t>Rotation2d</a:t>
            </a:r>
            <a:r>
              <a:rPr sz="958">
                <a:solidFill>
                  <a:srgbClr val="E6EDF8"/>
                </a:solidFill>
                <a:latin typeface="Consolas"/>
              </a:rPr>
              <a:t>.fromDegrees(</a:t>
            </a:r>
            <a:r>
              <a:rPr sz="958">
                <a:solidFill>
                  <a:srgbClr val="F472B6"/>
                </a:solidFill>
                <a:latin typeface="Consolas"/>
              </a:rPr>
              <a:t>90</a:t>
            </a:r>
            <a:r>
              <a:rPr sz="958">
                <a:solidFill>
                  <a:srgbClr val="E6EDF8"/>
                </a:solidFill>
                <a:latin typeface="Consolas"/>
              </a:rPr>
              <a:t>)),</a:t>
            </a:r>
          </a:p>
          <a:p>
            <a:pPr algn="l">
              <a:lnSpc>
                <a:spcPct val="120000"/>
              </a:lnSpc>
            </a:pPr>
            <a:r>
              <a:rPr sz="958">
                <a:solidFill>
                  <a:srgbClr val="E6EDF8"/>
                </a:solidFill>
                <a:latin typeface="Consolas"/>
              </a:rPr>
              <a:t>    </a:t>
            </a:r>
            <a:r>
              <a:rPr sz="958">
                <a:solidFill>
                  <a:srgbClr val="A78BFA"/>
                </a:solidFill>
                <a:latin typeface="Consolas"/>
              </a:rPr>
              <a:t>new</a:t>
            </a:r>
            <a:r>
              <a:rPr sz="958">
                <a:solidFill>
                  <a:srgbClr val="E6EDF8"/>
                </a:solidFill>
                <a:latin typeface="Consolas"/>
              </a:rPr>
              <a:t> </a:t>
            </a:r>
            <a:r>
              <a:rPr sz="958">
                <a:solidFill>
                  <a:srgbClr val="34D399"/>
                </a:solidFill>
                <a:latin typeface="Consolas"/>
              </a:rPr>
              <a:t>Rotation2d</a:t>
            </a:r>
            <a:r>
              <a:rPr sz="958">
                <a:solidFill>
                  <a:srgbClr val="E6EDF8"/>
                </a:solidFill>
                <a:latin typeface="Consolas"/>
              </a:rPr>
              <a:t>());</a:t>
            </a:r>
          </a:p>
          <a:p>
            <a:pPr algn="l">
              <a:lnSpc>
                <a:spcPct val="120000"/>
              </a:lnSpc>
            </a:pPr>
            <a:endParaRPr sz="958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58" i="1">
                <a:solidFill>
                  <a:srgbClr val="6B82A6"/>
                </a:solidFill>
                <a:latin typeface="Consolas"/>
              </a:rPr>
              <a:t>// no referencial do robo: para a frente</a:t>
            </a:r>
          </a:p>
          <a:p>
            <a:pPr algn="l">
              <a:lnSpc>
                <a:spcPct val="120000"/>
              </a:lnSpc>
            </a:pPr>
            <a:r>
              <a:rPr sz="958">
                <a:solidFill>
                  <a:srgbClr val="E6EDF8"/>
                </a:solidFill>
                <a:latin typeface="Consolas"/>
              </a:rPr>
              <a:t>assertEquals(</a:t>
            </a:r>
            <a:r>
              <a:rPr sz="958">
                <a:solidFill>
                  <a:srgbClr val="F472B6"/>
                </a:solidFill>
                <a:latin typeface="Consolas"/>
              </a:rPr>
              <a:t>1.0</a:t>
            </a:r>
            <a:r>
              <a:rPr sz="958">
                <a:solidFill>
                  <a:srgbClr val="E6EDF8"/>
                </a:solidFill>
                <a:latin typeface="Consolas"/>
              </a:rPr>
              <a:t>, odometry</a:t>
            </a:r>
          </a:p>
          <a:p>
            <a:pPr algn="l">
              <a:lnSpc>
                <a:spcPct val="120000"/>
              </a:lnSpc>
            </a:pPr>
            <a:r>
              <a:rPr sz="958">
                <a:solidFill>
                  <a:srgbClr val="E6EDF8"/>
                </a:solidFill>
                <a:latin typeface="Consolas"/>
              </a:rPr>
              <a:t>    .getVxMetersPerSecond(), </a:t>
            </a:r>
            <a:r>
              <a:rPr sz="958">
                <a:solidFill>
                  <a:srgbClr val="F472B6"/>
                </a:solidFill>
                <a:latin typeface="Consolas"/>
              </a:rPr>
              <a:t>1</a:t>
            </a:r>
            <a:r>
              <a:rPr sz="958">
                <a:solidFill>
                  <a:srgbClr val="E6EDF8"/>
                </a:solidFill>
                <a:latin typeface="Consolas"/>
              </a:rPr>
              <a:t>e-</a:t>
            </a:r>
            <a:r>
              <a:rPr sz="958">
                <a:solidFill>
                  <a:srgbClr val="F472B6"/>
                </a:solidFill>
                <a:latin typeface="Consolas"/>
              </a:rPr>
              <a:t>6</a:t>
            </a:r>
            <a:r>
              <a:rPr sz="958">
                <a:solidFill>
                  <a:srgbClr val="E6EDF8"/>
                </a:solidFill>
                <a:latin typeface="Consolas"/>
              </a:rPr>
              <a:t>);</a:t>
            </a:r>
          </a:p>
          <a:p>
            <a:pPr algn="l">
              <a:lnSpc>
                <a:spcPct val="120000"/>
              </a:lnSpc>
            </a:pPr>
            <a:endParaRPr sz="958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58" i="1">
                <a:solidFill>
                  <a:srgbClr val="6B82A6"/>
                </a:solidFill>
                <a:latin typeface="Consolas"/>
              </a:rPr>
              <a:t>// no campo: isso aponta para +y</a:t>
            </a:r>
          </a:p>
          <a:p>
            <a:pPr algn="l">
              <a:lnSpc>
                <a:spcPct val="120000"/>
              </a:lnSpc>
            </a:pPr>
            <a:r>
              <a:rPr sz="958">
                <a:solidFill>
                  <a:srgbClr val="E6EDF8"/>
                </a:solidFill>
                <a:latin typeface="Consolas"/>
              </a:rPr>
              <a:t>assertEquals(</a:t>
            </a:r>
            <a:r>
              <a:rPr sz="958">
                <a:solidFill>
                  <a:srgbClr val="F472B6"/>
                </a:solidFill>
                <a:latin typeface="Consolas"/>
              </a:rPr>
              <a:t>0.0</a:t>
            </a:r>
            <a:r>
              <a:rPr sz="958">
                <a:solidFill>
                  <a:srgbClr val="E6EDF8"/>
                </a:solidFill>
                <a:latin typeface="Consolas"/>
              </a:rPr>
              <a:t>, odometry</a:t>
            </a:r>
          </a:p>
          <a:p>
            <a:pPr algn="l">
              <a:lnSpc>
                <a:spcPct val="120000"/>
              </a:lnSpc>
            </a:pPr>
            <a:r>
              <a:rPr sz="958">
                <a:solidFill>
                  <a:srgbClr val="E6EDF8"/>
                </a:solidFill>
                <a:latin typeface="Consolas"/>
              </a:rPr>
              <a:t>    .getFieldVelocity().getX(), </a:t>
            </a:r>
            <a:r>
              <a:rPr sz="958">
                <a:solidFill>
                  <a:srgbClr val="F472B6"/>
                </a:solidFill>
                <a:latin typeface="Consolas"/>
              </a:rPr>
              <a:t>1</a:t>
            </a:r>
            <a:r>
              <a:rPr sz="958">
                <a:solidFill>
                  <a:srgbClr val="E6EDF8"/>
                </a:solidFill>
                <a:latin typeface="Consolas"/>
              </a:rPr>
              <a:t>e-</a:t>
            </a:r>
            <a:r>
              <a:rPr sz="958">
                <a:solidFill>
                  <a:srgbClr val="F472B6"/>
                </a:solidFill>
                <a:latin typeface="Consolas"/>
              </a:rPr>
              <a:t>6</a:t>
            </a:r>
            <a:r>
              <a:rPr sz="958">
                <a:solidFill>
                  <a:srgbClr val="E6EDF8"/>
                </a:solidFill>
                <a:latin typeface="Consolas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sz="958">
                <a:solidFill>
                  <a:srgbClr val="E6EDF8"/>
                </a:solidFill>
                <a:latin typeface="Consolas"/>
              </a:rPr>
              <a:t>assertEquals(</a:t>
            </a:r>
            <a:r>
              <a:rPr sz="958">
                <a:solidFill>
                  <a:srgbClr val="F472B6"/>
                </a:solidFill>
                <a:latin typeface="Consolas"/>
              </a:rPr>
              <a:t>1.0</a:t>
            </a:r>
            <a:r>
              <a:rPr sz="958">
                <a:solidFill>
                  <a:srgbClr val="E6EDF8"/>
                </a:solidFill>
                <a:latin typeface="Consolas"/>
              </a:rPr>
              <a:t>, odometry</a:t>
            </a:r>
          </a:p>
          <a:p>
            <a:pPr algn="l">
              <a:lnSpc>
                <a:spcPct val="120000"/>
              </a:lnSpc>
            </a:pPr>
            <a:r>
              <a:rPr sz="958">
                <a:solidFill>
                  <a:srgbClr val="E6EDF8"/>
                </a:solidFill>
                <a:latin typeface="Consolas"/>
              </a:rPr>
              <a:t>    .getFieldVelocity().getY(), </a:t>
            </a:r>
            <a:r>
              <a:rPr sz="958">
                <a:solidFill>
                  <a:srgbClr val="F472B6"/>
                </a:solidFill>
                <a:latin typeface="Consolas"/>
              </a:rPr>
              <a:t>1</a:t>
            </a:r>
            <a:r>
              <a:rPr sz="958">
                <a:solidFill>
                  <a:srgbClr val="E6EDF8"/>
                </a:solidFill>
                <a:latin typeface="Consolas"/>
              </a:rPr>
              <a:t>e-</a:t>
            </a:r>
            <a:r>
              <a:rPr sz="958">
                <a:solidFill>
                  <a:srgbClr val="F472B6"/>
                </a:solidFill>
                <a:latin typeface="Consolas"/>
              </a:rPr>
              <a:t>6</a:t>
            </a:r>
            <a:r>
              <a:rPr sz="958">
                <a:solidFill>
                  <a:srgbClr val="E6EDF8"/>
                </a:solidFill>
                <a:latin typeface="Consolas"/>
              </a:rPr>
              <a:t>);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14031" y="2404872"/>
            <a:ext cx="1564538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OdometryTest.java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303520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./gradlew test  ·  roda no PC, sem robô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0" y="132588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0" b="1" i="0">
                <a:solidFill>
                  <a:srgbClr val="1E2E4A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BBF24"/>
                </a:solidFill>
                <a:latin typeface="Segoe UI"/>
              </a:rPr>
              <a:t>PARTE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95097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Trajeto por coordenadas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3A6C4"/>
                </a:solidFill>
                <a:latin typeface="Segoe UI"/>
              </a:rPr>
              <a:t>De “vá para (1,80 · 0,80)” até RPM nas rodas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1500530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erro no campo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4426" y="4526280"/>
            <a:ext cx="1500530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malha fechada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82972" y="4526280"/>
            <a:ext cx="1323136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três pontos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4125" y="4526280"/>
            <a:ext cx="1677924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ajuste em campo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A IDEIA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Erro no campo, direção unitária, velocidade proporcional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Trajeto por coordenadas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1. O erro é um vetor de campo: </a:t>
            </a:r>
            <a:r>
              <a:rPr sz="1500">
                <a:solidFill>
                  <a:srgbClr val="E6EDF8"/>
                </a:solidFill>
                <a:latin typeface="Segoe UI"/>
              </a:rPr>
              <a:t>alvo - pose. Ele já aponta para onde o robô tem que ir, em coordenadas de arena.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2. Normalizar dá a direção: </a:t>
            </a:r>
            <a:r>
              <a:rPr sz="1500">
                <a:solidFill>
                  <a:srgbClr val="E6EDF8"/>
                </a:solidFill>
                <a:latin typeface="Segoe UI"/>
              </a:rPr>
              <a:t>dividir pelo comprimento separa “para onde” de “com que velocidade”.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3. A velocidade sai da distância: </a:t>
            </a:r>
            <a:r>
              <a:rPr sz="1500">
                <a:solidFill>
                  <a:srgbClr val="E6EDF8"/>
                </a:solidFill>
                <a:latin typeface="Segoe UI"/>
              </a:rPr>
              <a:t>erro × kTranslationP, limitado entre o piso que vence o atrito e a velocidade de cruzeiro.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4. A matriz faz o resto: </a:t>
            </a:r>
            <a:r>
              <a:rPr sz="1500">
                <a:solidFill>
                  <a:srgbClr val="E6EDF8"/>
                </a:solidFill>
                <a:latin typeface="Segoe UI"/>
              </a:rPr>
              <a:t>driveFieldOriented recebe esse vetor de campo e desce para as rodas.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9235440" y="1944014"/>
            <a:ext cx="0" cy="1713586"/>
          </a:xfrm>
          <a:prstGeom prst="line">
            <a:avLst/>
          </a:prstGeom>
          <a:ln w="1651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>
            <a:off x="9153144" y="1746504"/>
            <a:ext cx="164592" cy="164592"/>
          </a:xfrm>
          <a:prstGeom prst="triangle">
            <a:avLst/>
          </a:prstGeom>
          <a:solidFill>
            <a:srgbClr val="93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 flipH="1">
            <a:off x="7521854" y="3657600"/>
            <a:ext cx="1713586" cy="0"/>
          </a:xfrm>
          <a:prstGeom prst="line">
            <a:avLst/>
          </a:prstGeom>
          <a:ln w="1651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6200000">
            <a:off x="7324344" y="3575304"/>
            <a:ext cx="164592" cy="164592"/>
          </a:xfrm>
          <a:prstGeom prst="triangle">
            <a:avLst/>
          </a:prstGeom>
          <a:solidFill>
            <a:srgbClr val="93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4996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+x campo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34670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+y campo</a:t>
            </a:r>
          </a:p>
        </p:txBody>
      </p:sp>
      <p:sp>
        <p:nvSpPr>
          <p:cNvPr id="15" name="Oval 14"/>
          <p:cNvSpPr/>
          <p:nvPr/>
        </p:nvSpPr>
        <p:spPr>
          <a:xfrm>
            <a:off x="8641080" y="310896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78824" y="310896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onsolas"/>
              </a:rPr>
              <a:t>pose</a:t>
            </a:r>
          </a:p>
        </p:txBody>
      </p:sp>
      <p:sp>
        <p:nvSpPr>
          <p:cNvPr id="17" name="Oval 16"/>
          <p:cNvSpPr/>
          <p:nvPr/>
        </p:nvSpPr>
        <p:spPr>
          <a:xfrm>
            <a:off x="7534656" y="1984248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7739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 i="0">
                <a:solidFill>
                  <a:srgbClr val="FBBF24"/>
                </a:solidFill>
                <a:latin typeface="Consolas"/>
              </a:rPr>
              <a:t>alvo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7842992" y="2296047"/>
            <a:ext cx="889527" cy="904353"/>
          </a:xfrm>
          <a:prstGeom prst="line">
            <a:avLst/>
          </a:prstGeom>
          <a:ln w="30480">
            <a:solidFill>
              <a:srgbClr val="38D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8928410">
            <a:off x="7643662" y="2095070"/>
            <a:ext cx="201168" cy="201168"/>
          </a:xfrm>
          <a:prstGeom prst="triangle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599" y="2542032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erro =</a:t>
            </a:r>
          </a:p>
          <a:p>
            <a:pPr algn="r">
              <a:lnSpc>
                <a:spcPct val="110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alvo - pose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846320"/>
            <a:ext cx="4754880" cy="100584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1300">
                <a:solidFill>
                  <a:srgbClr val="E6EDF8"/>
                </a:solidFill>
                <a:latin typeface="Consolas"/>
              </a:rPr>
              <a:t>dir   = erro / |erro|</a:t>
            </a:r>
          </a:p>
          <a:p>
            <a:pPr algn="ctr">
              <a:lnSpc>
                <a:spcPct val="132000"/>
              </a:lnSpc>
            </a:pPr>
            <a:r>
              <a:rPr sz="1300">
                <a:solidFill>
                  <a:srgbClr val="E6EDF8"/>
                </a:solidFill>
                <a:latin typeface="Consolas"/>
              </a:rPr>
              <a:t>speed = |erro| × kTranslationP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A MALHA FECHADA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Onde a matriz entra, e onde ela sai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Trajeto por coordenadas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337636" cy="105156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alvo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(x, y) do campo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78300" y="270205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261180" y="2286000"/>
            <a:ext cx="1337636" cy="105156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erro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alvo - pose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53681" y="270205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36561" y="2286000"/>
            <a:ext cx="1337636" cy="105156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direção × speed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vetor de campo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29061" y="270205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11941" y="2286000"/>
            <a:ext cx="1337636" cy="105156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R(-θ)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campo → robô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04442" y="270205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87322" y="2286000"/>
            <a:ext cx="1337636" cy="105156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cinemática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3 rodas + PID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79822" y="270205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62702" y="2286000"/>
            <a:ext cx="1337636" cy="105156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encoders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+ IMU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955203" y="270205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138083" y="2286000"/>
            <a:ext cx="1337636" cy="105156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R(+θ)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pose no campo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064240" y="3456432"/>
            <a:ext cx="0" cy="658368"/>
          </a:xfrm>
          <a:prstGeom prst="line">
            <a:avLst/>
          </a:prstGeom>
          <a:ln w="16510">
            <a:solidFill>
              <a:srgbClr val="F472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377440" y="4114800"/>
            <a:ext cx="8686800" cy="0"/>
          </a:xfrm>
          <a:prstGeom prst="line">
            <a:avLst/>
          </a:prstGeom>
          <a:ln w="16510">
            <a:solidFill>
              <a:srgbClr val="F472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77440" y="3621024"/>
            <a:ext cx="0" cy="493776"/>
          </a:xfrm>
          <a:prstGeom prst="line">
            <a:avLst/>
          </a:prstGeom>
          <a:ln w="1778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>
            <a:off x="2286000" y="3401568"/>
            <a:ext cx="182880" cy="182880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0" y="4169663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472B6"/>
                </a:solidFill>
                <a:latin typeface="Segoe UI"/>
              </a:rPr>
              <a:t>a pose estimada volta como referência a cada 20 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61772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4745736"/>
            <a:ext cx="50292" cy="93268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4800600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Duas vezes, sentidos opostos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148072"/>
            <a:ext cx="295351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R(-θ) para acionar, R(+θ) para medir. A mesma leitura de rumo nas duas.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61772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70832" y="4745736"/>
            <a:ext cx="50292" cy="93268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45152" y="4800600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Nada de cronômetro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5148072"/>
            <a:ext cx="295351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O erro vem da pose, não do tempo. Bateria fraca ou tapete diferente não deslocam o ponto final.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61772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46720" y="4745736"/>
            <a:ext cx="50292" cy="932688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4800600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8D9F0"/>
                </a:solidFill>
                <a:latin typeface="Segoe UI"/>
              </a:rPr>
              <a:t>Escorregão não acumula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148072"/>
            <a:ext cx="295351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Empurre o robô no meio do trajeto: no ciclo seguinte o erro já é outro e ele volta.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TRAJETO DE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Três coordenadas, 1 s de parada em cada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Trajeto por coordenadas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9784080" y="2276856"/>
            <a:ext cx="0" cy="3163824"/>
          </a:xfrm>
          <a:prstGeom prst="line">
            <a:avLst/>
          </a:prstGeom>
          <a:ln w="1778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>
            <a:off x="9692640" y="2057400"/>
            <a:ext cx="182880" cy="182880"/>
          </a:xfrm>
          <a:prstGeom prst="triangle">
            <a:avLst/>
          </a:prstGeom>
          <a:solidFill>
            <a:srgbClr val="93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19" y="18288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+x · frente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534656" y="5440680"/>
            <a:ext cx="2249424" cy="0"/>
          </a:xfrm>
          <a:prstGeom prst="line">
            <a:avLst/>
          </a:prstGeom>
          <a:ln w="1778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6200000">
            <a:off x="7315200" y="5349240"/>
            <a:ext cx="182880" cy="182880"/>
          </a:xfrm>
          <a:prstGeom prst="triangle">
            <a:avLst/>
          </a:prstGeom>
          <a:solidFill>
            <a:srgbClr val="93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79" y="51114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+y · esquerda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19" y="4709160"/>
            <a:ext cx="2304288" cy="0"/>
          </a:xfrm>
          <a:prstGeom prst="line">
            <a:avLst/>
          </a:prstGeom>
          <a:ln w="9525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89519" y="3977639"/>
            <a:ext cx="2304288" cy="0"/>
          </a:xfrm>
          <a:prstGeom prst="line">
            <a:avLst/>
          </a:prstGeom>
          <a:ln w="9525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89519" y="3246120"/>
            <a:ext cx="2304288" cy="0"/>
          </a:xfrm>
          <a:prstGeom prst="line">
            <a:avLst/>
          </a:prstGeom>
          <a:ln w="9525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19" y="2514600"/>
            <a:ext cx="2304288" cy="0"/>
          </a:xfrm>
          <a:prstGeom prst="line">
            <a:avLst/>
          </a:prstGeom>
          <a:ln w="9525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52559" y="2240280"/>
            <a:ext cx="0" cy="3310128"/>
          </a:xfrm>
          <a:prstGeom prst="line">
            <a:avLst/>
          </a:prstGeom>
          <a:ln w="9525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21040" y="2240280"/>
            <a:ext cx="0" cy="3310128"/>
          </a:xfrm>
          <a:prstGeom prst="line">
            <a:avLst/>
          </a:prstGeom>
          <a:ln w="9525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784080" y="4392777"/>
            <a:ext cx="0" cy="773583"/>
          </a:xfrm>
          <a:prstGeom prst="line">
            <a:avLst/>
          </a:prstGeom>
          <a:ln w="30480">
            <a:solidFill>
              <a:srgbClr val="38D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>
            <a:off x="9683496" y="4151375"/>
            <a:ext cx="201168" cy="201168"/>
          </a:xfrm>
          <a:prstGeom prst="triangle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H="1">
            <a:off x="9028785" y="3977639"/>
            <a:ext cx="480974" cy="0"/>
          </a:xfrm>
          <a:prstGeom prst="line">
            <a:avLst/>
          </a:prstGeom>
          <a:ln w="30480">
            <a:solidFill>
              <a:srgbClr val="38D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6200000">
            <a:off x="8787384" y="3877055"/>
            <a:ext cx="201168" cy="201168"/>
          </a:xfrm>
          <a:prstGeom prst="triangle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V="1">
            <a:off x="8613647" y="3222345"/>
            <a:ext cx="0" cy="480975"/>
          </a:xfrm>
          <a:prstGeom prst="line">
            <a:avLst/>
          </a:prstGeom>
          <a:ln w="30480">
            <a:solidFill>
              <a:srgbClr val="38D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>
            <a:off x="8513063" y="2980944"/>
            <a:ext cx="201168" cy="201168"/>
          </a:xfrm>
          <a:prstGeom prst="triangle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537192" y="5193792"/>
            <a:ext cx="493776" cy="493776"/>
          </a:xfrm>
          <a:prstGeom prst="ellipse">
            <a:avLst/>
          </a:prstGeom>
          <a:solidFill>
            <a:srgbClr val="1E2E4A"/>
          </a:solidFill>
          <a:ln w="15240">
            <a:solidFill>
              <a:srgbClr val="93A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 flipV="1">
            <a:off x="9784080" y="5323636"/>
            <a:ext cx="0" cy="117044"/>
          </a:xfrm>
          <a:prstGeom prst="line">
            <a:avLst/>
          </a:prstGeom>
          <a:ln w="22860">
            <a:solidFill>
              <a:srgbClr val="38D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>
            <a:off x="9710928" y="5148072"/>
            <a:ext cx="146304" cy="146304"/>
          </a:xfrm>
          <a:prstGeom prst="triangle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537192" y="3730752"/>
            <a:ext cx="493776" cy="493776"/>
          </a:xfrm>
          <a:prstGeom prst="ellipse">
            <a:avLst/>
          </a:prstGeom>
          <a:solidFill>
            <a:srgbClr val="162238"/>
          </a:solidFill>
          <a:ln w="1524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 flipV="1">
            <a:off x="9784080" y="3860596"/>
            <a:ext cx="0" cy="117043"/>
          </a:xfrm>
          <a:prstGeom prst="line">
            <a:avLst/>
          </a:prstGeom>
          <a:ln w="22860">
            <a:solidFill>
              <a:srgbClr val="38D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>
            <a:off x="9710928" y="3685031"/>
            <a:ext cx="146304" cy="146304"/>
          </a:xfrm>
          <a:prstGeom prst="triangle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381744" y="3575303"/>
            <a:ext cx="804672" cy="804672"/>
          </a:xfrm>
          <a:prstGeom prst="ellipse">
            <a:avLst/>
          </a:prstGeom>
          <a:noFill/>
          <a:ln w="1397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66759" y="3730752"/>
            <a:ext cx="493776" cy="493776"/>
          </a:xfrm>
          <a:prstGeom prst="ellipse">
            <a:avLst/>
          </a:prstGeom>
          <a:solidFill>
            <a:srgbClr val="162238"/>
          </a:solidFill>
          <a:ln w="1524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 flipV="1">
            <a:off x="8613647" y="3860596"/>
            <a:ext cx="0" cy="117043"/>
          </a:xfrm>
          <a:prstGeom prst="line">
            <a:avLst/>
          </a:prstGeom>
          <a:ln w="22860">
            <a:solidFill>
              <a:srgbClr val="38D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>
            <a:off x="8540495" y="3685031"/>
            <a:ext cx="146304" cy="146304"/>
          </a:xfrm>
          <a:prstGeom prst="triangle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211311" y="3575303"/>
            <a:ext cx="804672" cy="804672"/>
          </a:xfrm>
          <a:prstGeom prst="ellipse">
            <a:avLst/>
          </a:prstGeom>
          <a:noFill/>
          <a:ln w="1397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366759" y="2560320"/>
            <a:ext cx="493776" cy="493776"/>
          </a:xfrm>
          <a:prstGeom prst="ellipse">
            <a:avLst/>
          </a:prstGeom>
          <a:solidFill>
            <a:srgbClr val="162238"/>
          </a:solidFill>
          <a:ln w="1524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 flipV="1">
            <a:off x="8613647" y="2690164"/>
            <a:ext cx="0" cy="117044"/>
          </a:xfrm>
          <a:prstGeom prst="line">
            <a:avLst/>
          </a:prstGeom>
          <a:ln w="22860">
            <a:solidFill>
              <a:srgbClr val="38D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>
            <a:off x="8540495" y="2514600"/>
            <a:ext cx="146304" cy="146304"/>
          </a:xfrm>
          <a:prstGeom prst="triangle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211311" y="2404872"/>
            <a:ext cx="804672" cy="804672"/>
          </a:xfrm>
          <a:prstGeom prst="ellipse">
            <a:avLst/>
          </a:prstGeom>
          <a:noFill/>
          <a:ln w="1397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62671" y="4873752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E6EDF8"/>
                </a:solidFill>
                <a:latin typeface="Consolas"/>
              </a:rPr>
              <a:t>início (0,00 · 0,00)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51007" y="3831335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E6EDF8"/>
                </a:solidFill>
                <a:latin typeface="Consolas"/>
              </a:rPr>
              <a:t>P1 (1,00 · 0,00)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39" y="3831335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E6EDF8"/>
                </a:solidFill>
                <a:latin typeface="Consolas"/>
              </a:rPr>
              <a:t>P2 (1,00 · 0,80)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39" y="2660903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E6EDF8"/>
                </a:solidFill>
                <a:latin typeface="Consolas"/>
              </a:rPr>
              <a:t>P3 (1,80 · 0,80)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59" y="586130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BBF24"/>
                </a:solidFill>
                <a:latin typeface="Segoe UI"/>
              </a:rPr>
              <a:t>○  pausa de 1 s em cada ponto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2057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50">
                <a:solidFill>
                  <a:srgbClr val="38D9F0"/>
                </a:solidFill>
                <a:latin typeface="Segoe UI"/>
              </a:rPr>
              <a:t>▸  </a:t>
            </a:r>
            <a:r>
              <a:rPr sz="1450" b="1">
                <a:solidFill>
                  <a:srgbClr val="FBBF24"/>
                </a:solidFill>
                <a:latin typeface="Segoe UI"/>
              </a:rPr>
              <a:t>A origem é onde o autônomo começou: </a:t>
            </a:r>
            <a:r>
              <a:rPr sz="1450">
                <a:solidFill>
                  <a:srgbClr val="E6EDF8"/>
                </a:solidFill>
                <a:latin typeface="Segoe UI"/>
              </a:rPr>
              <a:t>o grupo chama resetOdometry() antes da primeira perna, então as coordenadas saem do ponto de partida.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50">
                <a:solidFill>
                  <a:srgbClr val="38D9F0"/>
                </a:solidFill>
                <a:latin typeface="Segoe UI"/>
              </a:rPr>
              <a:t>▸  </a:t>
            </a:r>
            <a:r>
              <a:rPr sz="1450" b="1">
                <a:solidFill>
                  <a:srgbClr val="FBBF24"/>
                </a:solidFill>
                <a:latin typeface="Segoe UI"/>
              </a:rPr>
              <a:t>O robô não gira em nenhum momento: </a:t>
            </a:r>
            <a:r>
              <a:rPr sz="1450">
                <a:solidFill>
                  <a:srgbClr val="E6EDF8"/>
                </a:solidFill>
                <a:latin typeface="Segoe UI"/>
              </a:rPr>
              <a:t>a seta ciano dentro do chassi aponta para +x nos quatro pontos. Na segunda perna ele anda de lado.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50">
                <a:solidFill>
                  <a:srgbClr val="38D9F0"/>
                </a:solidFill>
                <a:latin typeface="Segoe UI"/>
              </a:rPr>
              <a:t>▸  </a:t>
            </a:r>
            <a:r>
              <a:rPr sz="1450" b="1">
                <a:solidFill>
                  <a:srgbClr val="FBBF24"/>
                </a:solidFill>
                <a:latin typeface="Segoe UI"/>
              </a:rPr>
              <a:t>Cada perna tem timeout: </a:t>
            </a:r>
            <a:r>
              <a:rPr sz="1450">
                <a:solidFill>
                  <a:srgbClr val="E6EDF8"/>
                </a:solidFill>
                <a:latin typeface="Segoe UI"/>
              </a:rPr>
              <a:t>se o robô travar contra alguma coisa, o grupo segue para o ponto seguinte em vez de ficar empurrando.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COMANDO DE UM PONTO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Três contas e uma chamada, por ciclo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Trajeto por coordenadas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0789920" cy="25146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997">
                <a:solidFill>
                  <a:srgbClr val="34D399"/>
                </a:solidFill>
                <a:latin typeface="Consolas"/>
              </a:rPr>
              <a:t>Translation2d</a:t>
            </a:r>
            <a:r>
              <a:rPr sz="997">
                <a:solidFill>
                  <a:srgbClr val="E6EDF8"/>
                </a:solidFill>
                <a:latin typeface="Consolas"/>
              </a:rPr>
              <a:t> error = target.minus(drive.getPose().getTranslation());</a:t>
            </a:r>
          </a:p>
          <a:p>
            <a:pPr algn="l">
              <a:lnSpc>
                <a:spcPct val="120000"/>
              </a:lnSpc>
            </a:pPr>
            <a:r>
              <a:rPr sz="997">
                <a:solidFill>
                  <a:srgbClr val="A78BFA"/>
                </a:solidFill>
                <a:latin typeface="Consolas"/>
              </a:rPr>
              <a:t>double</a:t>
            </a:r>
            <a:r>
              <a:rPr sz="997">
                <a:solidFill>
                  <a:srgbClr val="E6EDF8"/>
                </a:solidFill>
                <a:latin typeface="Consolas"/>
              </a:rPr>
              <a:t> distance = error.getNorm();</a:t>
            </a:r>
          </a:p>
          <a:p>
            <a:pPr algn="l">
              <a:lnSpc>
                <a:spcPct val="120000"/>
              </a:lnSpc>
            </a:pPr>
            <a:endParaRPr sz="997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97" i="1">
                <a:solidFill>
                  <a:srgbClr val="6B82A6"/>
                </a:solidFill>
                <a:latin typeface="Consolas"/>
              </a:rPr>
              <a:t>// velocidade proporcional ao que falta: a desaceleracao sai de graca</a:t>
            </a:r>
          </a:p>
          <a:p>
            <a:pPr algn="l">
              <a:lnSpc>
                <a:spcPct val="120000"/>
              </a:lnSpc>
            </a:pPr>
            <a:r>
              <a:rPr sz="997">
                <a:solidFill>
                  <a:srgbClr val="A78BFA"/>
                </a:solidFill>
                <a:latin typeface="Consolas"/>
              </a:rPr>
              <a:t>double</a:t>
            </a:r>
            <a:r>
              <a:rPr sz="997">
                <a:solidFill>
                  <a:srgbClr val="E6EDF8"/>
                </a:solidFill>
                <a:latin typeface="Consolas"/>
              </a:rPr>
              <a:t> speed = </a:t>
            </a:r>
            <a:r>
              <a:rPr sz="997">
                <a:solidFill>
                  <a:srgbClr val="34D399"/>
                </a:solidFill>
                <a:latin typeface="Consolas"/>
              </a:rPr>
              <a:t>Math</a:t>
            </a:r>
            <a:r>
              <a:rPr sz="997">
                <a:solidFill>
                  <a:srgbClr val="E6EDF8"/>
                </a:solidFill>
                <a:latin typeface="Consolas"/>
              </a:rPr>
              <a:t>.min(distance * </a:t>
            </a:r>
            <a:r>
              <a:rPr sz="997">
                <a:solidFill>
                  <a:srgbClr val="34D399"/>
                </a:solidFill>
                <a:latin typeface="Consolas"/>
              </a:rPr>
              <a:t>AutoConstants</a:t>
            </a:r>
            <a:r>
              <a:rPr sz="997">
                <a:solidFill>
                  <a:srgbClr val="E6EDF8"/>
                </a:solidFill>
                <a:latin typeface="Consolas"/>
              </a:rPr>
              <a:t>.kTranslationP, </a:t>
            </a:r>
            <a:r>
              <a:rPr sz="997">
                <a:solidFill>
                  <a:srgbClr val="34D399"/>
                </a:solidFill>
                <a:latin typeface="Consolas"/>
              </a:rPr>
              <a:t>AutoConstants</a:t>
            </a:r>
            <a:r>
              <a:rPr sz="997">
                <a:solidFill>
                  <a:srgbClr val="E6EDF8"/>
                </a:solidFill>
                <a:latin typeface="Consolas"/>
              </a:rPr>
              <a:t>.kDriveSpeed);</a:t>
            </a:r>
          </a:p>
          <a:p>
            <a:pPr algn="l">
              <a:lnSpc>
                <a:spcPct val="120000"/>
              </a:lnSpc>
            </a:pPr>
            <a:r>
              <a:rPr sz="997">
                <a:solidFill>
                  <a:srgbClr val="E6EDF8"/>
                </a:solidFill>
                <a:latin typeface="Consolas"/>
              </a:rPr>
              <a:t>speed = </a:t>
            </a:r>
            <a:r>
              <a:rPr sz="997">
                <a:solidFill>
                  <a:srgbClr val="34D399"/>
                </a:solidFill>
                <a:latin typeface="Consolas"/>
              </a:rPr>
              <a:t>Math</a:t>
            </a:r>
            <a:r>
              <a:rPr sz="997">
                <a:solidFill>
                  <a:srgbClr val="E6EDF8"/>
                </a:solidFill>
                <a:latin typeface="Consolas"/>
              </a:rPr>
              <a:t>.max(speed, </a:t>
            </a:r>
            <a:r>
              <a:rPr sz="997">
                <a:solidFill>
                  <a:srgbClr val="34D399"/>
                </a:solidFill>
                <a:latin typeface="Consolas"/>
              </a:rPr>
              <a:t>AutoConstants</a:t>
            </a:r>
            <a:r>
              <a:rPr sz="997">
                <a:solidFill>
                  <a:srgbClr val="E6EDF8"/>
                </a:solidFill>
                <a:latin typeface="Consolas"/>
              </a:rPr>
              <a:t>.kMinDriveSpeed);</a:t>
            </a:r>
          </a:p>
          <a:p>
            <a:pPr algn="l">
              <a:lnSpc>
                <a:spcPct val="120000"/>
              </a:lnSpc>
            </a:pPr>
            <a:endParaRPr sz="997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97" i="1">
                <a:solidFill>
                  <a:srgbClr val="6B82A6"/>
                </a:solidFill>
                <a:latin typeface="Consolas"/>
              </a:rPr>
              <a:t>// direcao unitaria do erro, ja em coordenadas de campo</a:t>
            </a:r>
          </a:p>
          <a:p>
            <a:pPr algn="l">
              <a:lnSpc>
                <a:spcPct val="120000"/>
              </a:lnSpc>
            </a:pPr>
            <a:r>
              <a:rPr sz="997">
                <a:solidFill>
                  <a:srgbClr val="A78BFA"/>
                </a:solidFill>
                <a:latin typeface="Consolas"/>
              </a:rPr>
              <a:t>double</a:t>
            </a:r>
            <a:r>
              <a:rPr sz="997">
                <a:solidFill>
                  <a:srgbClr val="E6EDF8"/>
                </a:solidFill>
                <a:latin typeface="Consolas"/>
              </a:rPr>
              <a:t> dirX = error.getX() / distance;</a:t>
            </a:r>
          </a:p>
          <a:p>
            <a:pPr algn="l">
              <a:lnSpc>
                <a:spcPct val="120000"/>
              </a:lnSpc>
            </a:pPr>
            <a:r>
              <a:rPr sz="997">
                <a:solidFill>
                  <a:srgbClr val="A78BFA"/>
                </a:solidFill>
                <a:latin typeface="Consolas"/>
              </a:rPr>
              <a:t>double</a:t>
            </a:r>
            <a:r>
              <a:rPr sz="997">
                <a:solidFill>
                  <a:srgbClr val="E6EDF8"/>
                </a:solidFill>
                <a:latin typeface="Consolas"/>
              </a:rPr>
              <a:t> dirY = error.getY() / distance;</a:t>
            </a:r>
          </a:p>
          <a:p>
            <a:pPr algn="l">
              <a:lnSpc>
                <a:spcPct val="120000"/>
              </a:lnSpc>
            </a:pPr>
            <a:endParaRPr sz="997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97">
                <a:solidFill>
                  <a:srgbClr val="E6EDF8"/>
                </a:solidFill>
                <a:latin typeface="Consolas"/>
              </a:rPr>
              <a:t>drive.driveFieldOriented(dirX * speed, dirY * speed, turn);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1856232"/>
            <a:ext cx="3006547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DriveToPointCommand.java · execute()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846320"/>
            <a:ext cx="5257800" cy="9601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4974336"/>
            <a:ext cx="50292" cy="704088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029200"/>
            <a:ext cx="4782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8D9F0"/>
                </a:solidFill>
                <a:latin typeface="Segoe UI"/>
              </a:rPr>
              <a:t>isFinished()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376672"/>
            <a:ext cx="478231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Termina quando a distância cai abaixo de kPositionTolerance (5 cm).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846320"/>
            <a:ext cx="5257800" cy="9601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4974336"/>
            <a:ext cx="50292" cy="70408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5029200"/>
            <a:ext cx="4782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Sem resetEncoders()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376672"/>
            <a:ext cx="478231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O alvo é absoluto: a pose precisa continuar valendo de um ponto ao outro.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GRUPO DOS TRÊS PONTOS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Ancorar, depois alternar perna e pausa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Trajeto por coordenadas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6675120" cy="28803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996">
                <a:solidFill>
                  <a:srgbClr val="A78BFA"/>
                </a:solidFill>
                <a:latin typeface="Consolas"/>
              </a:rPr>
              <a:t>private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A78BFA"/>
                </a:solidFill>
                <a:latin typeface="Consolas"/>
              </a:rPr>
              <a:t>static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A78BFA"/>
                </a:solidFill>
                <a:latin typeface="Consolas"/>
              </a:rPr>
              <a:t>final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34D399"/>
                </a:solidFill>
                <a:latin typeface="Consolas"/>
              </a:rPr>
              <a:t>Translation2d</a:t>
            </a:r>
            <a:r>
              <a:rPr sz="996">
                <a:solidFill>
                  <a:srgbClr val="E6EDF8"/>
                </a:solidFill>
                <a:latin typeface="Consolas"/>
              </a:rPr>
              <a:t>[] </a:t>
            </a:r>
            <a:r>
              <a:rPr sz="996">
                <a:solidFill>
                  <a:srgbClr val="34D399"/>
                </a:solidFill>
                <a:latin typeface="Consolas"/>
              </a:rPr>
              <a:t>WAYPOINTS</a:t>
            </a:r>
            <a:r>
              <a:rPr sz="996">
                <a:solidFill>
                  <a:srgbClr val="E6EDF8"/>
                </a:solidFill>
                <a:latin typeface="Consolas"/>
              </a:rPr>
              <a:t> =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  </a:t>
            </a:r>
            <a:r>
              <a:rPr sz="996">
                <a:solidFill>
                  <a:srgbClr val="A78BFA"/>
                </a:solidFill>
                <a:latin typeface="Consolas"/>
              </a:rPr>
              <a:t>new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34D399"/>
                </a:solidFill>
                <a:latin typeface="Consolas"/>
              </a:rPr>
              <a:t>Translation2d</a:t>
            </a:r>
            <a:r>
              <a:rPr sz="996">
                <a:solidFill>
                  <a:srgbClr val="E6EDF8"/>
                </a:solidFill>
                <a:latin typeface="Consolas"/>
              </a:rPr>
              <a:t>(</a:t>
            </a:r>
            <a:r>
              <a:rPr sz="996">
                <a:solidFill>
                  <a:srgbClr val="F472B6"/>
                </a:solidFill>
                <a:latin typeface="Consolas"/>
              </a:rPr>
              <a:t>1.00</a:t>
            </a:r>
            <a:r>
              <a:rPr sz="996">
                <a:solidFill>
                  <a:srgbClr val="E6EDF8"/>
                </a:solidFill>
                <a:latin typeface="Consolas"/>
              </a:rPr>
              <a:t>, </a:t>
            </a:r>
            <a:r>
              <a:rPr sz="996">
                <a:solidFill>
                  <a:srgbClr val="F472B6"/>
                </a:solidFill>
                <a:latin typeface="Consolas"/>
              </a:rPr>
              <a:t>0.00</a:t>
            </a:r>
            <a:r>
              <a:rPr sz="996">
                <a:solidFill>
                  <a:srgbClr val="E6EDF8"/>
                </a:solidFill>
                <a:latin typeface="Consolas"/>
              </a:rPr>
              <a:t>),  </a:t>
            </a:r>
            <a:r>
              <a:rPr sz="996" i="1">
                <a:solidFill>
                  <a:srgbClr val="6B82A6"/>
                </a:solidFill>
                <a:latin typeface="Consolas"/>
              </a:rPr>
              <a:t>// P1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  </a:t>
            </a:r>
            <a:r>
              <a:rPr sz="996">
                <a:solidFill>
                  <a:srgbClr val="A78BFA"/>
                </a:solidFill>
                <a:latin typeface="Consolas"/>
              </a:rPr>
              <a:t>new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34D399"/>
                </a:solidFill>
                <a:latin typeface="Consolas"/>
              </a:rPr>
              <a:t>Translation2d</a:t>
            </a:r>
            <a:r>
              <a:rPr sz="996">
                <a:solidFill>
                  <a:srgbClr val="E6EDF8"/>
                </a:solidFill>
                <a:latin typeface="Consolas"/>
              </a:rPr>
              <a:t>(</a:t>
            </a:r>
            <a:r>
              <a:rPr sz="996">
                <a:solidFill>
                  <a:srgbClr val="F472B6"/>
                </a:solidFill>
                <a:latin typeface="Consolas"/>
              </a:rPr>
              <a:t>1.00</a:t>
            </a:r>
            <a:r>
              <a:rPr sz="996">
                <a:solidFill>
                  <a:srgbClr val="E6EDF8"/>
                </a:solidFill>
                <a:latin typeface="Consolas"/>
              </a:rPr>
              <a:t>, </a:t>
            </a:r>
            <a:r>
              <a:rPr sz="996">
                <a:solidFill>
                  <a:srgbClr val="F472B6"/>
                </a:solidFill>
                <a:latin typeface="Consolas"/>
              </a:rPr>
              <a:t>0.80</a:t>
            </a:r>
            <a:r>
              <a:rPr sz="996">
                <a:solidFill>
                  <a:srgbClr val="E6EDF8"/>
                </a:solidFill>
                <a:latin typeface="Consolas"/>
              </a:rPr>
              <a:t>),  </a:t>
            </a:r>
            <a:r>
              <a:rPr sz="996" i="1">
                <a:solidFill>
                  <a:srgbClr val="6B82A6"/>
                </a:solidFill>
                <a:latin typeface="Consolas"/>
              </a:rPr>
              <a:t>// P2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  </a:t>
            </a:r>
            <a:r>
              <a:rPr sz="996">
                <a:solidFill>
                  <a:srgbClr val="A78BFA"/>
                </a:solidFill>
                <a:latin typeface="Consolas"/>
              </a:rPr>
              <a:t>new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34D399"/>
                </a:solidFill>
                <a:latin typeface="Consolas"/>
              </a:rPr>
              <a:t>Translation2d</a:t>
            </a:r>
            <a:r>
              <a:rPr sz="996">
                <a:solidFill>
                  <a:srgbClr val="E6EDF8"/>
                </a:solidFill>
                <a:latin typeface="Consolas"/>
              </a:rPr>
              <a:t>(</a:t>
            </a:r>
            <a:r>
              <a:rPr sz="996">
                <a:solidFill>
                  <a:srgbClr val="F472B6"/>
                </a:solidFill>
                <a:latin typeface="Consolas"/>
              </a:rPr>
              <a:t>1.80</a:t>
            </a:r>
            <a:r>
              <a:rPr sz="996">
                <a:solidFill>
                  <a:srgbClr val="E6EDF8"/>
                </a:solidFill>
                <a:latin typeface="Consolas"/>
              </a:rPr>
              <a:t>, </a:t>
            </a:r>
            <a:r>
              <a:rPr sz="996">
                <a:solidFill>
                  <a:srgbClr val="F472B6"/>
                </a:solidFill>
                <a:latin typeface="Consolas"/>
              </a:rPr>
              <a:t>0.80</a:t>
            </a:r>
            <a:r>
              <a:rPr sz="996">
                <a:solidFill>
                  <a:srgbClr val="E6EDF8"/>
                </a:solidFill>
                <a:latin typeface="Consolas"/>
              </a:rPr>
              <a:t>)   </a:t>
            </a:r>
            <a:r>
              <a:rPr sz="996" i="1">
                <a:solidFill>
                  <a:srgbClr val="6B82A6"/>
                </a:solidFill>
                <a:latin typeface="Consolas"/>
              </a:rPr>
              <a:t>// P3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};</a:t>
            </a:r>
          </a:p>
          <a:p>
            <a:pPr algn="l">
              <a:lnSpc>
                <a:spcPct val="120000"/>
              </a:lnSpc>
            </a:pPr>
            <a:endParaRPr sz="996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addCommands(</a:t>
            </a:r>
            <a:r>
              <a:rPr sz="996">
                <a:solidFill>
                  <a:srgbClr val="A78BFA"/>
                </a:solidFill>
                <a:latin typeface="Consolas"/>
              </a:rPr>
              <a:t>new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34D399"/>
                </a:solidFill>
                <a:latin typeface="Consolas"/>
              </a:rPr>
              <a:t>InstantCommand</a:t>
            </a:r>
            <a:r>
              <a:rPr sz="996">
                <a:solidFill>
                  <a:srgbClr val="E6EDF8"/>
                </a:solidFill>
                <a:latin typeface="Consolas"/>
              </a:rPr>
              <a:t>(drive::resetOdometry));</a:t>
            </a:r>
          </a:p>
          <a:p>
            <a:pPr algn="l">
              <a:lnSpc>
                <a:spcPct val="120000"/>
              </a:lnSpc>
            </a:pPr>
            <a:endParaRPr sz="996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A78BFA"/>
                </a:solidFill>
                <a:latin typeface="Consolas"/>
              </a:rPr>
              <a:t>for</a:t>
            </a:r>
            <a:r>
              <a:rPr sz="996">
                <a:solidFill>
                  <a:srgbClr val="E6EDF8"/>
                </a:solidFill>
                <a:latin typeface="Consolas"/>
              </a:rPr>
              <a:t> (</a:t>
            </a:r>
            <a:r>
              <a:rPr sz="996">
                <a:solidFill>
                  <a:srgbClr val="A78BFA"/>
                </a:solidFill>
                <a:latin typeface="Consolas"/>
              </a:rPr>
              <a:t>int</a:t>
            </a:r>
            <a:r>
              <a:rPr sz="996">
                <a:solidFill>
                  <a:srgbClr val="E6EDF8"/>
                </a:solidFill>
                <a:latin typeface="Consolas"/>
              </a:rPr>
              <a:t> i = </a:t>
            </a:r>
            <a:r>
              <a:rPr sz="996">
                <a:solidFill>
                  <a:srgbClr val="F472B6"/>
                </a:solidFill>
                <a:latin typeface="Consolas"/>
              </a:rPr>
              <a:t>0</a:t>
            </a:r>
            <a:r>
              <a:rPr sz="996">
                <a:solidFill>
                  <a:srgbClr val="E6EDF8"/>
                </a:solidFill>
                <a:latin typeface="Consolas"/>
              </a:rPr>
              <a:t>; i &lt; </a:t>
            </a:r>
            <a:r>
              <a:rPr sz="996">
                <a:solidFill>
                  <a:srgbClr val="34D399"/>
                </a:solidFill>
                <a:latin typeface="Consolas"/>
              </a:rPr>
              <a:t>WAYPOINTS</a:t>
            </a:r>
            <a:r>
              <a:rPr sz="996">
                <a:solidFill>
                  <a:srgbClr val="E6EDF8"/>
                </a:solidFill>
                <a:latin typeface="Consolas"/>
              </a:rPr>
              <a:t>.length; i++)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  addCommands(leg(drive, </a:t>
            </a:r>
            <a:r>
              <a:rPr sz="996">
                <a:solidFill>
                  <a:srgbClr val="34D399"/>
                </a:solidFill>
                <a:latin typeface="Consolas"/>
              </a:rPr>
              <a:t>WAYPOINTS</a:t>
            </a:r>
            <a:r>
              <a:rPr sz="996">
                <a:solidFill>
                  <a:srgbClr val="E6EDF8"/>
                </a:solidFill>
                <a:latin typeface="Consolas"/>
              </a:rPr>
              <a:t>[i]));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  addCommands(pause(drive));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1856232"/>
            <a:ext cx="209580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WaypointAutoCommand.java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011680"/>
            <a:ext cx="3794760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0" y="2139696"/>
            <a:ext cx="50292" cy="1115568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2194560"/>
            <a:ext cx="33192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8D9F0"/>
                </a:solidFill>
                <a:latin typeface="Segoe UI"/>
              </a:rPr>
              <a:t>Trocar o trajeto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2542032"/>
            <a:ext cx="331927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Só o array muda. Acrescentar um quarto ponto não mexe em mais nada do grupo.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520440"/>
            <a:ext cx="3794760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3648456"/>
            <a:ext cx="50292" cy="11155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0" y="3703320"/>
            <a:ext cx="33192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resetOdometry, não resetHeading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4050791"/>
            <a:ext cx="331927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resetHeading chama ahrs.reset(), que no navX não é instantâneo: o rumo zerado com atraso entra como salto na pose.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120640"/>
            <a:ext cx="10789920" cy="969264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5468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5212079"/>
            <a:ext cx="99669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A pausa é um RunCommand(drive::stop, drive) com timeout, não um WaitCommand: WaitCommand não declara addRequirements(drive), e durante o 1 s o default command do subsystem — o joystick — reassume as rodas.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AJUSTE EM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Escala e sinal primeiro; ganho depois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Trajeto por coordenadas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10789920" cy="429768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" y="2057400"/>
            <a:ext cx="238658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Constante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144" y="2057400"/>
            <a:ext cx="92354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Início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057400"/>
            <a:ext cx="3026663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O que faz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3" y="2057400"/>
            <a:ext cx="357530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Quando mexer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87168"/>
            <a:ext cx="238658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kTranslationP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487168"/>
            <a:ext cx="92354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487168"/>
            <a:ext cx="3026663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velocidade por metro de erro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3" y="2487168"/>
            <a:ext cx="357530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passa do ponto: suba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16936"/>
            <a:ext cx="10789920" cy="429768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" y="2916936"/>
            <a:ext cx="238658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kPositionTolerance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8144" y="2916936"/>
            <a:ext cx="92354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0.05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916936"/>
            <a:ext cx="3026663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raio em que o ponto conta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7263" y="2916936"/>
            <a:ext cx="357530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oscila no alvo: solte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346704"/>
            <a:ext cx="238658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kMinDriveSpeed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3346704"/>
            <a:ext cx="92354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0.12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3346704"/>
            <a:ext cx="3026663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piso que vence o atrito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7263" y="3346704"/>
            <a:ext cx="357530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para antes e morre: suba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776472"/>
            <a:ext cx="10789920" cy="429768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" y="3776472"/>
            <a:ext cx="238658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kDriveSpeed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8144" y="3776472"/>
            <a:ext cx="92354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0.35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3776472"/>
            <a:ext cx="3026663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teto de velocidade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27263" y="3776472"/>
            <a:ext cx="357530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por último, sempre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" y="4206240"/>
            <a:ext cx="238658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kHeadingP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8144" y="4206240"/>
            <a:ext cx="92354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0.010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144" y="4206240"/>
            <a:ext cx="3026663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correção de rumo por grau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27263" y="4206240"/>
            <a:ext cx="357530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Consolas"/>
              </a:rPr>
              <a:t>gira em vez de corrigir: -0.010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5488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ORDEM DE AJUSTE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074920"/>
            <a:ext cx="1645920" cy="47548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escala da odometria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386584" y="5202936"/>
            <a:ext cx="73152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514600" y="5074920"/>
            <a:ext cx="1645920" cy="47548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sinal dos eixos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215383" y="5202936"/>
            <a:ext cx="73152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343400" y="5074920"/>
            <a:ext cx="1645920" cy="47548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kHeadingP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044183" y="5202936"/>
            <a:ext cx="73152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172200" y="5074920"/>
            <a:ext cx="1645920" cy="47548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kMinDriveSpeed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872984" y="5202936"/>
            <a:ext cx="73152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001000" y="5074920"/>
            <a:ext cx="1645920" cy="47548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kTranslationP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701784" y="5202936"/>
            <a:ext cx="73152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829800" y="5074920"/>
            <a:ext cx="1645920" cy="47548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kDriveSpeed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EM UMA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levar do laboratório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Trajeto por coordenadas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1E2E4A"/>
          </a:solidFill>
          <a:ln w="1778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9966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A matriz de rotação é a única coisa que liga o que o robô sente ao que a arena significa — e ela aparece duas vezes, em sentidos opostos.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49039"/>
            <a:ext cx="3429000" cy="132588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877055"/>
            <a:ext cx="50292" cy="10698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R(+θ) · medir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79392"/>
            <a:ext cx="2953512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Deslocamento das rodas → pose no campo. Dentro de Pose2d.exp() e de getFieldVelocity().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749039"/>
            <a:ext cx="3429000" cy="132588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70832" y="3877055"/>
            <a:ext cx="50292" cy="10698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3931920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R(-θ) · acionar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4279392"/>
            <a:ext cx="2953512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Vetor de campo → velocidade das rodas. Dentro de driveFieldOriented().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749039"/>
            <a:ext cx="3429000" cy="132588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3877055"/>
            <a:ext cx="50292" cy="1069848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3931920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8D9F0"/>
                </a:solidFill>
                <a:latin typeface="Segoe UI"/>
              </a:rPr>
              <a:t>Entre as duas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79392"/>
            <a:ext cx="2953512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O erro: alvo menos pose, recalculado a cada 20 ms. É o autônomo inteiro.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C8A"/>
                </a:solidFill>
                <a:latin typeface="Consolas"/>
              </a:rPr>
              <a:t>Guia de implementação passo a passo:  docs/autonomo-waypoints.html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3209</Words>
  <Application>Microsoft Office PowerPoint</Application>
  <PresentationFormat>Widescreen</PresentationFormat>
  <Paragraphs>365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Marcio Natal Lopes</cp:lastModifiedBy>
  <cp:revision>2</cp:revision>
  <dcterms:created xsi:type="dcterms:W3CDTF">2013-01-27T09:14:16Z</dcterms:created>
  <dcterms:modified xsi:type="dcterms:W3CDTF">2026-10-19T14:43:49Z</dcterms:modified>
  <cp:category/>
</cp:coreProperties>
</file>