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Este deck responde a uma pergunta direta: da para fazer curva S com as</a:t>
            </a:r>
          </a:p>
          <a:p>
            <a:r>
              <a:rPr sz="1200">
                <a:latin typeface="Segoe UI"/>
              </a:rPr>
              <a:t>ferramentas do WPILib?</a:t>
            </a:r>
          </a:p>
          <a:p>
            <a:r>
              <a:rPr sz="1200">
                <a:latin typeface="Segoe UI"/>
              </a:rPr>
              <a:t>A resposta e sim, mas nao existe classe pronta - e o caminho para</a:t>
            </a:r>
          </a:p>
          <a:p>
            <a:r>
              <a:rPr sz="1200">
                <a:latin typeface="Segoe UI"/>
              </a:rPr>
              <a:t>construi-la ensina mais do que a classe em si.</a:t>
            </a:r>
          </a:p>
          <a:p>
            <a:r>
              <a:rPr sz="1200">
                <a:latin typeface="Segoe UI"/>
              </a:rPr>
              <a:t>Na capa ja esta o grafico que o deck inteiro persegue: a aceleracao do</a:t>
            </a:r>
          </a:p>
          <a:p>
            <a:r>
              <a:rPr sz="1200">
                <a:latin typeface="Segoe UI"/>
              </a:rPr>
              <a:t>trapezio (pontilhada, quadrada) contra a da curva S (ambar, em rampa).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Abrir deixando a turma responder antes. A resposta mais comum e 'usa o</a:t>
            </a:r>
          </a:p>
          <a:p>
            <a:r>
              <a:rPr sz="1200">
                <a:latin typeface="Segoe UI"/>
              </a:rPr>
              <a:t>TrapezoidProfile' - e e justamente a que o deck vai desmontar.</a:t>
            </a:r>
          </a:p>
          <a:p>
            <a:r>
              <a:rPr sz="1200">
                <a:latin typeface="Segoe UI"/>
              </a:rPr>
              <a:t>A segunda mais comum e 'usa o ExponentialProfile, que tem curva' - essa</a:t>
            </a:r>
          </a:p>
          <a:p>
            <a:r>
              <a:rPr sz="1200">
                <a:latin typeface="Segoe UI"/>
              </a:rPr>
              <a:t>tem um slide proprio mais adiante.</a:t>
            </a:r>
          </a:p>
          <a:p>
            <a:r>
              <a:rPr sz="1200">
                <a:latin typeface="Segoe UI"/>
              </a:rPr>
              <a:t>Deixar claro desde agora: a malha de controle NAO muda. O que muda e o</a:t>
            </a:r>
          </a:p>
          <a:p>
            <a:r>
              <a:rPr sz="1200">
                <a:latin typeface="Segoe UI"/>
              </a:rPr>
              <a:t>setpoint que entra nela.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Parte 1 e diagnostico: entender o problema antes de escrever a solucao.</a:t>
            </a:r>
          </a:p>
          <a:p>
            <a:r>
              <a:rPr sz="1200">
                <a:latin typeface="Segoe UI"/>
              </a:rPr>
              <a:t>Se a turma sair daqui sabendo desenhar a aceleracao de um trapezio, a</a:t>
            </a:r>
          </a:p>
          <a:p>
            <a:r>
              <a:rPr sz="1200">
                <a:latin typeface="Segoe UI"/>
              </a:rPr>
              <a:t>parte 2 fica facil.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Insistir na ultima linha da tabela: o jerk e a unica das quatro que</a:t>
            </a:r>
          </a:p>
          <a:p>
            <a:r>
              <a:rPr sz="1200">
                <a:latin typeface="Segoe UI"/>
              </a:rPr>
              <a:t>nenhuma classe do WPILib limita.</a:t>
            </a:r>
          </a:p>
          <a:p>
            <a:r>
              <a:rPr sz="1200">
                <a:latin typeface="Segoe UI"/>
              </a:rPr>
              <a:t>Analogia de elevador: aceleracao constante voce quase nao percebe; o que</a:t>
            </a:r>
          </a:p>
          <a:p>
            <a:r>
              <a:rPr sz="1200">
                <a:latin typeface="Segoe UI"/>
              </a:rPr>
              <a:t>embola o estomago e o instante em que ela LIGA e DESLIGA. Esse instante</a:t>
            </a:r>
          </a:p>
          <a:p>
            <a:r>
              <a:rPr sz="1200">
                <a:latin typeface="Segoe UI"/>
              </a:rPr>
              <a:t>e o jerk.</a:t>
            </a:r>
          </a:p>
          <a:p>
            <a:r>
              <a:rPr sz="1200">
                <a:latin typeface="Segoe UI"/>
              </a:rPr>
              <a:t>Unidade mm/s3 assusta, mas e so 'mm por segundo ao cubo' - quantos</a:t>
            </a:r>
          </a:p>
          <a:p>
            <a:r>
              <a:rPr sz="1200">
                <a:latin typeface="Segoe UI"/>
              </a:rPr>
              <a:t>mm/s2 de aceleracao entram por segundo.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Esta tabela e a resposta factual a pergunta da capa. Vale projetar e</a:t>
            </a:r>
          </a:p>
          <a:p>
            <a:r>
              <a:rPr sz="1200">
                <a:latin typeface="Segoe UI"/>
              </a:rPr>
              <a:t>deixar a turma conferir no VS Code: abrir o autocomplete e ver que nao</a:t>
            </a:r>
          </a:p>
          <a:p>
            <a:r>
              <a:rPr sz="1200">
                <a:latin typeface="Segoe UI"/>
              </a:rPr>
              <a:t>existe nenhum JerkProfile.</a:t>
            </a:r>
          </a:p>
          <a:p>
            <a:r>
              <a:rPr sz="1200">
                <a:latin typeface="Segoe UI"/>
              </a:rPr>
              <a:t>O aviso do pacote economiza uma aula inteira de erro de compilacao: a</a:t>
            </a:r>
          </a:p>
          <a:p>
            <a:r>
              <a:rPr sz="1200">
                <a:latin typeface="Segoe UI"/>
              </a:rPr>
              <a:t>documentacao oficial hoje mostra math.trajectory, que so existe de 2023</a:t>
            </a:r>
          </a:p>
          <a:p>
            <a:r>
              <a:rPr sz="1200">
                <a:latin typeface="Segoe UI"/>
              </a:rPr>
              <a:t>em diante.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O slide central da parte 1. Pedir para a turma olhar o grafico de cima e</a:t>
            </a:r>
          </a:p>
          <a:p>
            <a:r>
              <a:rPr sz="1200">
                <a:latin typeface="Segoe UI"/>
              </a:rPr>
              <a:t>responder onde a aceleracao MUDA - e marcar junto no grafico de baixo.</a:t>
            </a:r>
          </a:p>
          <a:p>
            <a:r>
              <a:rPr sz="1200">
                <a:latin typeface="Segoe UI"/>
              </a:rPr>
              <a:t>O trapezio nao esta errado: ele cumpre exatamente o que promete, limitar</a:t>
            </a:r>
          </a:p>
          <a:p>
            <a:r>
              <a:rPr sz="1200">
                <a:latin typeface="Segoe UI"/>
              </a:rPr>
              <a:t>velocidade e aceleracao. O problema e que, para cumprir isso no menor</a:t>
            </a:r>
          </a:p>
          <a:p>
            <a:r>
              <a:rPr sz="1200">
                <a:latin typeface="Segoe UI"/>
              </a:rPr>
              <a:t>tempo possivel, ele usa degraus - e degrau em aceleracao e jerk</a:t>
            </a:r>
          </a:p>
          <a:p>
            <a:r>
              <a:rPr sz="1200">
                <a:latin typeface="Segoe UI"/>
              </a:rPr>
              <a:t>infinito.</a:t>
            </a:r>
          </a:p>
          <a:p>
            <a:r>
              <a:rPr sz="1200">
                <a:latin typeface="Segoe UI"/>
              </a:rPr>
              <a:t>Numeros do grafico: 300 mm, vmax 300 mm/s, amax 600 mm/s2, T = 1.5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Esta confusao e muito comum porque o nome 'exponencial' sugere suavidade</a:t>
            </a:r>
          </a:p>
          <a:p>
            <a:r>
              <a:rPr sz="1200">
                <a:latin typeface="Segoe UI"/>
              </a:rPr>
              <a:t>e o grafico de velocidade dele realmente parece um S.</a:t>
            </a:r>
          </a:p>
          <a:p>
            <a:r>
              <a:rPr sz="1200">
                <a:latin typeface="Segoe UI"/>
              </a:rPr>
              <a:t>Mostrar a diferenca de intencao: o exponencial e um perfil OTIMO (o mais</a:t>
            </a:r>
          </a:p>
          <a:p>
            <a:r>
              <a:rPr sz="1200">
                <a:latin typeface="Segoe UI"/>
              </a:rPr>
              <a:t>rapido que a bateria permite); a curva S e um perfil CONFORTAVEL (o mais</a:t>
            </a:r>
          </a:p>
          <a:p>
            <a:r>
              <a:rPr sz="1200">
                <a:latin typeface="Segoe UI"/>
              </a:rPr>
              <a:t>macio que o prazo permite). Objetivos opostos.</a:t>
            </a:r>
          </a:p>
          <a:p>
            <a:r>
              <a:rPr sz="1200">
                <a:latin typeface="Segoe UI"/>
              </a:rPr>
              <a:t>Se alguem perguntar se vale migrar de versao so por isso: nao, porque</a:t>
            </a:r>
          </a:p>
          <a:p>
            <a:r>
              <a:rPr sz="1200">
                <a:latin typeface="Segoe UI"/>
              </a:rPr>
              <a:t>nem assim se ganha limite de jerk.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Fechar a parte 1 ligando o grafico a bancada. A frase do rodape e a que</a:t>
            </a:r>
          </a:p>
          <a:p>
            <a:r>
              <a:rPr sz="1200">
                <a:latin typeface="Segoe UI"/>
              </a:rPr>
              <a:t>importa: a turma tende a tratar qualquer oscilacao como problema de</a:t>
            </a:r>
          </a:p>
          <a:p>
            <a:r>
              <a:rPr sz="1200">
                <a:latin typeface="Segoe UI"/>
              </a:rPr>
              <a:t>ganho, e gasta a aula mexendo em kP e kD.</a:t>
            </a:r>
          </a:p>
          <a:p>
            <a:r>
              <a:rPr sz="1200">
                <a:latin typeface="Segoe UI"/>
              </a:rPr>
              <a:t>O quarto card e o que mais pega em prova de arena: derrapagem corrompe</a:t>
            </a:r>
          </a:p>
          <a:p>
            <a:r>
              <a:rPr sz="1200">
                <a:latin typeface="Segoe UI"/>
              </a:rPr>
              <a:t>a odometria, e dai todo o autonomo vai embora.</a:t>
            </a:r>
          </a:p>
          <a:p>
            <a:r>
              <a:rPr sz="1200">
                <a:latin typeface="Segoe UI"/>
              </a:rPr>
              <a:t>Pedir exemplos que eles ja viram na propria bancada antes de virar o</a:t>
            </a:r>
          </a:p>
          <a:p>
            <a:r>
              <a:rPr sz="1200">
                <a:latin typeface="Segoe UI"/>
              </a:rPr>
              <a:t>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Parte 2 e a matematica. Avisar que nao tem iteracao nem tabela: e uma</a:t>
            </a:r>
          </a:p>
          <a:p>
            <a:r>
              <a:rPr sz="1200">
                <a:latin typeface="Segoe UI"/>
              </a:rPr>
              <a:t>formula que cabe em um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Este e o slide que da o nome: a aceleracao entra e sai em rampa, e a</a:t>
            </a:r>
          </a:p>
          <a:p>
            <a:r>
              <a:rPr sz="1200">
                <a:latin typeface="Segoe UI"/>
              </a:rPr>
              <a:t>VELOCIDADE resultante tem a forma de S.</a:t>
            </a:r>
          </a:p>
          <a:p>
            <a:r>
              <a:rPr sz="1200">
                <a:latin typeface="Segoe UI"/>
              </a:rPr>
              <a:t>Insistir na equivalencia: limitar jerk = limitar a inclinacao da</a:t>
            </a:r>
          </a:p>
          <a:p>
            <a:r>
              <a:rPr sz="1200">
                <a:latin typeface="Segoe UI"/>
              </a:rPr>
              <a:t>aceleracao. Quem entendeu isso ja entendeu o perfil.</a:t>
            </a:r>
          </a:p>
          <a:p>
            <a:r>
              <a:rPr sz="1200">
                <a:latin typeface="Segoe UI"/>
              </a:rPr>
              <a:t>A curva ambar passa de 600? Nao - o pico dela aqui e 493 mm/s2, dentro</a:t>
            </a:r>
          </a:p>
          <a:p>
            <a:r>
              <a:rPr sz="1200">
                <a:latin typeface="Segoe UI"/>
              </a:rPr>
              <a:t>do limite. Quem decidiu a duracao neste caso foi a velocidade.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O nome 'jerk minimo' vem de otimizacao: entre todas as trajetorias que</a:t>
            </a:r>
          </a:p>
          <a:p>
            <a:r>
              <a:rPr sz="1200">
                <a:latin typeface="Segoe UI"/>
              </a:rPr>
              <a:t>saem de a e chegam em b no tempo T com as pontas paradas, esta e a que</a:t>
            </a:r>
          </a:p>
          <a:p>
            <a:r>
              <a:rPr sz="1200">
                <a:latin typeface="Segoe UI"/>
              </a:rPr>
              <a:t>minimiza a integral do jerk ao quadrado.</a:t>
            </a:r>
          </a:p>
          <a:p>
            <a:r>
              <a:rPr sz="1200">
                <a:latin typeface="Segoe UI"/>
              </a:rPr>
              <a:t>Nao precisa provar na aula. O que vale notar: cada linha e a derivada da</a:t>
            </a:r>
          </a:p>
          <a:p>
            <a:r>
              <a:rPr sz="1200">
                <a:latin typeface="Segoe UI"/>
              </a:rPr>
              <a:t>linha de cima - da para pedir que a turma derive v para achar a, no</a:t>
            </a:r>
          </a:p>
          <a:p>
            <a:r>
              <a:rPr sz="1200">
                <a:latin typeface="Segoe UI"/>
              </a:rPr>
              <a:t>quadro.</a:t>
            </a:r>
          </a:p>
          <a:p>
            <a:r>
              <a:rPr sz="1200">
                <a:latin typeface="Segoe UI"/>
              </a:rPr>
              <a:t>Notar que u vai de 0 a 1 sempre: o perfil e o MESMO para qualquer</a:t>
            </a:r>
          </a:p>
          <a:p>
            <a:r>
              <a:rPr sz="1200">
                <a:latin typeface="Segoe UI"/>
              </a:rPr>
              <a:t>distancia, so muda a escala.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Ler os quatro na ordem, da esquerda para a direita e de cima para baixo:</a:t>
            </a:r>
          </a:p>
          <a:p>
            <a:r>
              <a:rPr sz="1200">
                <a:latin typeface="Segoe UI"/>
              </a:rPr>
              <a:t>posicao em S, velocidade em sino, aceleracao em onda suave, jerk em</a:t>
            </a:r>
          </a:p>
          <a:p>
            <a:r>
              <a:rPr sz="1200">
                <a:latin typeface="Segoe UI"/>
              </a:rPr>
              <a:t>reta.</a:t>
            </a:r>
          </a:p>
          <a:p>
            <a:r>
              <a:rPr sz="1200">
                <a:latin typeface="Segoe UI"/>
              </a:rPr>
              <a:t>O grafico do jerk e o troco do deck: no trapezio ele era impulso</a:t>
            </a:r>
          </a:p>
          <a:p>
            <a:r>
              <a:rPr sz="1200">
                <a:latin typeface="Segoe UI"/>
              </a:rPr>
              <a:t>infinito, aqui e uma reta que cruza o zero no meio do movimento.</a:t>
            </a:r>
          </a:p>
          <a:p>
            <a:r>
              <a:rPr sz="1200">
                <a:latin typeface="Segoe UI"/>
              </a:rPr>
              <a:t>Perguntar: por que o jerk e maximo no inicio e no fim? Porque e la que a</a:t>
            </a:r>
          </a:p>
          <a:p>
            <a:r>
              <a:rPr sz="1200">
                <a:latin typeface="Segoe UI"/>
              </a:rPr>
              <a:t>aceleracao esta mudando mais rapido.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Aqui a turma costuma perguntar por que a MAIOR e nao a menor. Porque</a:t>
            </a:r>
          </a:p>
          <a:p>
            <a:r>
              <a:rPr sz="1200">
                <a:latin typeface="Segoe UI"/>
              </a:rPr>
              <a:t>cada linha e um T MINIMO: respeitar os tres ao mesmo tempo e respeitar</a:t>
            </a:r>
          </a:p>
          <a:p>
            <a:r>
              <a:rPr sz="1200">
                <a:latin typeface="Segoe UI"/>
              </a:rPr>
              <a:t>o mais exigente.</a:t>
            </a:r>
          </a:p>
          <a:p>
            <a:r>
              <a:rPr sz="1200">
                <a:latin typeface="Segoe UI"/>
              </a:rPr>
              <a:t>No lab, com 100 mm, quem manda e o jerk - 1.260 s contra 0.625 s da</a:t>
            </a:r>
          </a:p>
          <a:p>
            <a:r>
              <a:rPr sz="1200">
                <a:latin typeface="Segoe UI"/>
              </a:rPr>
              <a:t>velocidade. Ou seja: o parametro novo e o que decide o movimento.</a:t>
            </a:r>
          </a:p>
          <a:p>
            <a:r>
              <a:rPr sz="1200">
                <a:latin typeface="Segoe UI"/>
              </a:rPr>
              <a:t>Exercicio rapido: subir kMaxJerk para 20000 e perguntar quem passa a</a:t>
            </a:r>
          </a:p>
          <a:p>
            <a:r>
              <a:rPr sz="1200">
                <a:latin typeface="Segoe UI"/>
              </a:rPr>
              <a:t>mandar. Resposta: a aceleracao, com 0.981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Chamar atencao para as duas primeiras linhas: fora do intervalo o perfil</a:t>
            </a:r>
          </a:p>
          <a:p>
            <a:r>
              <a:rPr sz="1200">
                <a:latin typeface="Segoe UI"/>
              </a:rPr>
              <a:t>devolve as pontas PARADAS. Com isso, segurar o comando depois do fim nao</a:t>
            </a:r>
          </a:p>
          <a:p>
            <a:r>
              <a:rPr sz="1200">
                <a:latin typeface="Segoe UI"/>
              </a:rPr>
              <a:t>gera comando estranho nenhum - detalhe que evita um bug chato.</a:t>
            </a:r>
          </a:p>
          <a:p>
            <a:r>
              <a:rPr sz="1200">
                <a:latin typeface="Segoe UI"/>
              </a:rPr>
              <a:t>A escolha de imitar a interface do TrapezoidProfile e deliberada: o lab</a:t>
            </a:r>
          </a:p>
          <a:p>
            <a:r>
              <a:rPr sz="1200">
                <a:latin typeface="Segoe UI"/>
              </a:rPr>
              <a:t>quer que trocar de perfil seja trivial, para a comparacao ser honesta.</a:t>
            </a:r>
          </a:p>
          <a:p>
            <a:r>
              <a:rPr sz="1200">
                <a:latin typeface="Segoe UI"/>
              </a:rPr>
              <a:t>Nada de Math.pow: multiplicacao explicita e mais rapida e mais legivel.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Slide de honestidade. A curva S nao e de graca, e o aluno tem que saber</a:t>
            </a:r>
          </a:p>
          <a:p>
            <a:r>
              <a:rPr sz="1200">
                <a:latin typeface="Segoe UI"/>
              </a:rPr>
              <a:t>escolher.</a:t>
            </a:r>
          </a:p>
          <a:p>
            <a:r>
              <a:rPr sz="1200">
                <a:latin typeface="Segoe UI"/>
              </a:rPr>
              <a:t>300 mm, mesmos limites: trapezio 1.50 s, curva S 1.88 s. O trapezio</a:t>
            </a:r>
          </a:p>
          <a:p>
            <a:r>
              <a:rPr sz="1200">
                <a:latin typeface="Segoe UI"/>
              </a:rPr>
              <a:t>passa um tempo inteiro no teto de velocidade; o quintico so toca o teto</a:t>
            </a:r>
          </a:p>
          <a:p>
            <a:r>
              <a:rPr sz="1200">
                <a:latin typeface="Segoe UI"/>
              </a:rPr>
              <a:t>por um instante.</a:t>
            </a:r>
          </a:p>
          <a:p>
            <a:r>
              <a:rPr sz="1200">
                <a:latin typeface="Segoe UI"/>
              </a:rPr>
              <a:t>Se o tempo pesar mais que a maciez, o caminho e o perfil de 7 fases</a:t>
            </a:r>
          </a:p>
          <a:p>
            <a:r>
              <a:rPr sz="1200">
                <a:latin typeface="Segoe UI"/>
              </a:rPr>
              <a:t>(jerk trapezoidal), que tem cruzeiro - mais ~120 linhas, com os casos</a:t>
            </a:r>
          </a:p>
          <a:p>
            <a:r>
              <a:rPr sz="1200">
                <a:latin typeface="Segoe UI"/>
              </a:rPr>
              <a:t>degenerados. Nao entra neste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Parte 3 e o lab10CurvaS rodando. A partir daqui e bancada.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Esta divisao e a razao de o lab ter tres comandos e um subsystem, e nao</a:t>
            </a:r>
          </a:p>
          <a:p>
            <a:r>
              <a:rPr sz="1200">
                <a:latin typeface="Segoe UI"/>
              </a:rPr>
              <a:t>tres subsystems.</a:t>
            </a:r>
          </a:p>
          <a:p>
            <a:r>
              <a:rPr sz="1200">
                <a:latin typeface="Segoe UI"/>
              </a:rPr>
              <a:t>Perguntar: por que o hold de posicao fica no periodic() e nao no</a:t>
            </a:r>
          </a:p>
          <a:p>
            <a:r>
              <a:rPr sz="1200">
                <a:latin typeface="Segoe UI"/>
              </a:rPr>
              <a:t>execute()? Porque o periodic roda mesmo sem comando agendado - e isso</a:t>
            </a:r>
          </a:p>
          <a:p>
            <a:r>
              <a:rPr sz="1200">
                <a:latin typeface="Segoe UI"/>
              </a:rPr>
              <a:t>que faz o eixo voltar se alguem empurrar depois que o comando terminou.</a:t>
            </a:r>
          </a:p>
          <a:p>
            <a:r>
              <a:rPr sz="1200">
                <a:latin typeface="Segoe UI"/>
              </a:rPr>
              <a:t>Lembrar tambem do default command: neste lab NAO existe, de proposito.</a:t>
            </a:r>
          </a:p>
          <a:p>
            <a:r>
              <a:rPr sz="1200">
                <a:latin typeface="Segoe UI"/>
              </a:rPr>
              <a:t>Qualquer comando que escrevesse no motor todo ciclo apagaria o 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Ponto que separa quem entendeu de quem copiou: sem feedforward, o PID so</a:t>
            </a:r>
          </a:p>
          <a:p>
            <a:r>
              <a:rPr sz="1200">
                <a:latin typeface="Segoe UI"/>
              </a:rPr>
              <a:t>reage ao erro, entao o eixo sempre persegue o perfil de longe.</a:t>
            </a:r>
          </a:p>
          <a:p>
            <a:r>
              <a:rPr sz="1200">
                <a:latin typeface="Segoe UI"/>
              </a:rPr>
              <a:t>Com ka, o motor recebe tensao PORQUE vai acelerar, nao porque atrasou.</a:t>
            </a:r>
          </a:p>
          <a:p>
            <a:r>
              <a:rPr sz="1200">
                <a:latin typeface="Segoe UI"/>
              </a:rPr>
              <a:t>Roteiro de caracterizacao na bancada: ks por rampa manual ate o eixo</a:t>
            </a:r>
          </a:p>
          <a:p>
            <a:r>
              <a:rPr sz="1200">
                <a:latin typeface="Segoe UI"/>
              </a:rPr>
              <a:t>mexer; kv por tensao fixa dividida pela velocidade medida em regime; ka</a:t>
            </a:r>
          </a:p>
          <a:p>
            <a:r>
              <a:rPr sz="1200">
                <a:latin typeface="Segoe UI"/>
              </a:rPr>
              <a:t>por tentativa, subindo de pouco a partir de zero.</a:t>
            </a:r>
          </a:p>
          <a:p>
            <a:r>
              <a:rPr sz="1200">
                <a:latin typeface="Segoe UI"/>
              </a:rPr>
              <a:t>Deixar em zero na primeira rodada e proposital: a turma ve o atraso e</a:t>
            </a:r>
          </a:p>
          <a:p>
            <a:r>
              <a:rPr sz="1200">
                <a:latin typeface="Segoe UI"/>
              </a:rPr>
              <a:t>entende para que serve o termo.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Ordem X -&gt; B -&gt; A e proposital: cada um corrige o anterior.</a:t>
            </a:r>
          </a:p>
          <a:p>
            <a:r>
              <a:rPr sz="1200">
                <a:latin typeface="Segoe UI"/>
              </a:rPr>
              <a:t>No X, o PID comeca com erro maximo e satura a tensao; a forma do</a:t>
            </a:r>
          </a:p>
          <a:p>
            <a:r>
              <a:rPr sz="1200">
                <a:latin typeface="Segoe UI"/>
              </a:rPr>
              <a:t>movimento e decidida pela saturacao, nao por um plano.</a:t>
            </a:r>
          </a:p>
          <a:p>
            <a:r>
              <a:rPr sz="1200">
                <a:latin typeface="Segoe UI"/>
              </a:rPr>
              <a:t>No B aparece o controle de velocidade e aceleracao, mas o tranco da</a:t>
            </a:r>
          </a:p>
          <a:p>
            <a:r>
              <a:rPr sz="1200">
                <a:latin typeface="Segoe UI"/>
              </a:rPr>
              <a:t>partida continua.</a:t>
            </a:r>
          </a:p>
          <a:p>
            <a:r>
              <a:rPr sz="1200">
                <a:latin typeface="Segoe UI"/>
              </a:rPr>
              <a:t>No A o tranco sai, e o movimento fica visivelmente mais lento - deixar a</a:t>
            </a:r>
          </a:p>
          <a:p>
            <a:r>
              <a:rPr sz="1200">
                <a:latin typeface="Segoe UI"/>
              </a:rPr>
              <a:t>turma reclamar do tempo ANTES de mostrar o slide do preco.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Abrir o grafico no Glass ou Shuffleboard ANTES de apertar qualquer</a:t>
            </a:r>
          </a:p>
          <a:p>
            <a:r>
              <a:rPr sz="1200">
                <a:latin typeface="Segoe UI"/>
              </a:rPr>
              <a:t>botao, com os tres canais de setpoint ja na tela.</a:t>
            </a:r>
          </a:p>
          <a:p>
            <a:r>
              <a:rPr sz="1200">
                <a:latin typeface="Segoe UI"/>
              </a:rPr>
              <a:t>A linha do Erro mm no degrau e a mais didatica: ela salta para o valor</a:t>
            </a:r>
          </a:p>
          <a:p>
            <a:r>
              <a:rPr sz="1200">
                <a:latin typeface="Segoe UI"/>
              </a:rPr>
              <a:t>do alvo inteiro no primeiro ciclo. Nos perfis, o erro fica pequeno o</a:t>
            </a:r>
          </a:p>
          <a:p>
            <a:r>
              <a:rPr sz="1200">
                <a:latin typeface="Segoe UI"/>
              </a:rPr>
              <a:t>tempo todo porque o setpoint caminha junto com o eixo.</a:t>
            </a:r>
          </a:p>
          <a:p>
            <a:r>
              <a:rPr sz="1200">
                <a:latin typeface="Segoe UI"/>
              </a:rPr>
              <a:t>Tensao sobrando na curva S e um bonus de seguranca: menos saturacao,</a:t>
            </a:r>
          </a:p>
          <a:p>
            <a:r>
              <a:rPr sz="1200">
                <a:latin typeface="Segoe UI"/>
              </a:rPr>
              <a:t>menos corrente de pico.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Vale mostrar porque e a resposta certa para teleop: com joystick nao ha</a:t>
            </a:r>
          </a:p>
          <a:p>
            <a:r>
              <a:rPr sz="1200">
                <a:latin typeface="Segoe UI"/>
              </a:rPr>
              <a:t>alvo, logo nao ha perfil - e o limitador em serie e a unica opcao.</a:t>
            </a:r>
          </a:p>
          <a:p>
            <a:r>
              <a:rPr sz="1200">
                <a:latin typeface="Segoe UI"/>
              </a:rPr>
              <a:t>Explicar o overshoot: o trapezio calculou onde comecar a frear supondo</a:t>
            </a:r>
          </a:p>
          <a:p>
            <a:r>
              <a:rPr sz="1200">
                <a:latin typeface="Segoe UI"/>
              </a:rPr>
              <a:t>aceleracao instantanea. O filtro atrasa a frenagem, entao o eixo passa</a:t>
            </a:r>
          </a:p>
          <a:p>
            <a:r>
              <a:rPr sz="1200">
                <a:latin typeface="Segoe UI"/>
              </a:rPr>
              <a:t>um pouco do alvo.</a:t>
            </a:r>
          </a:p>
          <a:p>
            <a:r>
              <a:rPr sz="1200">
                <a:latin typeface="Segoe UI"/>
              </a:rPr>
              <a:t>Cuidado com um erro comum: dois SlewRateLimiter em serie na VELOCIDADE</a:t>
            </a:r>
          </a:p>
          <a:p>
            <a:r>
              <a:rPr sz="1200">
                <a:latin typeface="Segoe UI"/>
              </a:rPr>
              <a:t>nao limitam jerk - limitam aceleracao duas vezes. O limitador tem que</a:t>
            </a:r>
          </a:p>
          <a:p>
            <a:r>
              <a:rPr sz="1200">
                <a:latin typeface="Segoe UI"/>
              </a:rPr>
              <a:t>agir na ACELERACAO, como no codigo.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Perfil e matematica pura: nao toca hardware, logo da para testar no</a:t>
            </a:r>
          </a:p>
          <a:p>
            <a:r>
              <a:rPr sz="1200">
                <a:latin typeface="Segoe UI"/>
              </a:rPr>
              <a:t>desktop. Bom argumento para a turma: o que da para testar sem robo,</a:t>
            </a:r>
          </a:p>
          <a:p>
            <a:r>
              <a:rPr sz="1200">
                <a:latin typeface="Segoe UI"/>
              </a:rPr>
              <a:t>teste sem robo.</a:t>
            </a:r>
          </a:p>
          <a:p>
            <a:r>
              <a:rPr sz="1200">
                <a:latin typeface="Segoe UI"/>
              </a:rPr>
              <a:t>O teste da integral da velocidade e o mais bonito: ele confere o</a:t>
            </a:r>
          </a:p>
          <a:p>
            <a:r>
              <a:rPr sz="1200">
                <a:latin typeface="Segoe UI"/>
              </a:rPr>
              <a:t>polinomio por um caminho totalmente diferente (somar v*dt) e tem que dar</a:t>
            </a:r>
          </a:p>
          <a:p>
            <a:r>
              <a:rPr sz="1200">
                <a:latin typeface="Segoe UI"/>
              </a:rPr>
              <a:t>a mesma distancia.</a:t>
            </a:r>
          </a:p>
          <a:p>
            <a:r>
              <a:rPr sz="1200">
                <a:latin typeface="Segoe UI"/>
              </a:rPr>
              <a:t>A tolerancia de 1.001 existe porque a amostragem e finita, nao porque a</a:t>
            </a:r>
          </a:p>
          <a:p>
            <a:r>
              <a:rPr sz="1200">
                <a:latin typeface="Segoe UI"/>
              </a:rPr>
              <a:t>formula erra.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Fechar voltando a pergunta da capa. Se a turma responder 'da, mas tem que</a:t>
            </a:r>
          </a:p>
          <a:p>
            <a:r>
              <a:rPr sz="1200">
                <a:latin typeface="Segoe UI"/>
              </a:rPr>
              <a:t>escrever o perfil - o WPILib so limita aceleracao', o deck cumpriu.</a:t>
            </a:r>
          </a:p>
          <a:p>
            <a:r>
              <a:rPr sz="1200">
                <a:latin typeface="Segoe UI"/>
              </a:rPr>
              <a:t>Deixar duas tarefas: (1) caracterizar ks/kv/ka e repetir a comparacao;</a:t>
            </a:r>
          </a:p>
          <a:p>
            <a:r>
              <a:rPr sz="1200">
                <a:latin typeface="Segoe UI"/>
              </a:rPr>
              <a:t>(2) baixar kMaxJerk ate o movimento ficar lento demais, e explicar por</a:t>
            </a:r>
          </a:p>
          <a:p>
            <a:r>
              <a:rPr sz="1200">
                <a:latin typeface="Segoe UI"/>
              </a:rPr>
              <a:t>que.</a:t>
            </a:r>
          </a:p>
          <a:p>
            <a:r>
              <a:rPr sz="1200">
                <a:latin typeface="Segoe UI"/>
              </a:rPr>
              <a:t>Quem quiser ir alem: perfil de 7 fases com jerk trapezoidal, que junta a</a:t>
            </a:r>
          </a:p>
          <a:p>
            <a:r>
              <a:rPr sz="1200">
                <a:latin typeface="Segoe UI"/>
              </a:rPr>
              <a:t>maciez da curva S com a fase de cruzeiro do trapezio.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223760" y="2148840"/>
            <a:ext cx="4480560" cy="2743200"/>
          </a:xfrm>
          <a:prstGeom prst="roundRect">
            <a:avLst>
              <a:gd name="adj" fmla="val 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98080" y="2551176"/>
            <a:ext cx="0" cy="2066544"/>
          </a:xfrm>
          <a:prstGeom prst="line">
            <a:avLst/>
          </a:prstGeom>
          <a:ln w="1397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498080" y="4617720"/>
            <a:ext cx="4005072" cy="0"/>
          </a:xfrm>
          <a:prstGeom prst="line">
            <a:avLst/>
          </a:prstGeom>
          <a:ln w="1397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498080" y="3584448"/>
            <a:ext cx="4005072" cy="0"/>
          </a:xfrm>
          <a:prstGeom prst="line">
            <a:avLst/>
          </a:prstGeom>
          <a:ln w="12700">
            <a:solidFill>
              <a:srgbClr val="5A6C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>
            <a:off x="7498080" y="2584507"/>
            <a:ext cx="4005072" cy="1999882"/>
          </a:xfrm>
          <a:custGeom>
            <a:avLst/>
            <a:gdLst/>
            <a:ahLst/>
            <a:cxnLst/>
            <a:rect l="l" t="t" r="r" b="b"/>
            <a:pathLst>
              <a:path w="4005072" h="1999882">
                <a:moveTo>
                  <a:pt x="0" y="999941"/>
                </a:moveTo>
                <a:lnTo>
                  <a:pt x="0" y="0"/>
                </a:lnTo>
                <a:lnTo>
                  <a:pt x="1026942" y="0"/>
                </a:lnTo>
                <a:lnTo>
                  <a:pt x="1026942" y="999941"/>
                </a:lnTo>
                <a:lnTo>
                  <a:pt x="2053883" y="999941"/>
                </a:lnTo>
                <a:lnTo>
                  <a:pt x="2053883" y="1999882"/>
                </a:lnTo>
                <a:lnTo>
                  <a:pt x="3080825" y="1999882"/>
                </a:lnTo>
                <a:lnTo>
                  <a:pt x="3080825" y="999941"/>
                </a:lnTo>
                <a:lnTo>
                  <a:pt x="4005072" y="999941"/>
                </a:lnTo>
              </a:path>
            </a:pathLst>
          </a:custGeom>
          <a:noFill/>
          <a:ln w="20320">
            <a:solidFill>
              <a:srgbClr val="5A6C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7498080" y="2763540"/>
            <a:ext cx="4005072" cy="1641957"/>
          </a:xfrm>
          <a:custGeom>
            <a:avLst/>
            <a:gdLst/>
            <a:ahLst/>
            <a:cxnLst/>
            <a:rect l="l" t="t" r="r" b="b"/>
            <a:pathLst>
              <a:path w="4005072" h="1641957">
                <a:moveTo>
                  <a:pt x="0" y="820908"/>
                </a:moveTo>
                <a:lnTo>
                  <a:pt x="28608" y="758927"/>
                </a:lnTo>
                <a:lnTo>
                  <a:pt x="57215" y="699729"/>
                </a:lnTo>
                <a:lnTo>
                  <a:pt x="85823" y="643273"/>
                </a:lnTo>
                <a:lnTo>
                  <a:pt x="114431" y="589515"/>
                </a:lnTo>
                <a:lnTo>
                  <a:pt x="143038" y="538415"/>
                </a:lnTo>
                <a:lnTo>
                  <a:pt x="171646" y="489931"/>
                </a:lnTo>
                <a:lnTo>
                  <a:pt x="200254" y="444020"/>
                </a:lnTo>
                <a:lnTo>
                  <a:pt x="228861" y="400640"/>
                </a:lnTo>
                <a:lnTo>
                  <a:pt x="257469" y="359750"/>
                </a:lnTo>
                <a:lnTo>
                  <a:pt x="286077" y="321307"/>
                </a:lnTo>
                <a:lnTo>
                  <a:pt x="314684" y="285270"/>
                </a:lnTo>
                <a:lnTo>
                  <a:pt x="343292" y="251596"/>
                </a:lnTo>
                <a:lnTo>
                  <a:pt x="371900" y="220243"/>
                </a:lnTo>
                <a:lnTo>
                  <a:pt x="400507" y="191171"/>
                </a:lnTo>
                <a:lnTo>
                  <a:pt x="429115" y="164335"/>
                </a:lnTo>
                <a:lnTo>
                  <a:pt x="457723" y="139696"/>
                </a:lnTo>
                <a:lnTo>
                  <a:pt x="486330" y="117210"/>
                </a:lnTo>
                <a:lnTo>
                  <a:pt x="514938" y="96836"/>
                </a:lnTo>
                <a:lnTo>
                  <a:pt x="543545" y="78531"/>
                </a:lnTo>
                <a:lnTo>
                  <a:pt x="572153" y="62254"/>
                </a:lnTo>
                <a:lnTo>
                  <a:pt x="600761" y="47963"/>
                </a:lnTo>
                <a:lnTo>
                  <a:pt x="629368" y="35616"/>
                </a:lnTo>
                <a:lnTo>
                  <a:pt x="657976" y="25170"/>
                </a:lnTo>
                <a:lnTo>
                  <a:pt x="686584" y="16585"/>
                </a:lnTo>
                <a:lnTo>
                  <a:pt x="715191" y="9817"/>
                </a:lnTo>
                <a:lnTo>
                  <a:pt x="743799" y="4825"/>
                </a:lnTo>
                <a:lnTo>
                  <a:pt x="772407" y="1567"/>
                </a:lnTo>
                <a:lnTo>
                  <a:pt x="801014" y="0"/>
                </a:lnTo>
                <a:lnTo>
                  <a:pt x="829622" y="84"/>
                </a:lnTo>
                <a:lnTo>
                  <a:pt x="858230" y="1776"/>
                </a:lnTo>
                <a:lnTo>
                  <a:pt x="886837" y="5033"/>
                </a:lnTo>
                <a:lnTo>
                  <a:pt x="915445" y="9815"/>
                </a:lnTo>
                <a:lnTo>
                  <a:pt x="944053" y="16079"/>
                </a:lnTo>
                <a:lnTo>
                  <a:pt x="972660" y="23783"/>
                </a:lnTo>
                <a:lnTo>
                  <a:pt x="1001268" y="32884"/>
                </a:lnTo>
                <a:lnTo>
                  <a:pt x="1029876" y="43342"/>
                </a:lnTo>
                <a:lnTo>
                  <a:pt x="1058483" y="55114"/>
                </a:lnTo>
                <a:lnTo>
                  <a:pt x="1087091" y="68159"/>
                </a:lnTo>
                <a:lnTo>
                  <a:pt x="1115699" y="82433"/>
                </a:lnTo>
                <a:lnTo>
                  <a:pt x="1144306" y="97896"/>
                </a:lnTo>
                <a:lnTo>
                  <a:pt x="1172914" y="114505"/>
                </a:lnTo>
                <a:lnTo>
                  <a:pt x="1201522" y="132218"/>
                </a:lnTo>
                <a:lnTo>
                  <a:pt x="1230129" y="150993"/>
                </a:lnTo>
                <a:lnTo>
                  <a:pt x="1258737" y="170789"/>
                </a:lnTo>
                <a:lnTo>
                  <a:pt x="1287345" y="191563"/>
                </a:lnTo>
                <a:lnTo>
                  <a:pt x="1315952" y="213274"/>
                </a:lnTo>
                <a:lnTo>
                  <a:pt x="1344560" y="235879"/>
                </a:lnTo>
                <a:lnTo>
                  <a:pt x="1373168" y="259336"/>
                </a:lnTo>
                <a:lnTo>
                  <a:pt x="1401775" y="283604"/>
                </a:lnTo>
                <a:lnTo>
                  <a:pt x="1430383" y="308640"/>
                </a:lnTo>
                <a:lnTo>
                  <a:pt x="1458991" y="334403"/>
                </a:lnTo>
                <a:lnTo>
                  <a:pt x="1487598" y="360850"/>
                </a:lnTo>
                <a:lnTo>
                  <a:pt x="1516206" y="387939"/>
                </a:lnTo>
                <a:lnTo>
                  <a:pt x="1544813" y="415630"/>
                </a:lnTo>
                <a:lnTo>
                  <a:pt x="1573421" y="443879"/>
                </a:lnTo>
                <a:lnTo>
                  <a:pt x="1602029" y="472644"/>
                </a:lnTo>
                <a:lnTo>
                  <a:pt x="1630636" y="501884"/>
                </a:lnTo>
                <a:lnTo>
                  <a:pt x="1659244" y="531557"/>
                </a:lnTo>
                <a:lnTo>
                  <a:pt x="1687852" y="561621"/>
                </a:lnTo>
                <a:lnTo>
                  <a:pt x="1716459" y="592033"/>
                </a:lnTo>
                <a:lnTo>
                  <a:pt x="1745067" y="622752"/>
                </a:lnTo>
                <a:lnTo>
                  <a:pt x="1773675" y="653735"/>
                </a:lnTo>
                <a:lnTo>
                  <a:pt x="1802282" y="684942"/>
                </a:lnTo>
                <a:lnTo>
                  <a:pt x="1830890" y="716329"/>
                </a:lnTo>
                <a:lnTo>
                  <a:pt x="1859498" y="747855"/>
                </a:lnTo>
                <a:lnTo>
                  <a:pt x="1888105" y="779478"/>
                </a:lnTo>
                <a:lnTo>
                  <a:pt x="1916713" y="811156"/>
                </a:lnTo>
                <a:lnTo>
                  <a:pt x="1945321" y="842847"/>
                </a:lnTo>
                <a:lnTo>
                  <a:pt x="1973928" y="874509"/>
                </a:lnTo>
                <a:lnTo>
                  <a:pt x="2002536" y="906100"/>
                </a:lnTo>
                <a:lnTo>
                  <a:pt x="2031144" y="937577"/>
                </a:lnTo>
                <a:lnTo>
                  <a:pt x="2059751" y="968900"/>
                </a:lnTo>
                <a:lnTo>
                  <a:pt x="2088359" y="1000026"/>
                </a:lnTo>
                <a:lnTo>
                  <a:pt x="2116967" y="1030913"/>
                </a:lnTo>
                <a:lnTo>
                  <a:pt x="2145574" y="1061519"/>
                </a:lnTo>
                <a:lnTo>
                  <a:pt x="2174182" y="1091802"/>
                </a:lnTo>
                <a:lnTo>
                  <a:pt x="2202790" y="1121720"/>
                </a:lnTo>
                <a:lnTo>
                  <a:pt x="2231397" y="1151231"/>
                </a:lnTo>
                <a:lnTo>
                  <a:pt x="2260005" y="1180294"/>
                </a:lnTo>
                <a:lnTo>
                  <a:pt x="2288613" y="1208866"/>
                </a:lnTo>
                <a:lnTo>
                  <a:pt x="2317220" y="1236905"/>
                </a:lnTo>
                <a:lnTo>
                  <a:pt x="2345828" y="1264369"/>
                </a:lnTo>
                <a:lnTo>
                  <a:pt x="2374436" y="1291217"/>
                </a:lnTo>
                <a:lnTo>
                  <a:pt x="2403043" y="1317405"/>
                </a:lnTo>
                <a:lnTo>
                  <a:pt x="2431651" y="1342894"/>
                </a:lnTo>
                <a:lnTo>
                  <a:pt x="2460259" y="1367639"/>
                </a:lnTo>
                <a:lnTo>
                  <a:pt x="2488866" y="1391600"/>
                </a:lnTo>
                <a:lnTo>
                  <a:pt x="2517474" y="1414735"/>
                </a:lnTo>
                <a:lnTo>
                  <a:pt x="2546081" y="1437001"/>
                </a:lnTo>
                <a:lnTo>
                  <a:pt x="2574689" y="1458356"/>
                </a:lnTo>
                <a:lnTo>
                  <a:pt x="2603297" y="1478759"/>
                </a:lnTo>
                <a:lnTo>
                  <a:pt x="2631904" y="1498167"/>
                </a:lnTo>
                <a:lnTo>
                  <a:pt x="2660512" y="1516539"/>
                </a:lnTo>
                <a:lnTo>
                  <a:pt x="2689120" y="1533832"/>
                </a:lnTo>
                <a:lnTo>
                  <a:pt x="2717727" y="1550005"/>
                </a:lnTo>
                <a:lnTo>
                  <a:pt x="2746335" y="1565016"/>
                </a:lnTo>
                <a:lnTo>
                  <a:pt x="2774943" y="1578822"/>
                </a:lnTo>
                <a:lnTo>
                  <a:pt x="2803550" y="1591382"/>
                </a:lnTo>
                <a:lnTo>
                  <a:pt x="2832158" y="1602654"/>
                </a:lnTo>
                <a:lnTo>
                  <a:pt x="2860766" y="1612595"/>
                </a:lnTo>
                <a:lnTo>
                  <a:pt x="2889373" y="1621164"/>
                </a:lnTo>
                <a:lnTo>
                  <a:pt x="2917981" y="1628319"/>
                </a:lnTo>
                <a:lnTo>
                  <a:pt x="2946589" y="1634018"/>
                </a:lnTo>
                <a:lnTo>
                  <a:pt x="2975196" y="1638218"/>
                </a:lnTo>
                <a:lnTo>
                  <a:pt x="3003804" y="1640879"/>
                </a:lnTo>
                <a:lnTo>
                  <a:pt x="3032412" y="1641957"/>
                </a:lnTo>
                <a:lnTo>
                  <a:pt x="3061019" y="1641411"/>
                </a:lnTo>
                <a:lnTo>
                  <a:pt x="3089627" y="1639199"/>
                </a:lnTo>
                <a:lnTo>
                  <a:pt x="3118235" y="1635279"/>
                </a:lnTo>
                <a:lnTo>
                  <a:pt x="3146842" y="1629609"/>
                </a:lnTo>
                <a:lnTo>
                  <a:pt x="3175450" y="1622147"/>
                </a:lnTo>
                <a:lnTo>
                  <a:pt x="3204058" y="1612850"/>
                </a:lnTo>
                <a:lnTo>
                  <a:pt x="3232665" y="1601678"/>
                </a:lnTo>
                <a:lnTo>
                  <a:pt x="3261273" y="1588588"/>
                </a:lnTo>
                <a:lnTo>
                  <a:pt x="3289881" y="1573539"/>
                </a:lnTo>
                <a:lnTo>
                  <a:pt x="3318488" y="1556487"/>
                </a:lnTo>
                <a:lnTo>
                  <a:pt x="3347096" y="1537391"/>
                </a:lnTo>
                <a:lnTo>
                  <a:pt x="3375704" y="1516210"/>
                </a:lnTo>
                <a:lnTo>
                  <a:pt x="3404311" y="1492900"/>
                </a:lnTo>
                <a:lnTo>
                  <a:pt x="3432919" y="1467421"/>
                </a:lnTo>
                <a:lnTo>
                  <a:pt x="3461527" y="1439731"/>
                </a:lnTo>
                <a:lnTo>
                  <a:pt x="3490134" y="1409786"/>
                </a:lnTo>
                <a:lnTo>
                  <a:pt x="3518742" y="1377546"/>
                </a:lnTo>
                <a:lnTo>
                  <a:pt x="3547349" y="1342968"/>
                </a:lnTo>
                <a:lnTo>
                  <a:pt x="3575957" y="1306010"/>
                </a:lnTo>
                <a:lnTo>
                  <a:pt x="3604565" y="1266631"/>
                </a:lnTo>
                <a:lnTo>
                  <a:pt x="3633172" y="1224788"/>
                </a:lnTo>
                <a:lnTo>
                  <a:pt x="3661780" y="1180440"/>
                </a:lnTo>
                <a:lnTo>
                  <a:pt x="3690388" y="1133544"/>
                </a:lnTo>
                <a:lnTo>
                  <a:pt x="3718995" y="1084059"/>
                </a:lnTo>
                <a:lnTo>
                  <a:pt x="3747603" y="1031942"/>
                </a:lnTo>
                <a:lnTo>
                  <a:pt x="3776211" y="977151"/>
                </a:lnTo>
                <a:lnTo>
                  <a:pt x="3804818" y="919645"/>
                </a:lnTo>
                <a:lnTo>
                  <a:pt x="3833426" y="859382"/>
                </a:lnTo>
                <a:lnTo>
                  <a:pt x="3862034" y="820908"/>
                </a:lnTo>
                <a:lnTo>
                  <a:pt x="3890641" y="820908"/>
                </a:lnTo>
                <a:lnTo>
                  <a:pt x="3919249" y="820908"/>
                </a:lnTo>
                <a:lnTo>
                  <a:pt x="3947857" y="820908"/>
                </a:lnTo>
                <a:lnTo>
                  <a:pt x="3976464" y="820908"/>
                </a:lnTo>
                <a:lnTo>
                  <a:pt x="4005072" y="820908"/>
                </a:lnTo>
              </a:path>
            </a:pathLst>
          </a:custGeom>
          <a:noFill/>
          <a:ln w="3302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495604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5A6C8A"/>
                </a:solidFill>
                <a:latin typeface="Consolas"/>
              </a:rPr>
              <a:t>aceleração:  trapézio  ·  curva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BF24"/>
                </a:solidFill>
                <a:latin typeface="Segoe UI"/>
              </a:rPr>
              <a:t>ROBÓTICA MÓVEL  ·  WORLDSKILLS  ·  LAB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6400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Curva S:</a:t>
            </a:r>
          </a:p>
          <a:p>
            <a:pPr algn="l">
              <a:lnSpc>
                <a:spcPct val="108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jerk limitado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041648"/>
            <a:ext cx="1737360" cy="45720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07408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3A6C4"/>
                </a:solidFill>
                <a:latin typeface="Segoe UI"/>
              </a:rPr>
              <a:t>O WPILib não tem essa classe. Dá para construir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3A6C4"/>
                </a:solidFill>
                <a:latin typeface="Segoe UI"/>
              </a:rPr>
              <a:t>ela em 30 linhas — e vale entender por quê.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6C8A"/>
                </a:solidFill>
                <a:latin typeface="Segoe UI"/>
              </a:rPr>
              <a:t>TitanQuad M3  ·  PID em V/mm  ·  WPILib 2020 / Java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A PERGUNTA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Dá para limitar o jerk com as ferramentas do WPILib?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O que o WPILib tem (e o que falta)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10789920" cy="1143000"/>
          </a:xfrm>
          <a:prstGeom prst="roundRect">
            <a:avLst>
              <a:gd name="adj" fmla="val 7000"/>
            </a:avLst>
          </a:prstGeom>
          <a:solidFill>
            <a:srgbClr val="1E2E4A"/>
          </a:solidFill>
          <a:ln w="1778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59152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Dá — mas nenhuma versão do WPILib tem perfil com limite de jerk.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1188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739896"/>
            <a:ext cx="50292" cy="157276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794760"/>
            <a:ext cx="2953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472B6"/>
                </a:solidFill>
                <a:latin typeface="Segoe UI"/>
              </a:rPr>
              <a:t>O que falta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42232"/>
            <a:ext cx="295351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Uma classe de perfil que trate o jerk como o TrapezoidProfile trata a aceleração. Não existe. Nem em 2020, nem em 2026.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361188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3739896"/>
            <a:ext cx="50292" cy="15727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3794760"/>
            <a:ext cx="2953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BBF24"/>
                </a:solidFill>
                <a:latin typeface="Segoe UI"/>
              </a:rPr>
              <a:t>O que sobra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4142232"/>
            <a:ext cx="295351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Matemática de forma fechada: um polinômio quíntico resolve o caso ponto-a-ponto em ~30 linhas, sem iteração.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61188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3739896"/>
            <a:ext cx="50292" cy="157276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794760"/>
            <a:ext cx="2953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Segoe UI"/>
              </a:rPr>
              <a:t>O que já serve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142232"/>
            <a:ext cx="295351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PIDController, SimpleMotorFeedforward e SlewRateLimiter continuam sendo as peças. Muda só quem calcula o setpoint.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0" y="1325880"/>
            <a:ext cx="29260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0" b="1" i="0">
                <a:solidFill>
                  <a:srgbClr val="1E2E4A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3957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8D9F0"/>
                </a:solidFill>
                <a:latin typeface="Segoe UI"/>
              </a:rPr>
              <a:t>PARTE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0"/>
            <a:ext cx="9509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 que o WPILib tem (e o que falta)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703320"/>
            <a:ext cx="8961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93A6C4"/>
                </a:solidFill>
                <a:latin typeface="Segoe UI"/>
              </a:rPr>
              <a:t>Derivadas, trapézio e o jerk que ninguém limita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4526280"/>
            <a:ext cx="1234440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s, v, a, 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88336" y="4526280"/>
            <a:ext cx="1766620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TrapezoidProfile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82972" y="4526280"/>
            <a:ext cx="1500530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jerk infinito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1519" y="4526280"/>
            <a:ext cx="2210104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o mito do exponencial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VOCABULÁRIO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Quatro derivadas, quatro nomes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O que o WPILib tem (e o que falta)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10789920" cy="86868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lnSpc>
                <a:spcPct val="132000"/>
              </a:lnSpc>
            </a:pPr>
            <a:r>
              <a:rPr sz="1800">
                <a:solidFill>
                  <a:srgbClr val="FFFFFF"/>
                </a:solidFill>
                <a:latin typeface="Consolas"/>
              </a:rPr>
              <a:t>posição  s(t)   →   velocidade  v = ds/dt   →   aceleração  a = dv/dt   →   jerk  j = da/dt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017520"/>
            <a:ext cx="10789920" cy="475488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301752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8D9F0"/>
                </a:solidFill>
                <a:latin typeface="Segoe UI"/>
              </a:rPr>
              <a:t>grandeza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6664" y="3017520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8D9F0"/>
                </a:solidFill>
                <a:latin typeface="Segoe UI"/>
              </a:rPr>
              <a:t>unidade (mm)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9783" y="301752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8D9F0"/>
                </a:solidFill>
                <a:latin typeface="Segoe UI"/>
              </a:rPr>
              <a:t>no robô é...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1624" y="3017520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8D9F0"/>
                </a:solidFill>
                <a:latin typeface="Segoe UI"/>
              </a:rPr>
              <a:t>quem limita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493008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6EDF8"/>
                </a:solidFill>
                <a:latin typeface="Segoe UI"/>
              </a:rPr>
              <a:t>posição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3493008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6EDF8"/>
                </a:solidFill>
                <a:latin typeface="Segoe UI"/>
              </a:rPr>
              <a:t>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9783" y="3493008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6EDF8"/>
                </a:solidFill>
                <a:latin typeface="Segoe UI"/>
              </a:rPr>
              <a:t>onde o eixo está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4" y="3493008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6EDF8"/>
                </a:solidFill>
                <a:latin typeface="Segoe UI"/>
              </a:rPr>
              <a:t>o alvo do comando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968496"/>
            <a:ext cx="10789920" cy="475488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96849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6EDF8"/>
                </a:solidFill>
                <a:latin typeface="Segoe UI"/>
              </a:rPr>
              <a:t>velocidade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26664" y="396849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6EDF8"/>
                </a:solidFill>
                <a:latin typeface="Segoe UI"/>
              </a:rPr>
              <a:t>mm/s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9783" y="396849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6EDF8"/>
                </a:solidFill>
                <a:latin typeface="Segoe UI"/>
              </a:rPr>
              <a:t>quão rápido anda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396849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6EDF8"/>
                </a:solidFill>
                <a:latin typeface="Segoe UI"/>
              </a:rPr>
              <a:t>TrapezoidProfile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4443983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6EDF8"/>
                </a:solidFill>
                <a:latin typeface="Segoe UI"/>
              </a:rPr>
              <a:t>aceleração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26664" y="4443983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6EDF8"/>
                </a:solidFill>
                <a:latin typeface="Segoe UI"/>
              </a:rPr>
              <a:t>mm/s²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3" y="4443983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6EDF8"/>
                </a:solidFill>
                <a:latin typeface="Segoe UI"/>
              </a:rPr>
              <a:t>a força no mecanismo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4443983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6EDF8"/>
                </a:solidFill>
                <a:latin typeface="Segoe UI"/>
              </a:rPr>
              <a:t>TrapezoidProfile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919472"/>
            <a:ext cx="10789920" cy="475488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" y="491947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6EDF8"/>
                </a:solidFill>
                <a:latin typeface="Segoe UI"/>
              </a:rPr>
              <a:t>jerk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26664" y="491947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6EDF8"/>
                </a:solidFill>
                <a:latin typeface="Segoe UI"/>
              </a:rPr>
              <a:t>mm/s³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9783" y="491947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6EDF8"/>
                </a:solidFill>
                <a:latin typeface="Segoe UI"/>
              </a:rPr>
              <a:t>o TRANCO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4" y="4919472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6EDF8"/>
                </a:solidFill>
                <a:latin typeface="Segoe UI"/>
              </a:rPr>
              <a:t>ninguém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486400"/>
            <a:ext cx="1078992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724144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9304" y="5577840"/>
            <a:ext cx="9966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Aceleração é força (F = m·a): é o que o mecanismo sente. Jerk é a VARIAÇÃO dessa força — é o que a folga, a correia e o parafuso sentem.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O INVENTÁRIO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que o WPILib realmente oferece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O que o WPILib tem (e o que falta)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57400"/>
            <a:ext cx="10789920" cy="457200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2057400"/>
            <a:ext cx="2615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8D9F0"/>
                </a:solidFill>
                <a:latin typeface="Segoe UI"/>
              </a:rPr>
              <a:t>classe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6744" y="2057400"/>
            <a:ext cx="27066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8D9F0"/>
                </a:solidFill>
                <a:latin typeface="Segoe UI"/>
              </a:rPr>
              <a:t>pacote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2824" y="2057400"/>
            <a:ext cx="27066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8D9F0"/>
                </a:solidFill>
                <a:latin typeface="Segoe UI"/>
              </a:rPr>
              <a:t>limita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18904" y="2057400"/>
            <a:ext cx="188366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8D9F0"/>
                </a:solidFill>
                <a:latin typeface="Segoe UI"/>
              </a:rPr>
              <a:t>jerk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514600"/>
            <a:ext cx="2615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TrapezoidProfile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744" y="2514600"/>
            <a:ext cx="27066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wpilibj.trajectory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2824" y="2514600"/>
            <a:ext cx="27066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velocidade, aceleração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18904" y="2514600"/>
            <a:ext cx="188366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INFINITO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971800"/>
            <a:ext cx="10789920" cy="457200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2971800"/>
            <a:ext cx="2615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ProfiledPIDController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6744" y="2971800"/>
            <a:ext cx="27066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wpilibj.controller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2824" y="2971800"/>
            <a:ext cx="27066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idem (embrulha o acima)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18904" y="2971800"/>
            <a:ext cx="188366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INFINITO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3429000"/>
            <a:ext cx="2615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ExponentialProfile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66744" y="3429000"/>
            <a:ext cx="27066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math.trajectory (2024+)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2824" y="3429000"/>
            <a:ext cx="27066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tensão, não jerk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8904" y="3429000"/>
            <a:ext cx="188366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infinito em t=0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886200"/>
            <a:ext cx="10789920" cy="457200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" y="3886200"/>
            <a:ext cx="2615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SlewRateLimiter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66744" y="3886200"/>
            <a:ext cx="27066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wpilibj (2020)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2824" y="3886200"/>
            <a:ext cx="27066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taxa de 1 sinal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18904" y="3886200"/>
            <a:ext cx="188366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é peça, não perfil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" y="4343400"/>
            <a:ext cx="2615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LinearFilter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66744" y="4343400"/>
            <a:ext cx="27066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wpilibj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92824" y="4343400"/>
            <a:ext cx="27066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suaviza (atrasa)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18904" y="4343400"/>
            <a:ext cx="188366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não garante nada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029200"/>
            <a:ext cx="1078992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" y="5266944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9304" y="5120640"/>
            <a:ext cx="9966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Atenção ao pacote: no WPILib 2020 é edu.wpi.first.wpilibj.trajectory. Exemplo copiado da documentação atual diz edu.wpi.first.math.trajectory e não compila.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O TRAPÉZIO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Limita aceleração — e por isso mesmo quebra o jerk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O que o WPILib tem (e o que falta)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10789920" cy="2057400"/>
          </a:xfrm>
          <a:prstGeom prst="roundRect">
            <a:avLst>
              <a:gd name="adj" fmla="val 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344168" y="2368296"/>
            <a:ext cx="0" cy="1271016"/>
          </a:xfrm>
          <a:prstGeom prst="line">
            <a:avLst/>
          </a:prstGeom>
          <a:ln w="1397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44168" y="3639312"/>
            <a:ext cx="9930384" cy="0"/>
          </a:xfrm>
          <a:prstGeom prst="line">
            <a:avLst/>
          </a:prstGeom>
          <a:ln w="1397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44168" y="3003804"/>
            <a:ext cx="9930384" cy="0"/>
          </a:xfrm>
          <a:prstGeom prst="line">
            <a:avLst/>
          </a:prstGeom>
          <a:ln w="12700">
            <a:solidFill>
              <a:srgbClr val="5A6C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2020824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3A6C4"/>
                </a:solidFill>
                <a:latin typeface="Consolas"/>
              </a:rPr>
              <a:t>a (mm/s²)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80160" y="2474214"/>
            <a:ext cx="64008" cy="0"/>
          </a:xfrm>
          <a:prstGeom prst="line">
            <a:avLst/>
          </a:prstGeom>
          <a:ln w="1270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2391918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5A6C8A"/>
                </a:solidFill>
                <a:latin typeface="Consolas"/>
              </a:rPr>
              <a:t>+600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280160" y="3003804"/>
            <a:ext cx="64008" cy="0"/>
          </a:xfrm>
          <a:prstGeom prst="line">
            <a:avLst/>
          </a:prstGeom>
          <a:ln w="1270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2921508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5A6C8A"/>
                </a:solidFill>
                <a:latin typeface="Consolas"/>
              </a:rPr>
              <a:t>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80160" y="3533394"/>
            <a:ext cx="64008" cy="0"/>
          </a:xfrm>
          <a:prstGeom prst="line">
            <a:avLst/>
          </a:prstGeom>
          <a:ln w="1270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3451098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5A6C8A"/>
                </a:solidFill>
                <a:latin typeface="Consolas"/>
              </a:rPr>
              <a:t>-600</a:t>
            </a:r>
          </a:p>
        </p:txBody>
      </p:sp>
      <p:sp>
        <p:nvSpPr>
          <p:cNvPr id="19" name="Freeform 18"/>
          <p:cNvSpPr/>
          <p:nvPr/>
        </p:nvSpPr>
        <p:spPr>
          <a:xfrm>
            <a:off x="1344168" y="2474214"/>
            <a:ext cx="9930384" cy="1059180"/>
          </a:xfrm>
          <a:custGeom>
            <a:avLst/>
            <a:gdLst/>
            <a:ahLst/>
            <a:cxnLst/>
            <a:rect l="l" t="t" r="r" b="b"/>
            <a:pathLst>
              <a:path w="9930384" h="1059180">
                <a:moveTo>
                  <a:pt x="0" y="529590"/>
                </a:moveTo>
                <a:lnTo>
                  <a:pt x="0" y="0"/>
                </a:lnTo>
                <a:lnTo>
                  <a:pt x="2546252" y="0"/>
                </a:lnTo>
                <a:lnTo>
                  <a:pt x="2546252" y="529590"/>
                </a:lnTo>
                <a:lnTo>
                  <a:pt x="5092505" y="529590"/>
                </a:lnTo>
                <a:lnTo>
                  <a:pt x="5092505" y="1059180"/>
                </a:lnTo>
                <a:lnTo>
                  <a:pt x="7638757" y="1059180"/>
                </a:lnTo>
                <a:lnTo>
                  <a:pt x="7638757" y="529590"/>
                </a:lnTo>
                <a:lnTo>
                  <a:pt x="9930384" y="529590"/>
                </a:lnTo>
              </a:path>
            </a:pathLst>
          </a:custGeom>
          <a:noFill/>
          <a:ln w="33020">
            <a:solidFill>
              <a:srgbClr val="38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72158" y="2303335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acelera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8410" y="2832925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cruzeiro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8936" y="3327209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freia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069080"/>
            <a:ext cx="10789920" cy="1371600"/>
          </a:xfrm>
          <a:prstGeom prst="roundRect">
            <a:avLst>
              <a:gd name="adj" fmla="val 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1344168" y="4471416"/>
            <a:ext cx="0" cy="585216"/>
          </a:xfrm>
          <a:prstGeom prst="line">
            <a:avLst/>
          </a:prstGeom>
          <a:ln w="1397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344168" y="5056632"/>
            <a:ext cx="9930384" cy="0"/>
          </a:xfrm>
          <a:prstGeom prst="line">
            <a:avLst/>
          </a:prstGeom>
          <a:ln w="1397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344168" y="4764024"/>
            <a:ext cx="9930384" cy="0"/>
          </a:xfrm>
          <a:prstGeom prst="line">
            <a:avLst/>
          </a:prstGeom>
          <a:ln w="12700">
            <a:solidFill>
              <a:srgbClr val="5A6C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7240" y="4123944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3A6C4"/>
                </a:solidFill>
                <a:latin typeface="Consolas"/>
              </a:rPr>
              <a:t>j (mm/s³)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8712" y="5129784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C8A"/>
                </a:solidFill>
                <a:latin typeface="Consolas"/>
              </a:rPr>
              <a:t>t (s)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344168" y="5056632"/>
            <a:ext cx="0" cy="64008"/>
          </a:xfrm>
          <a:prstGeom prst="line">
            <a:avLst/>
          </a:prstGeom>
          <a:ln w="1270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24128" y="5138928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A6C8A"/>
                </a:solidFill>
                <a:latin typeface="Consolas"/>
              </a:rPr>
              <a:t>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890420" y="5056632"/>
            <a:ext cx="0" cy="64008"/>
          </a:xfrm>
          <a:prstGeom prst="line">
            <a:avLst/>
          </a:prstGeom>
          <a:ln w="1270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570380" y="5138928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A6C8A"/>
                </a:solidFill>
                <a:latin typeface="Consolas"/>
              </a:rPr>
              <a:t>0.50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982924" y="5056632"/>
            <a:ext cx="0" cy="64008"/>
          </a:xfrm>
          <a:prstGeom prst="line">
            <a:avLst/>
          </a:prstGeom>
          <a:ln w="1270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662884" y="5138928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A6C8A"/>
                </a:solidFill>
                <a:latin typeface="Consolas"/>
              </a:rPr>
              <a:t>1.50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1344168" y="4526280"/>
            <a:ext cx="0" cy="237744"/>
          </a:xfrm>
          <a:prstGeom prst="line">
            <a:avLst/>
          </a:prstGeom>
          <a:ln w="2794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>
            <a:off x="1261872" y="4526280"/>
            <a:ext cx="164592" cy="164592"/>
          </a:xfrm>
          <a:prstGeom prst="triangl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" y="4233672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472B6"/>
                </a:solidFill>
                <a:latin typeface="Segoe UI"/>
              </a:rPr>
              <a:t>+∞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890420" y="4764024"/>
            <a:ext cx="0" cy="237744"/>
          </a:xfrm>
          <a:prstGeom prst="line">
            <a:avLst/>
          </a:prstGeom>
          <a:ln w="2794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10800000">
            <a:off x="3808124" y="4837176"/>
            <a:ext cx="164592" cy="164592"/>
          </a:xfrm>
          <a:prstGeom prst="triangl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33220" y="45628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472B6"/>
                </a:solidFill>
                <a:latin typeface="Segoe UI"/>
              </a:rPr>
              <a:t>−∞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436672" y="4764024"/>
            <a:ext cx="0" cy="237744"/>
          </a:xfrm>
          <a:prstGeom prst="line">
            <a:avLst/>
          </a:prstGeom>
          <a:ln w="2794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10800000">
            <a:off x="6354376" y="4837176"/>
            <a:ext cx="164592" cy="164592"/>
          </a:xfrm>
          <a:prstGeom prst="triangl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79472" y="45628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472B6"/>
                </a:solidFill>
                <a:latin typeface="Segoe UI"/>
              </a:rPr>
              <a:t>−∞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8982924" y="4526280"/>
            <a:ext cx="0" cy="237744"/>
          </a:xfrm>
          <a:prstGeom prst="line">
            <a:avLst/>
          </a:prstGeom>
          <a:ln w="2794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>
            <a:off x="8900628" y="4526280"/>
            <a:ext cx="164592" cy="164592"/>
          </a:xfrm>
          <a:prstGeom prst="triangl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25724" y="4233672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472B6"/>
                </a:solidFill>
                <a:latin typeface="Segoe UI"/>
              </a:rPr>
              <a:t>+∞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5532120"/>
            <a:ext cx="1078992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6968" y="5769864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9304" y="5623559"/>
            <a:ext cx="9966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Quatro degraus na aceleração = quatro impulsos de jerk. É exatamente onde o mecanismo dá o tranco: na partida, na entrada do cruzeiro, no começo da frenagem e na parada.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O MITO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“Mas existe o ExponentialProfile, que já é curvo”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O que o WPILib tem (e o que falta)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5257800" cy="210312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39696"/>
            <a:ext cx="50292" cy="1847087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94560"/>
            <a:ext cx="47823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A78BFA"/>
                </a:solidFill>
                <a:latin typeface="Segoe UI"/>
              </a:rPr>
              <a:t>O que ele realmente faz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42032"/>
            <a:ext cx="4782312" cy="1444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Modela o motor como V = kV·v + kA·a e responde: qual o perfil mais rápido respeitando 12 V? A aceleração decai sozinha porque a tensão disponível acaba — não porque alguém limitou o jerk.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5257800" cy="210312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139696"/>
            <a:ext cx="50292" cy="1847087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47823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472B6"/>
                </a:solidFill>
                <a:latin typeface="Segoe UI"/>
              </a:rPr>
              <a:t>Por que não resolve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42032"/>
            <a:ext cx="4782312" cy="1444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Em t = 0 a tensão salta de 0 para o máximo: a aceleração salta com ela. O jerk é infinito ali e na troca para frenagem — os dois pontos onde o tranco mais aparece.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43400"/>
            <a:ext cx="10789920" cy="73152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lnSpc>
                <a:spcPct val="132000"/>
              </a:lnSpc>
            </a:pPr>
            <a:r>
              <a:rPr sz="1800">
                <a:solidFill>
                  <a:srgbClr val="FBBF24"/>
                </a:solidFill>
                <a:latin typeface="Consolas"/>
              </a:rPr>
              <a:t>perfil exponencial  ≠  curva S          limite de TENSÃO  ≠  limite de JERK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349240"/>
            <a:ext cx="1078992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5586983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9304" y="5440679"/>
            <a:ext cx="9966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E, no caso deste lab, a discussão é teórica: ExponentialProfile só existe a partir do WPILib 2024. O projeto roda em 2020.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POR QUE ISSO IMPORTA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que o tranco faz no mecanismo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O que o WPILib tem (e o que falta)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5257800" cy="146304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39696"/>
            <a:ext cx="50292" cy="120700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94560"/>
            <a:ext cx="47823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72B6"/>
                </a:solidFill>
                <a:latin typeface="Segoe UI"/>
              </a:rPr>
              <a:t>Folga bate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42032"/>
            <a:ext cx="4782312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Toda folga de engrenagem e correia é percorrida de uma vez no degrau. É o clack na partida.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5257800" cy="146304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139696"/>
            <a:ext cx="50292" cy="1207008"/>
          </a:xfrm>
          <a:prstGeom prst="rect">
            <a:avLst/>
          </a:prstGeom>
          <a:solidFill>
            <a:srgbClr val="FB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47823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B8E3C"/>
                </a:solidFill>
                <a:latin typeface="Segoe UI"/>
              </a:rPr>
              <a:t>Estrutura oscila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42032"/>
            <a:ext cx="4782312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O degrau excita as frequências naturais do braço. O eixo chega no alvo e continua tremendo.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5257800" cy="146304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785615"/>
            <a:ext cx="50292" cy="12070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840480"/>
            <a:ext cx="47823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BBF24"/>
                </a:solidFill>
                <a:latin typeface="Segoe UI"/>
              </a:rPr>
              <a:t>Pico de corrente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187952"/>
            <a:ext cx="4782312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Aceleração instantânea pede corrente instantânea. Breaker abre, tensão cai, a odometria perde passo.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5257800" cy="146304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785615"/>
            <a:ext cx="50292" cy="1207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840480"/>
            <a:ext cx="47823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A78BFA"/>
                </a:solidFill>
                <a:latin typeface="Segoe UI"/>
              </a:rPr>
              <a:t>Roda derrapa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187952"/>
            <a:ext cx="4782312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Na base, o degrau passa do limite de atrito. O encoder conta giro que o robô não andou.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34924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Nenhum desses problemas é de ganho de PID. Ajustar kP não conserta um setpoint que pede o impossível.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0" y="1325880"/>
            <a:ext cx="29260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0" b="1" i="0">
                <a:solidFill>
                  <a:srgbClr val="1E2E4A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3957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BBF24"/>
                </a:solidFill>
                <a:latin typeface="Segoe UI"/>
              </a:rPr>
              <a:t>PARTE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0"/>
            <a:ext cx="9509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A curva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703320"/>
            <a:ext cx="8961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93A6C4"/>
                </a:solidFill>
                <a:latin typeface="Segoe UI"/>
              </a:rPr>
              <a:t>Aceleração em rampa, jerk finito, forma fechada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4526280"/>
            <a:ext cx="1234440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o quíntico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88336" y="4526280"/>
            <a:ext cx="1500530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os três picos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6882" y="4526280"/>
            <a:ext cx="1500530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de onde vem 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5428" y="4526280"/>
            <a:ext cx="968349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o preço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A IDEIA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Se o degrau é o problema, troque o degrau por uma rampa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A curva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10789920" cy="2880360"/>
          </a:xfrm>
          <a:prstGeom prst="roundRect">
            <a:avLst>
              <a:gd name="adj" fmla="val 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344168" y="2368296"/>
            <a:ext cx="0" cy="2093976"/>
          </a:xfrm>
          <a:prstGeom prst="line">
            <a:avLst/>
          </a:prstGeom>
          <a:ln w="1397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44168" y="4462272"/>
            <a:ext cx="9930384" cy="0"/>
          </a:xfrm>
          <a:prstGeom prst="line">
            <a:avLst/>
          </a:prstGeom>
          <a:ln w="1397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44168" y="3415284"/>
            <a:ext cx="9930384" cy="0"/>
          </a:xfrm>
          <a:prstGeom prst="line">
            <a:avLst/>
          </a:prstGeom>
          <a:ln w="12700">
            <a:solidFill>
              <a:srgbClr val="5A6C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2020824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3A6C4"/>
                </a:solidFill>
                <a:latin typeface="Consolas"/>
              </a:rPr>
              <a:t>a (mm/s²)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80160" y="2542794"/>
            <a:ext cx="64008" cy="0"/>
          </a:xfrm>
          <a:prstGeom prst="line">
            <a:avLst/>
          </a:prstGeom>
          <a:ln w="1270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2460498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5A6C8A"/>
                </a:solidFill>
                <a:latin typeface="Consolas"/>
              </a:rPr>
              <a:t>+600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280160" y="3415284"/>
            <a:ext cx="64008" cy="0"/>
          </a:xfrm>
          <a:prstGeom prst="line">
            <a:avLst/>
          </a:prstGeom>
          <a:ln w="1270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3332988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5A6C8A"/>
                </a:solidFill>
                <a:latin typeface="Consolas"/>
              </a:rPr>
              <a:t>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80160" y="4287774"/>
            <a:ext cx="64008" cy="0"/>
          </a:xfrm>
          <a:prstGeom prst="line">
            <a:avLst/>
          </a:prstGeom>
          <a:ln w="1270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4205478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5A6C8A"/>
                </a:solidFill>
                <a:latin typeface="Consolas"/>
              </a:rPr>
              <a:t>-600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82924" y="4462272"/>
            <a:ext cx="0" cy="64008"/>
          </a:xfrm>
          <a:prstGeom prst="line">
            <a:avLst/>
          </a:prstGeom>
          <a:ln w="1270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62884" y="4544568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A6C8A"/>
                </a:solidFill>
                <a:latin typeface="Consolas"/>
              </a:rPr>
              <a:t>1.50 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892614" y="4462272"/>
            <a:ext cx="0" cy="64008"/>
          </a:xfrm>
          <a:prstGeom prst="line">
            <a:avLst/>
          </a:prstGeom>
          <a:ln w="1270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572574" y="4544568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A6C8A"/>
                </a:solidFill>
                <a:latin typeface="Consolas"/>
              </a:rPr>
              <a:t>1.88 s</a:t>
            </a:r>
          </a:p>
        </p:txBody>
      </p:sp>
      <p:sp>
        <p:nvSpPr>
          <p:cNvPr id="23" name="Freeform 22"/>
          <p:cNvSpPr/>
          <p:nvPr/>
        </p:nvSpPr>
        <p:spPr>
          <a:xfrm>
            <a:off x="1344168" y="2542794"/>
            <a:ext cx="9930384" cy="1744980"/>
          </a:xfrm>
          <a:custGeom>
            <a:avLst/>
            <a:gdLst/>
            <a:ahLst/>
            <a:cxnLst/>
            <a:rect l="l" t="t" r="r" b="b"/>
            <a:pathLst>
              <a:path w="9930384" h="1744980">
                <a:moveTo>
                  <a:pt x="0" y="872490"/>
                </a:moveTo>
                <a:lnTo>
                  <a:pt x="0" y="0"/>
                </a:lnTo>
                <a:lnTo>
                  <a:pt x="2546252" y="0"/>
                </a:lnTo>
                <a:lnTo>
                  <a:pt x="2546252" y="872490"/>
                </a:lnTo>
                <a:lnTo>
                  <a:pt x="5092505" y="872490"/>
                </a:lnTo>
                <a:lnTo>
                  <a:pt x="5092505" y="1744980"/>
                </a:lnTo>
                <a:lnTo>
                  <a:pt x="7638757" y="1744980"/>
                </a:lnTo>
                <a:lnTo>
                  <a:pt x="7638757" y="872490"/>
                </a:lnTo>
                <a:lnTo>
                  <a:pt x="9930384" y="872490"/>
                </a:lnTo>
              </a:path>
            </a:pathLst>
          </a:custGeom>
          <a:noFill/>
          <a:ln w="22860">
            <a:solidFill>
              <a:srgbClr val="5A6C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344168" y="2699008"/>
            <a:ext cx="9930384" cy="1432675"/>
          </a:xfrm>
          <a:custGeom>
            <a:avLst/>
            <a:gdLst/>
            <a:ahLst/>
            <a:cxnLst/>
            <a:rect l="l" t="t" r="r" b="b"/>
            <a:pathLst>
              <a:path w="9930384" h="1432675">
                <a:moveTo>
                  <a:pt x="0" y="716276"/>
                </a:moveTo>
                <a:lnTo>
                  <a:pt x="70931" y="662195"/>
                </a:lnTo>
                <a:lnTo>
                  <a:pt x="141863" y="610542"/>
                </a:lnTo>
                <a:lnTo>
                  <a:pt x="212794" y="561282"/>
                </a:lnTo>
                <a:lnTo>
                  <a:pt x="283725" y="514376"/>
                </a:lnTo>
                <a:lnTo>
                  <a:pt x="354657" y="469789"/>
                </a:lnTo>
                <a:lnTo>
                  <a:pt x="425588" y="427485"/>
                </a:lnTo>
                <a:lnTo>
                  <a:pt x="496519" y="387425"/>
                </a:lnTo>
                <a:lnTo>
                  <a:pt x="567451" y="349575"/>
                </a:lnTo>
                <a:lnTo>
                  <a:pt x="638382" y="313896"/>
                </a:lnTo>
                <a:lnTo>
                  <a:pt x="709313" y="280353"/>
                </a:lnTo>
                <a:lnTo>
                  <a:pt x="780244" y="248909"/>
                </a:lnTo>
                <a:lnTo>
                  <a:pt x="851176" y="219527"/>
                </a:lnTo>
                <a:lnTo>
                  <a:pt x="922107" y="192171"/>
                </a:lnTo>
                <a:lnTo>
                  <a:pt x="993038" y="166804"/>
                </a:lnTo>
                <a:lnTo>
                  <a:pt x="1063970" y="143389"/>
                </a:lnTo>
                <a:lnTo>
                  <a:pt x="1134901" y="121890"/>
                </a:lnTo>
                <a:lnTo>
                  <a:pt x="1205832" y="102270"/>
                </a:lnTo>
                <a:lnTo>
                  <a:pt x="1276764" y="84493"/>
                </a:lnTo>
                <a:lnTo>
                  <a:pt x="1347695" y="68521"/>
                </a:lnTo>
                <a:lnTo>
                  <a:pt x="1418626" y="54319"/>
                </a:lnTo>
                <a:lnTo>
                  <a:pt x="1489558" y="41849"/>
                </a:lnTo>
                <a:lnTo>
                  <a:pt x="1560489" y="31076"/>
                </a:lnTo>
                <a:lnTo>
                  <a:pt x="1631420" y="21962"/>
                </a:lnTo>
                <a:lnTo>
                  <a:pt x="1702352" y="14470"/>
                </a:lnTo>
                <a:lnTo>
                  <a:pt x="1773283" y="8565"/>
                </a:lnTo>
                <a:lnTo>
                  <a:pt x="1844214" y="4209"/>
                </a:lnTo>
                <a:lnTo>
                  <a:pt x="1915145" y="1366"/>
                </a:lnTo>
                <a:lnTo>
                  <a:pt x="1986077" y="0"/>
                </a:lnTo>
                <a:lnTo>
                  <a:pt x="2057008" y="73"/>
                </a:lnTo>
                <a:lnTo>
                  <a:pt x="2127939" y="1549"/>
                </a:lnTo>
                <a:lnTo>
                  <a:pt x="2198871" y="4391"/>
                </a:lnTo>
                <a:lnTo>
                  <a:pt x="2269802" y="8564"/>
                </a:lnTo>
                <a:lnTo>
                  <a:pt x="2340733" y="14029"/>
                </a:lnTo>
                <a:lnTo>
                  <a:pt x="2411665" y="20751"/>
                </a:lnTo>
                <a:lnTo>
                  <a:pt x="2482596" y="28692"/>
                </a:lnTo>
                <a:lnTo>
                  <a:pt x="2553527" y="37817"/>
                </a:lnTo>
                <a:lnTo>
                  <a:pt x="2624459" y="48089"/>
                </a:lnTo>
                <a:lnTo>
                  <a:pt x="2695390" y="59471"/>
                </a:lnTo>
                <a:lnTo>
                  <a:pt x="2766321" y="71926"/>
                </a:lnTo>
                <a:lnTo>
                  <a:pt x="2837253" y="85418"/>
                </a:lnTo>
                <a:lnTo>
                  <a:pt x="2908184" y="99910"/>
                </a:lnTo>
                <a:lnTo>
                  <a:pt x="2979115" y="115365"/>
                </a:lnTo>
                <a:lnTo>
                  <a:pt x="3050047" y="131748"/>
                </a:lnTo>
                <a:lnTo>
                  <a:pt x="3120978" y="149020"/>
                </a:lnTo>
                <a:lnTo>
                  <a:pt x="3191909" y="167146"/>
                </a:lnTo>
                <a:lnTo>
                  <a:pt x="3262840" y="186090"/>
                </a:lnTo>
                <a:lnTo>
                  <a:pt x="3333772" y="205813"/>
                </a:lnTo>
                <a:lnTo>
                  <a:pt x="3404703" y="226281"/>
                </a:lnTo>
                <a:lnTo>
                  <a:pt x="3475634" y="247456"/>
                </a:lnTo>
                <a:lnTo>
                  <a:pt x="3546566" y="269301"/>
                </a:lnTo>
                <a:lnTo>
                  <a:pt x="3617497" y="291780"/>
                </a:lnTo>
                <a:lnTo>
                  <a:pt x="3688428" y="314856"/>
                </a:lnTo>
                <a:lnTo>
                  <a:pt x="3759360" y="338493"/>
                </a:lnTo>
                <a:lnTo>
                  <a:pt x="3830291" y="362654"/>
                </a:lnTo>
                <a:lnTo>
                  <a:pt x="3901222" y="387302"/>
                </a:lnTo>
                <a:lnTo>
                  <a:pt x="3972154" y="412401"/>
                </a:lnTo>
                <a:lnTo>
                  <a:pt x="4043085" y="437914"/>
                </a:lnTo>
                <a:lnTo>
                  <a:pt x="4114016" y="463805"/>
                </a:lnTo>
                <a:lnTo>
                  <a:pt x="4184948" y="490037"/>
                </a:lnTo>
                <a:lnTo>
                  <a:pt x="4255879" y="516573"/>
                </a:lnTo>
                <a:lnTo>
                  <a:pt x="4326810" y="543376"/>
                </a:lnTo>
                <a:lnTo>
                  <a:pt x="4397741" y="570411"/>
                </a:lnTo>
                <a:lnTo>
                  <a:pt x="4468673" y="597640"/>
                </a:lnTo>
                <a:lnTo>
                  <a:pt x="4539604" y="625027"/>
                </a:lnTo>
                <a:lnTo>
                  <a:pt x="4610535" y="652535"/>
                </a:lnTo>
                <a:lnTo>
                  <a:pt x="4681467" y="680127"/>
                </a:lnTo>
                <a:lnTo>
                  <a:pt x="4752398" y="707767"/>
                </a:lnTo>
                <a:lnTo>
                  <a:pt x="4823329" y="735419"/>
                </a:lnTo>
                <a:lnTo>
                  <a:pt x="4894261" y="763045"/>
                </a:lnTo>
                <a:lnTo>
                  <a:pt x="4965192" y="790609"/>
                </a:lnTo>
                <a:lnTo>
                  <a:pt x="5036123" y="818075"/>
                </a:lnTo>
                <a:lnTo>
                  <a:pt x="5107055" y="845405"/>
                </a:lnTo>
                <a:lnTo>
                  <a:pt x="5177986" y="872564"/>
                </a:lnTo>
                <a:lnTo>
                  <a:pt x="5248917" y="899514"/>
                </a:lnTo>
                <a:lnTo>
                  <a:pt x="5319849" y="926219"/>
                </a:lnTo>
                <a:lnTo>
                  <a:pt x="5390780" y="952642"/>
                </a:lnTo>
                <a:lnTo>
                  <a:pt x="5461711" y="978747"/>
                </a:lnTo>
                <a:lnTo>
                  <a:pt x="5532643" y="1004497"/>
                </a:lnTo>
                <a:lnTo>
                  <a:pt x="5603574" y="1029855"/>
                </a:lnTo>
                <a:lnTo>
                  <a:pt x="5674505" y="1054785"/>
                </a:lnTo>
                <a:lnTo>
                  <a:pt x="5745436" y="1079251"/>
                </a:lnTo>
                <a:lnTo>
                  <a:pt x="5816368" y="1103214"/>
                </a:lnTo>
                <a:lnTo>
                  <a:pt x="5887299" y="1126640"/>
                </a:lnTo>
                <a:lnTo>
                  <a:pt x="5958230" y="1149491"/>
                </a:lnTo>
                <a:lnTo>
                  <a:pt x="6029162" y="1171730"/>
                </a:lnTo>
                <a:lnTo>
                  <a:pt x="6100093" y="1193322"/>
                </a:lnTo>
                <a:lnTo>
                  <a:pt x="6171024" y="1214229"/>
                </a:lnTo>
                <a:lnTo>
                  <a:pt x="6241956" y="1234415"/>
                </a:lnTo>
                <a:lnTo>
                  <a:pt x="6312887" y="1253842"/>
                </a:lnTo>
                <a:lnTo>
                  <a:pt x="6383818" y="1272476"/>
                </a:lnTo>
                <a:lnTo>
                  <a:pt x="6454750" y="1290278"/>
                </a:lnTo>
                <a:lnTo>
                  <a:pt x="6525681" y="1307213"/>
                </a:lnTo>
                <a:lnTo>
                  <a:pt x="6596612" y="1323243"/>
                </a:lnTo>
                <a:lnTo>
                  <a:pt x="6667544" y="1338332"/>
                </a:lnTo>
                <a:lnTo>
                  <a:pt x="6738475" y="1352444"/>
                </a:lnTo>
                <a:lnTo>
                  <a:pt x="6809406" y="1365541"/>
                </a:lnTo>
                <a:lnTo>
                  <a:pt x="6880337" y="1377588"/>
                </a:lnTo>
                <a:lnTo>
                  <a:pt x="6951269" y="1388547"/>
                </a:lnTo>
                <a:lnTo>
                  <a:pt x="7022200" y="1398382"/>
                </a:lnTo>
                <a:lnTo>
                  <a:pt x="7093131" y="1407056"/>
                </a:lnTo>
                <a:lnTo>
                  <a:pt x="7164063" y="1414533"/>
                </a:lnTo>
                <a:lnTo>
                  <a:pt x="7234994" y="1420776"/>
                </a:lnTo>
                <a:lnTo>
                  <a:pt x="7305925" y="1425748"/>
                </a:lnTo>
                <a:lnTo>
                  <a:pt x="7376857" y="1429413"/>
                </a:lnTo>
                <a:lnTo>
                  <a:pt x="7447788" y="1431735"/>
                </a:lnTo>
                <a:lnTo>
                  <a:pt x="7518719" y="1432675"/>
                </a:lnTo>
                <a:lnTo>
                  <a:pt x="7589651" y="1432199"/>
                </a:lnTo>
                <a:lnTo>
                  <a:pt x="7660582" y="1430269"/>
                </a:lnTo>
                <a:lnTo>
                  <a:pt x="7731513" y="1426848"/>
                </a:lnTo>
                <a:lnTo>
                  <a:pt x="7802445" y="1421901"/>
                </a:lnTo>
                <a:lnTo>
                  <a:pt x="7873376" y="1415390"/>
                </a:lnTo>
                <a:lnTo>
                  <a:pt x="7944307" y="1407279"/>
                </a:lnTo>
                <a:lnTo>
                  <a:pt x="8015239" y="1397531"/>
                </a:lnTo>
                <a:lnTo>
                  <a:pt x="8086170" y="1386109"/>
                </a:lnTo>
                <a:lnTo>
                  <a:pt x="8157101" y="1372978"/>
                </a:lnTo>
                <a:lnTo>
                  <a:pt x="8228032" y="1358099"/>
                </a:lnTo>
                <a:lnTo>
                  <a:pt x="8298964" y="1341438"/>
                </a:lnTo>
                <a:lnTo>
                  <a:pt x="8369895" y="1322956"/>
                </a:lnTo>
                <a:lnTo>
                  <a:pt x="8440826" y="1302618"/>
                </a:lnTo>
                <a:lnTo>
                  <a:pt x="8511758" y="1280386"/>
                </a:lnTo>
                <a:lnTo>
                  <a:pt x="8582689" y="1256225"/>
                </a:lnTo>
                <a:lnTo>
                  <a:pt x="8653620" y="1230097"/>
                </a:lnTo>
                <a:lnTo>
                  <a:pt x="8724552" y="1201966"/>
                </a:lnTo>
                <a:lnTo>
                  <a:pt x="8795483" y="1171795"/>
                </a:lnTo>
                <a:lnTo>
                  <a:pt x="8866414" y="1139548"/>
                </a:lnTo>
                <a:lnTo>
                  <a:pt x="8937346" y="1105188"/>
                </a:lnTo>
                <a:lnTo>
                  <a:pt x="9008277" y="1068679"/>
                </a:lnTo>
                <a:lnTo>
                  <a:pt x="9079208" y="1029983"/>
                </a:lnTo>
                <a:lnTo>
                  <a:pt x="9150140" y="989064"/>
                </a:lnTo>
                <a:lnTo>
                  <a:pt x="9221071" y="945886"/>
                </a:lnTo>
                <a:lnTo>
                  <a:pt x="9292002" y="900412"/>
                </a:lnTo>
                <a:lnTo>
                  <a:pt x="9362933" y="852605"/>
                </a:lnTo>
                <a:lnTo>
                  <a:pt x="9433865" y="802428"/>
                </a:lnTo>
                <a:lnTo>
                  <a:pt x="9504796" y="749846"/>
                </a:lnTo>
                <a:lnTo>
                  <a:pt x="9575727" y="716276"/>
                </a:lnTo>
                <a:lnTo>
                  <a:pt x="9646659" y="716276"/>
                </a:lnTo>
                <a:lnTo>
                  <a:pt x="9717590" y="716276"/>
                </a:lnTo>
                <a:lnTo>
                  <a:pt x="9788521" y="716276"/>
                </a:lnTo>
                <a:lnTo>
                  <a:pt x="9859453" y="716276"/>
                </a:lnTo>
                <a:lnTo>
                  <a:pt x="9930384" y="716276"/>
                </a:lnTo>
              </a:path>
            </a:pathLst>
          </a:custGeom>
          <a:noFill/>
          <a:ln w="3556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5061204"/>
            <a:ext cx="237744" cy="68580"/>
          </a:xfrm>
          <a:prstGeom prst="rect">
            <a:avLst/>
          </a:prstGeom>
          <a:solidFill>
            <a:srgbClr val="5A6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010912"/>
            <a:ext cx="300654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trapézio  (jerk infinito nos cantos)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95267" y="5061204"/>
            <a:ext cx="237744" cy="685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15307" y="5010912"/>
            <a:ext cx="33284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curva S  (jerk = inclinação desta rampa)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532120"/>
            <a:ext cx="1078992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5769864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9304" y="5623559"/>
            <a:ext cx="9966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A inclinação da rampa âmbar É o jerk. Limitar jerk é a mesma coisa que dizer “a aceleração não pode mudar mais rápido que isso”.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O QUÍNTICO DE JERK MÍNIMO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Uma função, e as outras três saem por derivada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A curva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10789920" cy="91440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lnSpc>
                <a:spcPct val="132000"/>
              </a:lnSpc>
            </a:pPr>
            <a:r>
              <a:rPr sz="2100">
                <a:solidFill>
                  <a:srgbClr val="FFFFFF"/>
                </a:solidFill>
                <a:latin typeface="Consolas"/>
              </a:rPr>
              <a:t>u = t / T                 s(u) = d · (10u³ − 15u⁴ + 6u⁵)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154680"/>
            <a:ext cx="10789920" cy="182880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lnSpc>
                <a:spcPct val="132000"/>
              </a:lnSpc>
            </a:pPr>
            <a:r>
              <a:rPr sz="1900">
                <a:solidFill>
                  <a:srgbClr val="FFFFFF"/>
                </a:solidFill>
                <a:latin typeface="Consolas"/>
              </a:rPr>
              <a:t>v(u) = 30 · d/T   · u² · (1−u)²</a:t>
            </a:r>
          </a:p>
          <a:p>
            <a:pPr algn="ctr">
              <a:lnSpc>
                <a:spcPct val="132000"/>
              </a:lnSpc>
            </a:pPr>
            <a:r>
              <a:rPr sz="1900">
                <a:solidFill>
                  <a:srgbClr val="FFFFFF"/>
                </a:solidFill>
                <a:latin typeface="Consolas"/>
              </a:rPr>
              <a:t>a(u) = 60 · d/T²  · u · (1−u) · (1−2u)</a:t>
            </a:r>
          </a:p>
          <a:p>
            <a:pPr algn="ctr">
              <a:lnSpc>
                <a:spcPct val="132000"/>
              </a:lnSpc>
            </a:pPr>
            <a:r>
              <a:rPr sz="1900">
                <a:solidFill>
                  <a:srgbClr val="FFFFFF"/>
                </a:solidFill>
                <a:latin typeface="Consolas"/>
              </a:rPr>
              <a:t>j(u) = 60 · d/T³  · (1 − 6u + 6u²)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212080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5340096"/>
            <a:ext cx="50292" cy="795527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394960"/>
            <a:ext cx="47823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34D399"/>
                </a:solidFill>
                <a:latin typeface="Segoe UI"/>
              </a:rPr>
              <a:t>Nas duas pontas: v = 0 E a =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742432"/>
            <a:ext cx="4782312" cy="393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O motor não recebe degrau nem na partida nem na chegada.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5212080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5340096"/>
            <a:ext cx="50292" cy="795527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5394960"/>
            <a:ext cx="47823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38D9F0"/>
                </a:solidFill>
                <a:latin typeface="Segoe UI"/>
              </a:rPr>
              <a:t>Só d e T entram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742432"/>
            <a:ext cx="4782312" cy="393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Distância e duração. Todo o resto do perfil é consequência.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AS QUATRO CURVAS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mesmo movimento, visto nas quatro derivadas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A curva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5257800" cy="1920240"/>
          </a:xfrm>
          <a:prstGeom prst="roundRect">
            <a:avLst>
              <a:gd name="adj" fmla="val 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289304" y="2350008"/>
            <a:ext cx="0" cy="1261872"/>
          </a:xfrm>
          <a:prstGeom prst="line">
            <a:avLst/>
          </a:prstGeom>
          <a:ln w="1397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89304" y="3611880"/>
            <a:ext cx="4453128" cy="0"/>
          </a:xfrm>
          <a:prstGeom prst="line">
            <a:avLst/>
          </a:prstGeom>
          <a:ln w="1397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2020824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3A6C4"/>
                </a:solidFill>
                <a:latin typeface="Consolas"/>
              </a:rPr>
              <a:t>s (mm)</a:t>
            </a:r>
          </a:p>
        </p:txBody>
      </p:sp>
      <p:sp>
        <p:nvSpPr>
          <p:cNvPr id="12" name="Freeform 11"/>
          <p:cNvSpPr/>
          <p:nvPr/>
        </p:nvSpPr>
        <p:spPr>
          <a:xfrm>
            <a:off x="1289304" y="2464724"/>
            <a:ext cx="4453128" cy="1147156"/>
          </a:xfrm>
          <a:custGeom>
            <a:avLst/>
            <a:gdLst/>
            <a:ahLst/>
            <a:cxnLst/>
            <a:rect l="l" t="t" r="r" b="b"/>
            <a:pathLst>
              <a:path w="4453128" h="1147156">
                <a:moveTo>
                  <a:pt x="0" y="1147156"/>
                </a:moveTo>
                <a:lnTo>
                  <a:pt x="31808" y="1147152"/>
                </a:lnTo>
                <a:lnTo>
                  <a:pt x="63616" y="1147123"/>
                </a:lnTo>
                <a:lnTo>
                  <a:pt x="95424" y="1147047"/>
                </a:lnTo>
                <a:lnTo>
                  <a:pt x="127232" y="1146900"/>
                </a:lnTo>
                <a:lnTo>
                  <a:pt x="159040" y="1146661"/>
                </a:lnTo>
                <a:lnTo>
                  <a:pt x="190848" y="1146310"/>
                </a:lnTo>
                <a:lnTo>
                  <a:pt x="222656" y="1145827"/>
                </a:lnTo>
                <a:lnTo>
                  <a:pt x="254464" y="1145195"/>
                </a:lnTo>
                <a:lnTo>
                  <a:pt x="286273" y="1144395"/>
                </a:lnTo>
                <a:lnTo>
                  <a:pt x="318081" y="1143411"/>
                </a:lnTo>
                <a:lnTo>
                  <a:pt x="349889" y="1142227"/>
                </a:lnTo>
                <a:lnTo>
                  <a:pt x="381697" y="1140829"/>
                </a:lnTo>
                <a:lnTo>
                  <a:pt x="413505" y="1139203"/>
                </a:lnTo>
                <a:lnTo>
                  <a:pt x="445313" y="1137336"/>
                </a:lnTo>
                <a:lnTo>
                  <a:pt x="477121" y="1135217"/>
                </a:lnTo>
                <a:lnTo>
                  <a:pt x="508929" y="1132834"/>
                </a:lnTo>
                <a:lnTo>
                  <a:pt x="540737" y="1130176"/>
                </a:lnTo>
                <a:lnTo>
                  <a:pt x="572545" y="1127235"/>
                </a:lnTo>
                <a:lnTo>
                  <a:pt x="604353" y="1124002"/>
                </a:lnTo>
                <a:lnTo>
                  <a:pt x="636161" y="1120468"/>
                </a:lnTo>
                <a:lnTo>
                  <a:pt x="667969" y="1116628"/>
                </a:lnTo>
                <a:lnTo>
                  <a:pt x="699777" y="1112474"/>
                </a:lnTo>
                <a:lnTo>
                  <a:pt x="731585" y="1108002"/>
                </a:lnTo>
                <a:lnTo>
                  <a:pt x="763393" y="1103205"/>
                </a:lnTo>
                <a:lnTo>
                  <a:pt x="795201" y="1098081"/>
                </a:lnTo>
                <a:lnTo>
                  <a:pt x="827009" y="1092626"/>
                </a:lnTo>
                <a:lnTo>
                  <a:pt x="858818" y="1086837"/>
                </a:lnTo>
                <a:lnTo>
                  <a:pt x="890626" y="1080713"/>
                </a:lnTo>
                <a:lnTo>
                  <a:pt x="922434" y="1074251"/>
                </a:lnTo>
                <a:lnTo>
                  <a:pt x="954242" y="1067452"/>
                </a:lnTo>
                <a:lnTo>
                  <a:pt x="986050" y="1060314"/>
                </a:lnTo>
                <a:lnTo>
                  <a:pt x="1017858" y="1052840"/>
                </a:lnTo>
                <a:lnTo>
                  <a:pt x="1049666" y="1045029"/>
                </a:lnTo>
                <a:lnTo>
                  <a:pt x="1081474" y="1036884"/>
                </a:lnTo>
                <a:lnTo>
                  <a:pt x="1113282" y="1028407"/>
                </a:lnTo>
                <a:lnTo>
                  <a:pt x="1145090" y="1019601"/>
                </a:lnTo>
                <a:lnTo>
                  <a:pt x="1176898" y="1010469"/>
                </a:lnTo>
                <a:lnTo>
                  <a:pt x="1208706" y="1001016"/>
                </a:lnTo>
                <a:lnTo>
                  <a:pt x="1240514" y="991244"/>
                </a:lnTo>
                <a:lnTo>
                  <a:pt x="1272322" y="981161"/>
                </a:lnTo>
                <a:lnTo>
                  <a:pt x="1304130" y="970770"/>
                </a:lnTo>
                <a:lnTo>
                  <a:pt x="1335938" y="960078"/>
                </a:lnTo>
                <a:lnTo>
                  <a:pt x="1367746" y="949091"/>
                </a:lnTo>
                <a:lnTo>
                  <a:pt x="1399555" y="937815"/>
                </a:lnTo>
                <a:lnTo>
                  <a:pt x="1431363" y="926259"/>
                </a:lnTo>
                <a:lnTo>
                  <a:pt x="1463171" y="914429"/>
                </a:lnTo>
                <a:lnTo>
                  <a:pt x="1494979" y="902334"/>
                </a:lnTo>
                <a:lnTo>
                  <a:pt x="1526787" y="889981"/>
                </a:lnTo>
                <a:lnTo>
                  <a:pt x="1558595" y="877380"/>
                </a:lnTo>
                <a:lnTo>
                  <a:pt x="1590403" y="864539"/>
                </a:lnTo>
                <a:lnTo>
                  <a:pt x="1622211" y="851468"/>
                </a:lnTo>
                <a:lnTo>
                  <a:pt x="1654019" y="838176"/>
                </a:lnTo>
                <a:lnTo>
                  <a:pt x="1685827" y="824673"/>
                </a:lnTo>
                <a:lnTo>
                  <a:pt x="1717635" y="810969"/>
                </a:lnTo>
                <a:lnTo>
                  <a:pt x="1749443" y="797076"/>
                </a:lnTo>
                <a:lnTo>
                  <a:pt x="1781251" y="783003"/>
                </a:lnTo>
                <a:lnTo>
                  <a:pt x="1813059" y="768761"/>
                </a:lnTo>
                <a:lnTo>
                  <a:pt x="1844867" y="754362"/>
                </a:lnTo>
                <a:lnTo>
                  <a:pt x="1876675" y="739817"/>
                </a:lnTo>
                <a:lnTo>
                  <a:pt x="1908483" y="725137"/>
                </a:lnTo>
                <a:lnTo>
                  <a:pt x="1940291" y="710335"/>
                </a:lnTo>
                <a:lnTo>
                  <a:pt x="1972100" y="695421"/>
                </a:lnTo>
                <a:lnTo>
                  <a:pt x="2003908" y="680409"/>
                </a:lnTo>
                <a:lnTo>
                  <a:pt x="2035716" y="665310"/>
                </a:lnTo>
                <a:lnTo>
                  <a:pt x="2067524" y="650135"/>
                </a:lnTo>
                <a:lnTo>
                  <a:pt x="2099332" y="634899"/>
                </a:lnTo>
                <a:lnTo>
                  <a:pt x="2131140" y="619613"/>
                </a:lnTo>
                <a:lnTo>
                  <a:pt x="2162948" y="604289"/>
                </a:lnTo>
                <a:lnTo>
                  <a:pt x="2194756" y="588939"/>
                </a:lnTo>
                <a:lnTo>
                  <a:pt x="2226564" y="573578"/>
                </a:lnTo>
                <a:lnTo>
                  <a:pt x="2258372" y="558216"/>
                </a:lnTo>
                <a:lnTo>
                  <a:pt x="2290180" y="542867"/>
                </a:lnTo>
                <a:lnTo>
                  <a:pt x="2321988" y="527543"/>
                </a:lnTo>
                <a:lnTo>
                  <a:pt x="2353796" y="512257"/>
                </a:lnTo>
                <a:lnTo>
                  <a:pt x="2385604" y="497020"/>
                </a:lnTo>
                <a:lnTo>
                  <a:pt x="2417412" y="481846"/>
                </a:lnTo>
                <a:lnTo>
                  <a:pt x="2449220" y="466747"/>
                </a:lnTo>
                <a:lnTo>
                  <a:pt x="2481028" y="451734"/>
                </a:lnTo>
                <a:lnTo>
                  <a:pt x="2512837" y="436821"/>
                </a:lnTo>
                <a:lnTo>
                  <a:pt x="2544645" y="422018"/>
                </a:lnTo>
                <a:lnTo>
                  <a:pt x="2576453" y="407339"/>
                </a:lnTo>
                <a:lnTo>
                  <a:pt x="2608261" y="392794"/>
                </a:lnTo>
                <a:lnTo>
                  <a:pt x="2640069" y="378395"/>
                </a:lnTo>
                <a:lnTo>
                  <a:pt x="2671877" y="364153"/>
                </a:lnTo>
                <a:lnTo>
                  <a:pt x="2703685" y="350080"/>
                </a:lnTo>
                <a:lnTo>
                  <a:pt x="2735493" y="336186"/>
                </a:lnTo>
                <a:lnTo>
                  <a:pt x="2767301" y="322483"/>
                </a:lnTo>
                <a:lnTo>
                  <a:pt x="2799109" y="308980"/>
                </a:lnTo>
                <a:lnTo>
                  <a:pt x="2830917" y="295688"/>
                </a:lnTo>
                <a:lnTo>
                  <a:pt x="2862725" y="282617"/>
                </a:lnTo>
                <a:lnTo>
                  <a:pt x="2894533" y="269776"/>
                </a:lnTo>
                <a:lnTo>
                  <a:pt x="2926341" y="257174"/>
                </a:lnTo>
                <a:lnTo>
                  <a:pt x="2958149" y="244822"/>
                </a:lnTo>
                <a:lnTo>
                  <a:pt x="2989957" y="232726"/>
                </a:lnTo>
                <a:lnTo>
                  <a:pt x="3021765" y="220896"/>
                </a:lnTo>
                <a:lnTo>
                  <a:pt x="3053573" y="209340"/>
                </a:lnTo>
                <a:lnTo>
                  <a:pt x="3085382" y="198065"/>
                </a:lnTo>
                <a:lnTo>
                  <a:pt x="3117190" y="187078"/>
                </a:lnTo>
                <a:lnTo>
                  <a:pt x="3148998" y="176386"/>
                </a:lnTo>
                <a:lnTo>
                  <a:pt x="3180806" y="165995"/>
                </a:lnTo>
                <a:lnTo>
                  <a:pt x="3212614" y="155911"/>
                </a:lnTo>
                <a:lnTo>
                  <a:pt x="3244422" y="146140"/>
                </a:lnTo>
                <a:lnTo>
                  <a:pt x="3276230" y="136686"/>
                </a:lnTo>
                <a:lnTo>
                  <a:pt x="3308038" y="127554"/>
                </a:lnTo>
                <a:lnTo>
                  <a:pt x="3339846" y="118748"/>
                </a:lnTo>
                <a:lnTo>
                  <a:pt x="3371654" y="110271"/>
                </a:lnTo>
                <a:lnTo>
                  <a:pt x="3403462" y="102126"/>
                </a:lnTo>
                <a:lnTo>
                  <a:pt x="3435270" y="94316"/>
                </a:lnTo>
                <a:lnTo>
                  <a:pt x="3467078" y="86841"/>
                </a:lnTo>
                <a:lnTo>
                  <a:pt x="3498886" y="79704"/>
                </a:lnTo>
                <a:lnTo>
                  <a:pt x="3530694" y="72905"/>
                </a:lnTo>
                <a:lnTo>
                  <a:pt x="3562502" y="66443"/>
                </a:lnTo>
                <a:lnTo>
                  <a:pt x="3594310" y="60318"/>
                </a:lnTo>
                <a:lnTo>
                  <a:pt x="3626119" y="54529"/>
                </a:lnTo>
                <a:lnTo>
                  <a:pt x="3657927" y="49074"/>
                </a:lnTo>
                <a:lnTo>
                  <a:pt x="3689735" y="43950"/>
                </a:lnTo>
                <a:lnTo>
                  <a:pt x="3721543" y="39154"/>
                </a:lnTo>
                <a:lnTo>
                  <a:pt x="3753351" y="34681"/>
                </a:lnTo>
                <a:lnTo>
                  <a:pt x="3785159" y="30528"/>
                </a:lnTo>
                <a:lnTo>
                  <a:pt x="3816967" y="26687"/>
                </a:lnTo>
                <a:lnTo>
                  <a:pt x="3848775" y="23154"/>
                </a:lnTo>
                <a:lnTo>
                  <a:pt x="3880583" y="19921"/>
                </a:lnTo>
                <a:lnTo>
                  <a:pt x="3912391" y="16980"/>
                </a:lnTo>
                <a:lnTo>
                  <a:pt x="3944199" y="14322"/>
                </a:lnTo>
                <a:lnTo>
                  <a:pt x="3976007" y="11939"/>
                </a:lnTo>
                <a:lnTo>
                  <a:pt x="4007815" y="9819"/>
                </a:lnTo>
                <a:lnTo>
                  <a:pt x="4039623" y="7953"/>
                </a:lnTo>
                <a:lnTo>
                  <a:pt x="4071431" y="6327"/>
                </a:lnTo>
                <a:lnTo>
                  <a:pt x="4103239" y="4929"/>
                </a:lnTo>
                <a:lnTo>
                  <a:pt x="4135047" y="3745"/>
                </a:lnTo>
                <a:lnTo>
                  <a:pt x="4166855" y="2761"/>
                </a:lnTo>
                <a:lnTo>
                  <a:pt x="4198664" y="1961"/>
                </a:lnTo>
                <a:lnTo>
                  <a:pt x="4230472" y="1328"/>
                </a:lnTo>
                <a:lnTo>
                  <a:pt x="4262280" y="846"/>
                </a:lnTo>
                <a:lnTo>
                  <a:pt x="4294088" y="495"/>
                </a:lnTo>
                <a:lnTo>
                  <a:pt x="4325896" y="256"/>
                </a:lnTo>
                <a:lnTo>
                  <a:pt x="4357704" y="109"/>
                </a:lnTo>
                <a:lnTo>
                  <a:pt x="4389512" y="32"/>
                </a:lnTo>
                <a:lnTo>
                  <a:pt x="4421320" y="4"/>
                </a:lnTo>
                <a:lnTo>
                  <a:pt x="4453128" y="0"/>
                </a:lnTo>
              </a:path>
            </a:pathLst>
          </a:custGeom>
          <a:noFill/>
          <a:ln w="30480">
            <a:solidFill>
              <a:srgbClr val="38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225296" y="2464723"/>
            <a:ext cx="64008" cy="0"/>
          </a:xfrm>
          <a:prstGeom prst="line">
            <a:avLst/>
          </a:prstGeom>
          <a:ln w="1270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0936" y="2382427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5A6C8A"/>
                </a:solidFill>
                <a:latin typeface="Consolas"/>
              </a:rPr>
              <a:t>300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965960"/>
            <a:ext cx="5257800" cy="1920240"/>
          </a:xfrm>
          <a:prstGeom prst="roundRect">
            <a:avLst>
              <a:gd name="adj" fmla="val 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821424" y="2350008"/>
            <a:ext cx="0" cy="1261872"/>
          </a:xfrm>
          <a:prstGeom prst="line">
            <a:avLst/>
          </a:prstGeom>
          <a:ln w="1397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21424" y="3611880"/>
            <a:ext cx="4453128" cy="0"/>
          </a:xfrm>
          <a:prstGeom prst="line">
            <a:avLst/>
          </a:prstGeom>
          <a:ln w="1397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09359" y="2020824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3A6C4"/>
                </a:solidFill>
                <a:latin typeface="Consolas"/>
              </a:rPr>
              <a:t>v (mm/s)</a:t>
            </a:r>
          </a:p>
        </p:txBody>
      </p:sp>
      <p:sp>
        <p:nvSpPr>
          <p:cNvPr id="19" name="Freeform 18"/>
          <p:cNvSpPr/>
          <p:nvPr/>
        </p:nvSpPr>
        <p:spPr>
          <a:xfrm>
            <a:off x="6821424" y="2514600"/>
            <a:ext cx="4453128" cy="1097280"/>
          </a:xfrm>
          <a:custGeom>
            <a:avLst/>
            <a:gdLst/>
            <a:ahLst/>
            <a:cxnLst/>
            <a:rect l="l" t="t" r="r" b="b"/>
            <a:pathLst>
              <a:path w="4453128" h="1097280">
                <a:moveTo>
                  <a:pt x="0" y="1097280"/>
                </a:moveTo>
                <a:lnTo>
                  <a:pt x="31808" y="1096397"/>
                </a:lnTo>
                <a:lnTo>
                  <a:pt x="63616" y="1093799"/>
                </a:lnTo>
                <a:lnTo>
                  <a:pt x="95424" y="1089560"/>
                </a:lnTo>
                <a:lnTo>
                  <a:pt x="127232" y="1083755"/>
                </a:lnTo>
                <a:lnTo>
                  <a:pt x="159040" y="1076458"/>
                </a:lnTo>
                <a:lnTo>
                  <a:pt x="190848" y="1067738"/>
                </a:lnTo>
                <a:lnTo>
                  <a:pt x="222656" y="1057668"/>
                </a:lnTo>
                <a:lnTo>
                  <a:pt x="254464" y="1046317"/>
                </a:lnTo>
                <a:lnTo>
                  <a:pt x="286273" y="1033754"/>
                </a:lnTo>
                <a:lnTo>
                  <a:pt x="318081" y="1020045"/>
                </a:lnTo>
                <a:lnTo>
                  <a:pt x="349889" y="1005258"/>
                </a:lnTo>
                <a:lnTo>
                  <a:pt x="381697" y="989458"/>
                </a:lnTo>
                <a:lnTo>
                  <a:pt x="413505" y="972708"/>
                </a:lnTo>
                <a:lnTo>
                  <a:pt x="445313" y="955073"/>
                </a:lnTo>
                <a:lnTo>
                  <a:pt x="477121" y="936613"/>
                </a:lnTo>
                <a:lnTo>
                  <a:pt x="508929" y="917389"/>
                </a:lnTo>
                <a:lnTo>
                  <a:pt x="540737" y="897463"/>
                </a:lnTo>
                <a:lnTo>
                  <a:pt x="572545" y="876891"/>
                </a:lnTo>
                <a:lnTo>
                  <a:pt x="604353" y="855732"/>
                </a:lnTo>
                <a:lnTo>
                  <a:pt x="636161" y="834042"/>
                </a:lnTo>
                <a:lnTo>
                  <a:pt x="667969" y="811877"/>
                </a:lnTo>
                <a:lnTo>
                  <a:pt x="699777" y="789291"/>
                </a:lnTo>
                <a:lnTo>
                  <a:pt x="731585" y="766337"/>
                </a:lnTo>
                <a:lnTo>
                  <a:pt x="763393" y="743068"/>
                </a:lnTo>
                <a:lnTo>
                  <a:pt x="795201" y="719533"/>
                </a:lnTo>
                <a:lnTo>
                  <a:pt x="827009" y="695784"/>
                </a:lnTo>
                <a:lnTo>
                  <a:pt x="858818" y="671868"/>
                </a:lnTo>
                <a:lnTo>
                  <a:pt x="890626" y="647834"/>
                </a:lnTo>
                <a:lnTo>
                  <a:pt x="922434" y="623728"/>
                </a:lnTo>
                <a:lnTo>
                  <a:pt x="954242" y="599597"/>
                </a:lnTo>
                <a:lnTo>
                  <a:pt x="986050" y="575483"/>
                </a:lnTo>
                <a:lnTo>
                  <a:pt x="1017858" y="551431"/>
                </a:lnTo>
                <a:lnTo>
                  <a:pt x="1049666" y="527482"/>
                </a:lnTo>
                <a:lnTo>
                  <a:pt x="1081474" y="503679"/>
                </a:lnTo>
                <a:lnTo>
                  <a:pt x="1113282" y="480060"/>
                </a:lnTo>
                <a:lnTo>
                  <a:pt x="1145090" y="456665"/>
                </a:lnTo>
                <a:lnTo>
                  <a:pt x="1176898" y="433532"/>
                </a:lnTo>
                <a:lnTo>
                  <a:pt x="1208706" y="410697"/>
                </a:lnTo>
                <a:lnTo>
                  <a:pt x="1240514" y="388197"/>
                </a:lnTo>
                <a:lnTo>
                  <a:pt x="1272322" y="366065"/>
                </a:lnTo>
                <a:lnTo>
                  <a:pt x="1304130" y="344335"/>
                </a:lnTo>
                <a:lnTo>
                  <a:pt x="1335938" y="323039"/>
                </a:lnTo>
                <a:lnTo>
                  <a:pt x="1367746" y="302209"/>
                </a:lnTo>
                <a:lnTo>
                  <a:pt x="1399555" y="281875"/>
                </a:lnTo>
                <a:lnTo>
                  <a:pt x="1431363" y="262066"/>
                </a:lnTo>
                <a:lnTo>
                  <a:pt x="1463171" y="242810"/>
                </a:lnTo>
                <a:lnTo>
                  <a:pt x="1494979" y="224134"/>
                </a:lnTo>
                <a:lnTo>
                  <a:pt x="1526787" y="206063"/>
                </a:lnTo>
                <a:lnTo>
                  <a:pt x="1558595" y="188622"/>
                </a:lnTo>
                <a:lnTo>
                  <a:pt x="1590403" y="171836"/>
                </a:lnTo>
                <a:lnTo>
                  <a:pt x="1622211" y="155725"/>
                </a:lnTo>
                <a:lnTo>
                  <a:pt x="1654019" y="140312"/>
                </a:lnTo>
                <a:lnTo>
                  <a:pt x="1685827" y="125617"/>
                </a:lnTo>
                <a:lnTo>
                  <a:pt x="1717635" y="111660"/>
                </a:lnTo>
                <a:lnTo>
                  <a:pt x="1749443" y="98457"/>
                </a:lnTo>
                <a:lnTo>
                  <a:pt x="1781251" y="86027"/>
                </a:lnTo>
                <a:lnTo>
                  <a:pt x="1813059" y="74385"/>
                </a:lnTo>
                <a:lnTo>
                  <a:pt x="1844867" y="63546"/>
                </a:lnTo>
                <a:lnTo>
                  <a:pt x="1876675" y="53523"/>
                </a:lnTo>
                <a:lnTo>
                  <a:pt x="1908483" y="44330"/>
                </a:lnTo>
                <a:lnTo>
                  <a:pt x="1940291" y="35978"/>
                </a:lnTo>
                <a:lnTo>
                  <a:pt x="1972100" y="28476"/>
                </a:lnTo>
                <a:lnTo>
                  <a:pt x="2003908" y="21836"/>
                </a:lnTo>
                <a:lnTo>
                  <a:pt x="2035716" y="16064"/>
                </a:lnTo>
                <a:lnTo>
                  <a:pt x="2067524" y="11168"/>
                </a:lnTo>
                <a:lnTo>
                  <a:pt x="2099332" y="7154"/>
                </a:lnTo>
                <a:lnTo>
                  <a:pt x="2131140" y="4027"/>
                </a:lnTo>
                <a:lnTo>
                  <a:pt x="2162948" y="1791"/>
                </a:lnTo>
                <a:lnTo>
                  <a:pt x="2194756" y="448"/>
                </a:lnTo>
                <a:lnTo>
                  <a:pt x="2226564" y="0"/>
                </a:lnTo>
                <a:lnTo>
                  <a:pt x="2258372" y="448"/>
                </a:lnTo>
                <a:lnTo>
                  <a:pt x="2290180" y="1791"/>
                </a:lnTo>
                <a:lnTo>
                  <a:pt x="2321988" y="4027"/>
                </a:lnTo>
                <a:lnTo>
                  <a:pt x="2353796" y="7154"/>
                </a:lnTo>
                <a:lnTo>
                  <a:pt x="2385604" y="11168"/>
                </a:lnTo>
                <a:lnTo>
                  <a:pt x="2417412" y="16064"/>
                </a:lnTo>
                <a:lnTo>
                  <a:pt x="2449220" y="21836"/>
                </a:lnTo>
                <a:lnTo>
                  <a:pt x="2481028" y="28476"/>
                </a:lnTo>
                <a:lnTo>
                  <a:pt x="2512837" y="35978"/>
                </a:lnTo>
                <a:lnTo>
                  <a:pt x="2544645" y="44330"/>
                </a:lnTo>
                <a:lnTo>
                  <a:pt x="2576453" y="53523"/>
                </a:lnTo>
                <a:lnTo>
                  <a:pt x="2608261" y="63546"/>
                </a:lnTo>
                <a:lnTo>
                  <a:pt x="2640069" y="74385"/>
                </a:lnTo>
                <a:lnTo>
                  <a:pt x="2671877" y="86027"/>
                </a:lnTo>
                <a:lnTo>
                  <a:pt x="2703685" y="98457"/>
                </a:lnTo>
                <a:lnTo>
                  <a:pt x="2735493" y="111660"/>
                </a:lnTo>
                <a:lnTo>
                  <a:pt x="2767301" y="125617"/>
                </a:lnTo>
                <a:lnTo>
                  <a:pt x="2799109" y="140312"/>
                </a:lnTo>
                <a:lnTo>
                  <a:pt x="2830917" y="155725"/>
                </a:lnTo>
                <a:lnTo>
                  <a:pt x="2862725" y="171836"/>
                </a:lnTo>
                <a:lnTo>
                  <a:pt x="2894533" y="188622"/>
                </a:lnTo>
                <a:lnTo>
                  <a:pt x="2926341" y="206063"/>
                </a:lnTo>
                <a:lnTo>
                  <a:pt x="2958149" y="224134"/>
                </a:lnTo>
                <a:lnTo>
                  <a:pt x="2989957" y="242810"/>
                </a:lnTo>
                <a:lnTo>
                  <a:pt x="3021765" y="262066"/>
                </a:lnTo>
                <a:lnTo>
                  <a:pt x="3053573" y="281875"/>
                </a:lnTo>
                <a:lnTo>
                  <a:pt x="3085382" y="302209"/>
                </a:lnTo>
                <a:lnTo>
                  <a:pt x="3117190" y="323039"/>
                </a:lnTo>
                <a:lnTo>
                  <a:pt x="3148998" y="344335"/>
                </a:lnTo>
                <a:lnTo>
                  <a:pt x="3180806" y="366065"/>
                </a:lnTo>
                <a:lnTo>
                  <a:pt x="3212614" y="388197"/>
                </a:lnTo>
                <a:lnTo>
                  <a:pt x="3244422" y="410697"/>
                </a:lnTo>
                <a:lnTo>
                  <a:pt x="3276230" y="433532"/>
                </a:lnTo>
                <a:lnTo>
                  <a:pt x="3308038" y="456665"/>
                </a:lnTo>
                <a:lnTo>
                  <a:pt x="3339846" y="480060"/>
                </a:lnTo>
                <a:lnTo>
                  <a:pt x="3371654" y="503679"/>
                </a:lnTo>
                <a:lnTo>
                  <a:pt x="3403462" y="527482"/>
                </a:lnTo>
                <a:lnTo>
                  <a:pt x="3435270" y="551431"/>
                </a:lnTo>
                <a:lnTo>
                  <a:pt x="3467078" y="575483"/>
                </a:lnTo>
                <a:lnTo>
                  <a:pt x="3498886" y="599597"/>
                </a:lnTo>
                <a:lnTo>
                  <a:pt x="3530694" y="623728"/>
                </a:lnTo>
                <a:lnTo>
                  <a:pt x="3562502" y="647834"/>
                </a:lnTo>
                <a:lnTo>
                  <a:pt x="3594310" y="671868"/>
                </a:lnTo>
                <a:lnTo>
                  <a:pt x="3626119" y="695784"/>
                </a:lnTo>
                <a:lnTo>
                  <a:pt x="3657927" y="719533"/>
                </a:lnTo>
                <a:lnTo>
                  <a:pt x="3689735" y="743068"/>
                </a:lnTo>
                <a:lnTo>
                  <a:pt x="3721543" y="766337"/>
                </a:lnTo>
                <a:lnTo>
                  <a:pt x="3753351" y="789291"/>
                </a:lnTo>
                <a:lnTo>
                  <a:pt x="3785159" y="811877"/>
                </a:lnTo>
                <a:lnTo>
                  <a:pt x="3816967" y="834042"/>
                </a:lnTo>
                <a:lnTo>
                  <a:pt x="3848775" y="855732"/>
                </a:lnTo>
                <a:lnTo>
                  <a:pt x="3880583" y="876891"/>
                </a:lnTo>
                <a:lnTo>
                  <a:pt x="3912391" y="897463"/>
                </a:lnTo>
                <a:lnTo>
                  <a:pt x="3944199" y="917389"/>
                </a:lnTo>
                <a:lnTo>
                  <a:pt x="3976007" y="936613"/>
                </a:lnTo>
                <a:lnTo>
                  <a:pt x="4007815" y="955073"/>
                </a:lnTo>
                <a:lnTo>
                  <a:pt x="4039623" y="972708"/>
                </a:lnTo>
                <a:lnTo>
                  <a:pt x="4071431" y="989458"/>
                </a:lnTo>
                <a:lnTo>
                  <a:pt x="4103239" y="1005258"/>
                </a:lnTo>
                <a:lnTo>
                  <a:pt x="4135047" y="1020045"/>
                </a:lnTo>
                <a:lnTo>
                  <a:pt x="4166855" y="1033754"/>
                </a:lnTo>
                <a:lnTo>
                  <a:pt x="4198664" y="1046317"/>
                </a:lnTo>
                <a:lnTo>
                  <a:pt x="4230472" y="1057668"/>
                </a:lnTo>
                <a:lnTo>
                  <a:pt x="4262280" y="1067738"/>
                </a:lnTo>
                <a:lnTo>
                  <a:pt x="4294088" y="1076458"/>
                </a:lnTo>
                <a:lnTo>
                  <a:pt x="4325896" y="1083755"/>
                </a:lnTo>
                <a:lnTo>
                  <a:pt x="4357704" y="1089560"/>
                </a:lnTo>
                <a:lnTo>
                  <a:pt x="4389512" y="1093799"/>
                </a:lnTo>
                <a:lnTo>
                  <a:pt x="4421320" y="1096397"/>
                </a:lnTo>
                <a:lnTo>
                  <a:pt x="4453128" y="1097280"/>
                </a:lnTo>
              </a:path>
            </a:pathLst>
          </a:custGeom>
          <a:noFill/>
          <a:ln w="3048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757416" y="2514600"/>
            <a:ext cx="64008" cy="0"/>
          </a:xfrm>
          <a:prstGeom prst="line">
            <a:avLst/>
          </a:prstGeom>
          <a:ln w="1270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63056" y="2432304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5A6C8A"/>
                </a:solidFill>
                <a:latin typeface="Consolas"/>
              </a:rPr>
              <a:t>300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7867" y="2708452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93A6C4"/>
                </a:solidFill>
                <a:latin typeface="Segoe UI"/>
              </a:rPr>
              <a:t>pico = 1.875·d/T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069080"/>
            <a:ext cx="5257800" cy="1920240"/>
          </a:xfrm>
          <a:prstGeom prst="roundRect">
            <a:avLst>
              <a:gd name="adj" fmla="val 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1289304" y="4453128"/>
            <a:ext cx="0" cy="1207008"/>
          </a:xfrm>
          <a:prstGeom prst="line">
            <a:avLst/>
          </a:prstGeom>
          <a:ln w="1397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89304" y="5660136"/>
            <a:ext cx="4453128" cy="0"/>
          </a:xfrm>
          <a:prstGeom prst="line">
            <a:avLst/>
          </a:prstGeom>
          <a:ln w="1397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89304" y="5056632"/>
            <a:ext cx="4453128" cy="0"/>
          </a:xfrm>
          <a:prstGeom prst="line">
            <a:avLst/>
          </a:prstGeom>
          <a:ln w="12700">
            <a:solidFill>
              <a:srgbClr val="5A6C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7240" y="4123944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3A6C4"/>
                </a:solidFill>
                <a:latin typeface="Consolas"/>
              </a:rPr>
              <a:t>a (mm/s²)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6592" y="5733288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C8A"/>
                </a:solidFill>
                <a:latin typeface="Consolas"/>
              </a:rPr>
              <a:t>t (s)</a:t>
            </a:r>
          </a:p>
        </p:txBody>
      </p:sp>
      <p:sp>
        <p:nvSpPr>
          <p:cNvPr id="29" name="Freeform 28"/>
          <p:cNvSpPr/>
          <p:nvPr/>
        </p:nvSpPr>
        <p:spPr>
          <a:xfrm>
            <a:off x="1289304" y="4577143"/>
            <a:ext cx="4453128" cy="958978"/>
          </a:xfrm>
          <a:custGeom>
            <a:avLst/>
            <a:gdLst/>
            <a:ahLst/>
            <a:cxnLst/>
            <a:rect l="l" t="t" r="r" b="b"/>
            <a:pathLst>
              <a:path w="4453128" h="958978">
                <a:moveTo>
                  <a:pt x="0" y="479489"/>
                </a:moveTo>
                <a:lnTo>
                  <a:pt x="31808" y="444650"/>
                </a:lnTo>
                <a:lnTo>
                  <a:pt x="63616" y="411314"/>
                </a:lnTo>
                <a:lnTo>
                  <a:pt x="95424" y="379461"/>
                </a:lnTo>
                <a:lnTo>
                  <a:pt x="127232" y="349068"/>
                </a:lnTo>
                <a:lnTo>
                  <a:pt x="159040" y="320114"/>
                </a:lnTo>
                <a:lnTo>
                  <a:pt x="190848" y="292576"/>
                </a:lnTo>
                <a:lnTo>
                  <a:pt x="222656" y="266433"/>
                </a:lnTo>
                <a:lnTo>
                  <a:pt x="254464" y="241663"/>
                </a:lnTo>
                <a:lnTo>
                  <a:pt x="286273" y="218244"/>
                </a:lnTo>
                <a:lnTo>
                  <a:pt x="318081" y="196155"/>
                </a:lnTo>
                <a:lnTo>
                  <a:pt x="349889" y="175373"/>
                </a:lnTo>
                <a:lnTo>
                  <a:pt x="381697" y="155878"/>
                </a:lnTo>
                <a:lnTo>
                  <a:pt x="413505" y="137646"/>
                </a:lnTo>
                <a:lnTo>
                  <a:pt x="445313" y="120657"/>
                </a:lnTo>
                <a:lnTo>
                  <a:pt x="477121" y="104889"/>
                </a:lnTo>
                <a:lnTo>
                  <a:pt x="508929" y="90319"/>
                </a:lnTo>
                <a:lnTo>
                  <a:pt x="540737" y="76926"/>
                </a:lnTo>
                <a:lnTo>
                  <a:pt x="572545" y="64688"/>
                </a:lnTo>
                <a:lnTo>
                  <a:pt x="604353" y="53583"/>
                </a:lnTo>
                <a:lnTo>
                  <a:pt x="636161" y="43590"/>
                </a:lnTo>
                <a:lnTo>
                  <a:pt x="667969" y="34687"/>
                </a:lnTo>
                <a:lnTo>
                  <a:pt x="699777" y="26852"/>
                </a:lnTo>
                <a:lnTo>
                  <a:pt x="731585" y="20063"/>
                </a:lnTo>
                <a:lnTo>
                  <a:pt x="763393" y="14298"/>
                </a:lnTo>
                <a:lnTo>
                  <a:pt x="795201" y="9536"/>
                </a:lnTo>
                <a:lnTo>
                  <a:pt x="827009" y="5754"/>
                </a:lnTo>
                <a:lnTo>
                  <a:pt x="858818" y="2932"/>
                </a:lnTo>
                <a:lnTo>
                  <a:pt x="890626" y="1047"/>
                </a:lnTo>
                <a:lnTo>
                  <a:pt x="922434" y="77"/>
                </a:lnTo>
                <a:lnTo>
                  <a:pt x="954242" y="0"/>
                </a:lnTo>
                <a:lnTo>
                  <a:pt x="986050" y="796"/>
                </a:lnTo>
                <a:lnTo>
                  <a:pt x="1017858" y="2441"/>
                </a:lnTo>
                <a:lnTo>
                  <a:pt x="1049666" y="4915"/>
                </a:lnTo>
                <a:lnTo>
                  <a:pt x="1081474" y="8195"/>
                </a:lnTo>
                <a:lnTo>
                  <a:pt x="1113282" y="12260"/>
                </a:lnTo>
                <a:lnTo>
                  <a:pt x="1145090" y="17088"/>
                </a:lnTo>
                <a:lnTo>
                  <a:pt x="1176898" y="22656"/>
                </a:lnTo>
                <a:lnTo>
                  <a:pt x="1208706" y="28944"/>
                </a:lnTo>
                <a:lnTo>
                  <a:pt x="1240514" y="35929"/>
                </a:lnTo>
                <a:lnTo>
                  <a:pt x="1272322" y="43590"/>
                </a:lnTo>
                <a:lnTo>
                  <a:pt x="1304130" y="51905"/>
                </a:lnTo>
                <a:lnTo>
                  <a:pt x="1335938" y="60852"/>
                </a:lnTo>
                <a:lnTo>
                  <a:pt x="1367746" y="70409"/>
                </a:lnTo>
                <a:lnTo>
                  <a:pt x="1399555" y="80555"/>
                </a:lnTo>
                <a:lnTo>
                  <a:pt x="1431363" y="91267"/>
                </a:lnTo>
                <a:lnTo>
                  <a:pt x="1463171" y="102524"/>
                </a:lnTo>
                <a:lnTo>
                  <a:pt x="1494979" y="114304"/>
                </a:lnTo>
                <a:lnTo>
                  <a:pt x="1526787" y="126585"/>
                </a:lnTo>
                <a:lnTo>
                  <a:pt x="1558595" y="139346"/>
                </a:lnTo>
                <a:lnTo>
                  <a:pt x="1590403" y="152565"/>
                </a:lnTo>
                <a:lnTo>
                  <a:pt x="1622211" y="166220"/>
                </a:lnTo>
                <a:lnTo>
                  <a:pt x="1654019" y="180288"/>
                </a:lnTo>
                <a:lnTo>
                  <a:pt x="1685827" y="194749"/>
                </a:lnTo>
                <a:lnTo>
                  <a:pt x="1717635" y="209581"/>
                </a:lnTo>
                <a:lnTo>
                  <a:pt x="1749443" y="224761"/>
                </a:lnTo>
                <a:lnTo>
                  <a:pt x="1781251" y="240268"/>
                </a:lnTo>
                <a:lnTo>
                  <a:pt x="1813059" y="256080"/>
                </a:lnTo>
                <a:lnTo>
                  <a:pt x="1844867" y="272176"/>
                </a:lnTo>
                <a:lnTo>
                  <a:pt x="1876675" y="288533"/>
                </a:lnTo>
                <a:lnTo>
                  <a:pt x="1908483" y="305130"/>
                </a:lnTo>
                <a:lnTo>
                  <a:pt x="1940291" y="321944"/>
                </a:lnTo>
                <a:lnTo>
                  <a:pt x="1972100" y="338955"/>
                </a:lnTo>
                <a:lnTo>
                  <a:pt x="2003908" y="356141"/>
                </a:lnTo>
                <a:lnTo>
                  <a:pt x="2035716" y="373478"/>
                </a:lnTo>
                <a:lnTo>
                  <a:pt x="2067524" y="390947"/>
                </a:lnTo>
                <a:lnTo>
                  <a:pt x="2099332" y="408525"/>
                </a:lnTo>
                <a:lnTo>
                  <a:pt x="2131140" y="426189"/>
                </a:lnTo>
                <a:lnTo>
                  <a:pt x="2162948" y="443920"/>
                </a:lnTo>
                <a:lnTo>
                  <a:pt x="2194756" y="461693"/>
                </a:lnTo>
                <a:lnTo>
                  <a:pt x="2226564" y="479489"/>
                </a:lnTo>
                <a:lnTo>
                  <a:pt x="2258372" y="497285"/>
                </a:lnTo>
                <a:lnTo>
                  <a:pt x="2290180" y="515058"/>
                </a:lnTo>
                <a:lnTo>
                  <a:pt x="2321988" y="532789"/>
                </a:lnTo>
                <a:lnTo>
                  <a:pt x="2353796" y="550453"/>
                </a:lnTo>
                <a:lnTo>
                  <a:pt x="2385604" y="568031"/>
                </a:lnTo>
                <a:lnTo>
                  <a:pt x="2417412" y="585500"/>
                </a:lnTo>
                <a:lnTo>
                  <a:pt x="2449220" y="602837"/>
                </a:lnTo>
                <a:lnTo>
                  <a:pt x="2481028" y="620023"/>
                </a:lnTo>
                <a:lnTo>
                  <a:pt x="2512837" y="637034"/>
                </a:lnTo>
                <a:lnTo>
                  <a:pt x="2544645" y="653848"/>
                </a:lnTo>
                <a:lnTo>
                  <a:pt x="2576453" y="670445"/>
                </a:lnTo>
                <a:lnTo>
                  <a:pt x="2608261" y="686802"/>
                </a:lnTo>
                <a:lnTo>
                  <a:pt x="2640069" y="702898"/>
                </a:lnTo>
                <a:lnTo>
                  <a:pt x="2671877" y="718710"/>
                </a:lnTo>
                <a:lnTo>
                  <a:pt x="2703685" y="734217"/>
                </a:lnTo>
                <a:lnTo>
                  <a:pt x="2735493" y="749397"/>
                </a:lnTo>
                <a:lnTo>
                  <a:pt x="2767301" y="764229"/>
                </a:lnTo>
                <a:lnTo>
                  <a:pt x="2799109" y="778690"/>
                </a:lnTo>
                <a:lnTo>
                  <a:pt x="2830917" y="792758"/>
                </a:lnTo>
                <a:lnTo>
                  <a:pt x="2862725" y="806413"/>
                </a:lnTo>
                <a:lnTo>
                  <a:pt x="2894533" y="819632"/>
                </a:lnTo>
                <a:lnTo>
                  <a:pt x="2926341" y="832393"/>
                </a:lnTo>
                <a:lnTo>
                  <a:pt x="2958149" y="844674"/>
                </a:lnTo>
                <a:lnTo>
                  <a:pt x="2989957" y="856454"/>
                </a:lnTo>
                <a:lnTo>
                  <a:pt x="3021765" y="867711"/>
                </a:lnTo>
                <a:lnTo>
                  <a:pt x="3053573" y="878423"/>
                </a:lnTo>
                <a:lnTo>
                  <a:pt x="3085382" y="888569"/>
                </a:lnTo>
                <a:lnTo>
                  <a:pt x="3117190" y="898126"/>
                </a:lnTo>
                <a:lnTo>
                  <a:pt x="3148998" y="907073"/>
                </a:lnTo>
                <a:lnTo>
                  <a:pt x="3180806" y="915388"/>
                </a:lnTo>
                <a:lnTo>
                  <a:pt x="3212614" y="923049"/>
                </a:lnTo>
                <a:lnTo>
                  <a:pt x="3244422" y="930034"/>
                </a:lnTo>
                <a:lnTo>
                  <a:pt x="3276230" y="936322"/>
                </a:lnTo>
                <a:lnTo>
                  <a:pt x="3308038" y="941890"/>
                </a:lnTo>
                <a:lnTo>
                  <a:pt x="3339846" y="946718"/>
                </a:lnTo>
                <a:lnTo>
                  <a:pt x="3371654" y="950783"/>
                </a:lnTo>
                <a:lnTo>
                  <a:pt x="3403462" y="954063"/>
                </a:lnTo>
                <a:lnTo>
                  <a:pt x="3435270" y="956537"/>
                </a:lnTo>
                <a:lnTo>
                  <a:pt x="3467078" y="958182"/>
                </a:lnTo>
                <a:lnTo>
                  <a:pt x="3498886" y="958978"/>
                </a:lnTo>
                <a:lnTo>
                  <a:pt x="3530694" y="958901"/>
                </a:lnTo>
                <a:lnTo>
                  <a:pt x="3562502" y="957931"/>
                </a:lnTo>
                <a:lnTo>
                  <a:pt x="3594310" y="956046"/>
                </a:lnTo>
                <a:lnTo>
                  <a:pt x="3626119" y="953224"/>
                </a:lnTo>
                <a:lnTo>
                  <a:pt x="3657927" y="949442"/>
                </a:lnTo>
                <a:lnTo>
                  <a:pt x="3689735" y="944680"/>
                </a:lnTo>
                <a:lnTo>
                  <a:pt x="3721543" y="938915"/>
                </a:lnTo>
                <a:lnTo>
                  <a:pt x="3753351" y="932126"/>
                </a:lnTo>
                <a:lnTo>
                  <a:pt x="3785159" y="924291"/>
                </a:lnTo>
                <a:lnTo>
                  <a:pt x="3816967" y="915388"/>
                </a:lnTo>
                <a:lnTo>
                  <a:pt x="3848775" y="905395"/>
                </a:lnTo>
                <a:lnTo>
                  <a:pt x="3880583" y="894290"/>
                </a:lnTo>
                <a:lnTo>
                  <a:pt x="3912391" y="882052"/>
                </a:lnTo>
                <a:lnTo>
                  <a:pt x="3944199" y="868659"/>
                </a:lnTo>
                <a:lnTo>
                  <a:pt x="3976007" y="854089"/>
                </a:lnTo>
                <a:lnTo>
                  <a:pt x="4007815" y="838321"/>
                </a:lnTo>
                <a:lnTo>
                  <a:pt x="4039623" y="821332"/>
                </a:lnTo>
                <a:lnTo>
                  <a:pt x="4071431" y="803100"/>
                </a:lnTo>
                <a:lnTo>
                  <a:pt x="4103239" y="783605"/>
                </a:lnTo>
                <a:lnTo>
                  <a:pt x="4135047" y="762823"/>
                </a:lnTo>
                <a:lnTo>
                  <a:pt x="4166855" y="740734"/>
                </a:lnTo>
                <a:lnTo>
                  <a:pt x="4198664" y="717315"/>
                </a:lnTo>
                <a:lnTo>
                  <a:pt x="4230472" y="692545"/>
                </a:lnTo>
                <a:lnTo>
                  <a:pt x="4262280" y="666402"/>
                </a:lnTo>
                <a:lnTo>
                  <a:pt x="4294088" y="638864"/>
                </a:lnTo>
                <a:lnTo>
                  <a:pt x="4325896" y="609910"/>
                </a:lnTo>
                <a:lnTo>
                  <a:pt x="4357704" y="579517"/>
                </a:lnTo>
                <a:lnTo>
                  <a:pt x="4389512" y="547664"/>
                </a:lnTo>
                <a:lnTo>
                  <a:pt x="4421320" y="514328"/>
                </a:lnTo>
                <a:lnTo>
                  <a:pt x="4453128" y="479489"/>
                </a:lnTo>
              </a:path>
            </a:pathLst>
          </a:custGeom>
          <a:noFill/>
          <a:ln w="3048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1225296" y="4577068"/>
            <a:ext cx="64008" cy="0"/>
          </a:xfrm>
          <a:prstGeom prst="line">
            <a:avLst/>
          </a:prstGeom>
          <a:ln w="1270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30936" y="4494772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5A6C8A"/>
                </a:solidFill>
                <a:latin typeface="Consolas"/>
              </a:rPr>
              <a:t>493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069080"/>
            <a:ext cx="5257800" cy="1920240"/>
          </a:xfrm>
          <a:prstGeom prst="roundRect">
            <a:avLst>
              <a:gd name="adj" fmla="val 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821424" y="4453128"/>
            <a:ext cx="0" cy="1207008"/>
          </a:xfrm>
          <a:prstGeom prst="line">
            <a:avLst/>
          </a:prstGeom>
          <a:ln w="1397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821424" y="5660136"/>
            <a:ext cx="4453128" cy="0"/>
          </a:xfrm>
          <a:prstGeom prst="line">
            <a:avLst/>
          </a:prstGeom>
          <a:ln w="1397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821424" y="5056632"/>
            <a:ext cx="4453128" cy="0"/>
          </a:xfrm>
          <a:prstGeom prst="line">
            <a:avLst/>
          </a:prstGeom>
          <a:ln w="12700">
            <a:solidFill>
              <a:srgbClr val="5A6C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309359" y="4123944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3A6C4"/>
                </a:solidFill>
                <a:latin typeface="Consolas"/>
              </a:rPr>
              <a:t>j (mm/s³)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68712" y="5733288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C8A"/>
                </a:solidFill>
                <a:latin typeface="Consolas"/>
              </a:rPr>
              <a:t>t (s)</a:t>
            </a:r>
          </a:p>
        </p:txBody>
      </p:sp>
      <p:sp>
        <p:nvSpPr>
          <p:cNvPr id="38" name="Freeform 37"/>
          <p:cNvSpPr/>
          <p:nvPr/>
        </p:nvSpPr>
        <p:spPr>
          <a:xfrm>
            <a:off x="6821424" y="4578960"/>
            <a:ext cx="4453128" cy="716508"/>
          </a:xfrm>
          <a:custGeom>
            <a:avLst/>
            <a:gdLst/>
            <a:ahLst/>
            <a:cxnLst/>
            <a:rect l="l" t="t" r="r" b="b"/>
            <a:pathLst>
              <a:path w="4453128" h="716508">
                <a:moveTo>
                  <a:pt x="0" y="0"/>
                </a:moveTo>
                <a:lnTo>
                  <a:pt x="31808" y="20325"/>
                </a:lnTo>
                <a:lnTo>
                  <a:pt x="63616" y="40358"/>
                </a:lnTo>
                <a:lnTo>
                  <a:pt x="95424" y="60099"/>
                </a:lnTo>
                <a:lnTo>
                  <a:pt x="127232" y="79547"/>
                </a:lnTo>
                <a:lnTo>
                  <a:pt x="159040" y="98703"/>
                </a:lnTo>
                <a:lnTo>
                  <a:pt x="190848" y="117566"/>
                </a:lnTo>
                <a:lnTo>
                  <a:pt x="222656" y="136137"/>
                </a:lnTo>
                <a:lnTo>
                  <a:pt x="254464" y="154415"/>
                </a:lnTo>
                <a:lnTo>
                  <a:pt x="286273" y="172401"/>
                </a:lnTo>
                <a:lnTo>
                  <a:pt x="318081" y="190094"/>
                </a:lnTo>
                <a:lnTo>
                  <a:pt x="349889" y="207495"/>
                </a:lnTo>
                <a:lnTo>
                  <a:pt x="381697" y="224603"/>
                </a:lnTo>
                <a:lnTo>
                  <a:pt x="413505" y="241419"/>
                </a:lnTo>
                <a:lnTo>
                  <a:pt x="445313" y="257943"/>
                </a:lnTo>
                <a:lnTo>
                  <a:pt x="477121" y="274174"/>
                </a:lnTo>
                <a:lnTo>
                  <a:pt x="508929" y="290113"/>
                </a:lnTo>
                <a:lnTo>
                  <a:pt x="540737" y="305759"/>
                </a:lnTo>
                <a:lnTo>
                  <a:pt x="572545" y="321113"/>
                </a:lnTo>
                <a:lnTo>
                  <a:pt x="604353" y="336174"/>
                </a:lnTo>
                <a:lnTo>
                  <a:pt x="636161" y="350943"/>
                </a:lnTo>
                <a:lnTo>
                  <a:pt x="667969" y="365419"/>
                </a:lnTo>
                <a:lnTo>
                  <a:pt x="699777" y="379603"/>
                </a:lnTo>
                <a:lnTo>
                  <a:pt x="731585" y="393495"/>
                </a:lnTo>
                <a:lnTo>
                  <a:pt x="763393" y="407094"/>
                </a:lnTo>
                <a:lnTo>
                  <a:pt x="795201" y="420400"/>
                </a:lnTo>
                <a:lnTo>
                  <a:pt x="827009" y="433414"/>
                </a:lnTo>
                <a:lnTo>
                  <a:pt x="858818" y="446136"/>
                </a:lnTo>
                <a:lnTo>
                  <a:pt x="890626" y="458565"/>
                </a:lnTo>
                <a:lnTo>
                  <a:pt x="922434" y="470702"/>
                </a:lnTo>
                <a:lnTo>
                  <a:pt x="954242" y="482546"/>
                </a:lnTo>
                <a:lnTo>
                  <a:pt x="986050" y="494098"/>
                </a:lnTo>
                <a:lnTo>
                  <a:pt x="1017858" y="505357"/>
                </a:lnTo>
                <a:lnTo>
                  <a:pt x="1049666" y="516324"/>
                </a:lnTo>
                <a:lnTo>
                  <a:pt x="1081474" y="526999"/>
                </a:lnTo>
                <a:lnTo>
                  <a:pt x="1113282" y="537381"/>
                </a:lnTo>
                <a:lnTo>
                  <a:pt x="1145090" y="547471"/>
                </a:lnTo>
                <a:lnTo>
                  <a:pt x="1176898" y="557268"/>
                </a:lnTo>
                <a:lnTo>
                  <a:pt x="1208706" y="566772"/>
                </a:lnTo>
                <a:lnTo>
                  <a:pt x="1240514" y="575985"/>
                </a:lnTo>
                <a:lnTo>
                  <a:pt x="1272322" y="584904"/>
                </a:lnTo>
                <a:lnTo>
                  <a:pt x="1304130" y="593532"/>
                </a:lnTo>
                <a:lnTo>
                  <a:pt x="1335938" y="601867"/>
                </a:lnTo>
                <a:lnTo>
                  <a:pt x="1367746" y="609909"/>
                </a:lnTo>
                <a:lnTo>
                  <a:pt x="1399555" y="617659"/>
                </a:lnTo>
                <a:lnTo>
                  <a:pt x="1431363" y="625117"/>
                </a:lnTo>
                <a:lnTo>
                  <a:pt x="1463171" y="632282"/>
                </a:lnTo>
                <a:lnTo>
                  <a:pt x="1494979" y="639154"/>
                </a:lnTo>
                <a:lnTo>
                  <a:pt x="1526787" y="645735"/>
                </a:lnTo>
                <a:lnTo>
                  <a:pt x="1558595" y="652022"/>
                </a:lnTo>
                <a:lnTo>
                  <a:pt x="1590403" y="658018"/>
                </a:lnTo>
                <a:lnTo>
                  <a:pt x="1622211" y="663720"/>
                </a:lnTo>
                <a:lnTo>
                  <a:pt x="1654019" y="669131"/>
                </a:lnTo>
                <a:lnTo>
                  <a:pt x="1685827" y="674249"/>
                </a:lnTo>
                <a:lnTo>
                  <a:pt x="1717635" y="679074"/>
                </a:lnTo>
                <a:lnTo>
                  <a:pt x="1749443" y="683607"/>
                </a:lnTo>
                <a:lnTo>
                  <a:pt x="1781251" y="687848"/>
                </a:lnTo>
                <a:lnTo>
                  <a:pt x="1813059" y="691796"/>
                </a:lnTo>
                <a:lnTo>
                  <a:pt x="1844867" y="695451"/>
                </a:lnTo>
                <a:lnTo>
                  <a:pt x="1876675" y="698815"/>
                </a:lnTo>
                <a:lnTo>
                  <a:pt x="1908483" y="701885"/>
                </a:lnTo>
                <a:lnTo>
                  <a:pt x="1940291" y="704664"/>
                </a:lnTo>
                <a:lnTo>
                  <a:pt x="1972100" y="707150"/>
                </a:lnTo>
                <a:lnTo>
                  <a:pt x="2003908" y="709343"/>
                </a:lnTo>
                <a:lnTo>
                  <a:pt x="2035716" y="711244"/>
                </a:lnTo>
                <a:lnTo>
                  <a:pt x="2067524" y="712852"/>
                </a:lnTo>
                <a:lnTo>
                  <a:pt x="2099332" y="714168"/>
                </a:lnTo>
                <a:lnTo>
                  <a:pt x="2131140" y="715192"/>
                </a:lnTo>
                <a:lnTo>
                  <a:pt x="2162948" y="715923"/>
                </a:lnTo>
                <a:lnTo>
                  <a:pt x="2194756" y="716362"/>
                </a:lnTo>
                <a:lnTo>
                  <a:pt x="2226564" y="716508"/>
                </a:lnTo>
                <a:lnTo>
                  <a:pt x="2258372" y="716362"/>
                </a:lnTo>
                <a:lnTo>
                  <a:pt x="2290180" y="715923"/>
                </a:lnTo>
                <a:lnTo>
                  <a:pt x="2321988" y="715192"/>
                </a:lnTo>
                <a:lnTo>
                  <a:pt x="2353796" y="714168"/>
                </a:lnTo>
                <a:lnTo>
                  <a:pt x="2385604" y="712852"/>
                </a:lnTo>
                <a:lnTo>
                  <a:pt x="2417412" y="711244"/>
                </a:lnTo>
                <a:lnTo>
                  <a:pt x="2449220" y="709343"/>
                </a:lnTo>
                <a:lnTo>
                  <a:pt x="2481028" y="707150"/>
                </a:lnTo>
                <a:lnTo>
                  <a:pt x="2512837" y="704664"/>
                </a:lnTo>
                <a:lnTo>
                  <a:pt x="2544645" y="701885"/>
                </a:lnTo>
                <a:lnTo>
                  <a:pt x="2576453" y="698815"/>
                </a:lnTo>
                <a:lnTo>
                  <a:pt x="2608261" y="695451"/>
                </a:lnTo>
                <a:lnTo>
                  <a:pt x="2640069" y="691796"/>
                </a:lnTo>
                <a:lnTo>
                  <a:pt x="2671877" y="687848"/>
                </a:lnTo>
                <a:lnTo>
                  <a:pt x="2703685" y="683607"/>
                </a:lnTo>
                <a:lnTo>
                  <a:pt x="2735493" y="679074"/>
                </a:lnTo>
                <a:lnTo>
                  <a:pt x="2767301" y="674249"/>
                </a:lnTo>
                <a:lnTo>
                  <a:pt x="2799109" y="669131"/>
                </a:lnTo>
                <a:lnTo>
                  <a:pt x="2830917" y="663720"/>
                </a:lnTo>
                <a:lnTo>
                  <a:pt x="2862725" y="658018"/>
                </a:lnTo>
                <a:lnTo>
                  <a:pt x="2894533" y="652022"/>
                </a:lnTo>
                <a:lnTo>
                  <a:pt x="2926341" y="645735"/>
                </a:lnTo>
                <a:lnTo>
                  <a:pt x="2958149" y="639154"/>
                </a:lnTo>
                <a:lnTo>
                  <a:pt x="2989957" y="632282"/>
                </a:lnTo>
                <a:lnTo>
                  <a:pt x="3021765" y="625117"/>
                </a:lnTo>
                <a:lnTo>
                  <a:pt x="3053573" y="617659"/>
                </a:lnTo>
                <a:lnTo>
                  <a:pt x="3085382" y="609909"/>
                </a:lnTo>
                <a:lnTo>
                  <a:pt x="3117190" y="601867"/>
                </a:lnTo>
                <a:lnTo>
                  <a:pt x="3148998" y="593532"/>
                </a:lnTo>
                <a:lnTo>
                  <a:pt x="3180806" y="584904"/>
                </a:lnTo>
                <a:lnTo>
                  <a:pt x="3212614" y="575985"/>
                </a:lnTo>
                <a:lnTo>
                  <a:pt x="3244422" y="566772"/>
                </a:lnTo>
                <a:lnTo>
                  <a:pt x="3276230" y="557268"/>
                </a:lnTo>
                <a:lnTo>
                  <a:pt x="3308038" y="547471"/>
                </a:lnTo>
                <a:lnTo>
                  <a:pt x="3339846" y="537381"/>
                </a:lnTo>
                <a:lnTo>
                  <a:pt x="3371654" y="526999"/>
                </a:lnTo>
                <a:lnTo>
                  <a:pt x="3403462" y="516324"/>
                </a:lnTo>
                <a:lnTo>
                  <a:pt x="3435270" y="505357"/>
                </a:lnTo>
                <a:lnTo>
                  <a:pt x="3467078" y="494098"/>
                </a:lnTo>
                <a:lnTo>
                  <a:pt x="3498886" y="482546"/>
                </a:lnTo>
                <a:lnTo>
                  <a:pt x="3530694" y="470702"/>
                </a:lnTo>
                <a:lnTo>
                  <a:pt x="3562502" y="458565"/>
                </a:lnTo>
                <a:lnTo>
                  <a:pt x="3594310" y="446136"/>
                </a:lnTo>
                <a:lnTo>
                  <a:pt x="3626119" y="433414"/>
                </a:lnTo>
                <a:lnTo>
                  <a:pt x="3657927" y="420400"/>
                </a:lnTo>
                <a:lnTo>
                  <a:pt x="3689735" y="407094"/>
                </a:lnTo>
                <a:lnTo>
                  <a:pt x="3721543" y="393495"/>
                </a:lnTo>
                <a:lnTo>
                  <a:pt x="3753351" y="379603"/>
                </a:lnTo>
                <a:lnTo>
                  <a:pt x="3785159" y="365419"/>
                </a:lnTo>
                <a:lnTo>
                  <a:pt x="3816967" y="350943"/>
                </a:lnTo>
                <a:lnTo>
                  <a:pt x="3848775" y="336174"/>
                </a:lnTo>
                <a:lnTo>
                  <a:pt x="3880583" y="321113"/>
                </a:lnTo>
                <a:lnTo>
                  <a:pt x="3912391" y="305759"/>
                </a:lnTo>
                <a:lnTo>
                  <a:pt x="3944199" y="290113"/>
                </a:lnTo>
                <a:lnTo>
                  <a:pt x="3976007" y="274174"/>
                </a:lnTo>
                <a:lnTo>
                  <a:pt x="4007815" y="257943"/>
                </a:lnTo>
                <a:lnTo>
                  <a:pt x="4039623" y="241419"/>
                </a:lnTo>
                <a:lnTo>
                  <a:pt x="4071431" y="224603"/>
                </a:lnTo>
                <a:lnTo>
                  <a:pt x="4103239" y="207495"/>
                </a:lnTo>
                <a:lnTo>
                  <a:pt x="4135047" y="190094"/>
                </a:lnTo>
                <a:lnTo>
                  <a:pt x="4166855" y="172401"/>
                </a:lnTo>
                <a:lnTo>
                  <a:pt x="4198664" y="154415"/>
                </a:lnTo>
                <a:lnTo>
                  <a:pt x="4230472" y="136137"/>
                </a:lnTo>
                <a:lnTo>
                  <a:pt x="4262280" y="117566"/>
                </a:lnTo>
                <a:lnTo>
                  <a:pt x="4294088" y="98703"/>
                </a:lnTo>
                <a:lnTo>
                  <a:pt x="4325896" y="79547"/>
                </a:lnTo>
                <a:lnTo>
                  <a:pt x="4357704" y="60099"/>
                </a:lnTo>
                <a:lnTo>
                  <a:pt x="4389512" y="40358"/>
                </a:lnTo>
                <a:lnTo>
                  <a:pt x="4421320" y="20325"/>
                </a:lnTo>
                <a:lnTo>
                  <a:pt x="4453128" y="0"/>
                </a:lnTo>
              </a:path>
            </a:pathLst>
          </a:custGeom>
          <a:noFill/>
          <a:ln w="3048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6757416" y="4578960"/>
            <a:ext cx="64008" cy="0"/>
          </a:xfrm>
          <a:prstGeom prst="line">
            <a:avLst/>
          </a:prstGeom>
          <a:ln w="1270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163056" y="4496664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5A6C8A"/>
                </a:solidFill>
                <a:latin typeface="Consolas"/>
              </a:rPr>
              <a:t>2731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46601" y="4726356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472B6"/>
                </a:solidFill>
                <a:latin typeface="Segoe UI"/>
              </a:rPr>
              <a:t>finito!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DE ONDE VEM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Inverta cada pico e fique com a maior duração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A curva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10789920" cy="123444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l">
              <a:lnSpc>
                <a:spcPct val="132000"/>
              </a:lnSpc>
            </a:pPr>
            <a:r>
              <a:rPr sz="1700">
                <a:solidFill>
                  <a:srgbClr val="FFFFFF"/>
                </a:solidFill>
                <a:latin typeface="Consolas"/>
              </a:rPr>
              <a:t>|v|max = 1.8750·d/T   →   T ≥ 1.8750·d / vmax</a:t>
            </a:r>
          </a:p>
          <a:p>
            <a:pPr algn="l">
              <a:lnSpc>
                <a:spcPct val="132000"/>
              </a:lnSpc>
            </a:pPr>
            <a:r>
              <a:rPr sz="1700">
                <a:solidFill>
                  <a:srgbClr val="FFFFFF"/>
                </a:solidFill>
                <a:latin typeface="Consolas"/>
              </a:rPr>
              <a:t>|a|max = 5.7735·d/T²  →   T ≥ √(5.7735·d / amax)</a:t>
            </a:r>
          </a:p>
          <a:p>
            <a:pPr algn="l">
              <a:lnSpc>
                <a:spcPct val="132000"/>
              </a:lnSpc>
            </a:pPr>
            <a:r>
              <a:rPr sz="1700">
                <a:solidFill>
                  <a:srgbClr val="FFFFFF"/>
                </a:solidFill>
                <a:latin typeface="Consolas"/>
              </a:rPr>
              <a:t>|j|max = 60.000·d/T³  →   T ≥ ∛(60·d / jmax)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291840"/>
            <a:ext cx="10789920" cy="438912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3291840"/>
            <a:ext cx="28895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8D9F0"/>
                </a:solidFill>
                <a:latin typeface="Segoe UI"/>
              </a:rPr>
              <a:t>limite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1064" y="3291840"/>
            <a:ext cx="307238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8D9F0"/>
                </a:solidFill>
                <a:latin typeface="Segoe UI"/>
              </a:rPr>
              <a:t>valor no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2904" y="3291840"/>
            <a:ext cx="41696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8D9F0"/>
                </a:solidFill>
                <a:latin typeface="Segoe UI"/>
              </a:rPr>
              <a:t>T exigido (d = 100 mm)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3730752"/>
            <a:ext cx="28895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6EDF8"/>
                </a:solidFill>
                <a:latin typeface="Consolas"/>
              </a:rPr>
              <a:t>velocidade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41064" y="3730752"/>
            <a:ext cx="307238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6EDF8"/>
                </a:solidFill>
                <a:latin typeface="Consolas"/>
              </a:rPr>
              <a:t>300 mm/s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2904" y="3730752"/>
            <a:ext cx="41696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6EDF8"/>
                </a:solidFill>
                <a:latin typeface="Consolas"/>
              </a:rPr>
              <a:t>0.625 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169664"/>
            <a:ext cx="10789920" cy="438912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4169664"/>
            <a:ext cx="28895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6EDF8"/>
                </a:solidFill>
                <a:latin typeface="Consolas"/>
              </a:rPr>
              <a:t>aceleração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1064" y="4169664"/>
            <a:ext cx="307238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6EDF8"/>
                </a:solidFill>
                <a:latin typeface="Consolas"/>
              </a:rPr>
              <a:t>600 mm/s²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2904" y="4169664"/>
            <a:ext cx="41696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6EDF8"/>
                </a:solidFill>
                <a:latin typeface="Consolas"/>
              </a:rPr>
              <a:t>0.981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" y="4608576"/>
            <a:ext cx="28895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6EDF8"/>
                </a:solidFill>
                <a:latin typeface="Consolas"/>
              </a:rPr>
              <a:t>jerk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41064" y="4608576"/>
            <a:ext cx="307238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6EDF8"/>
                </a:solidFill>
                <a:latin typeface="Consolas"/>
              </a:rPr>
              <a:t>3000 mm/s³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2904" y="4608576"/>
            <a:ext cx="41696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6EDF8"/>
                </a:solidFill>
                <a:latin typeface="Consolas"/>
              </a:rPr>
              <a:t>1.260 s   &lt;-  manda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349240"/>
            <a:ext cx="10789920" cy="91440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A78BFA"/>
                </a:solidFill>
                <a:latin typeface="Consolas"/>
              </a:rPr>
              <a:t>this</a:t>
            </a:r>
            <a:r>
              <a:rPr sz="1300">
                <a:solidFill>
                  <a:srgbClr val="E6EDF8"/>
                </a:solidFill>
                <a:latin typeface="Consolas"/>
              </a:rPr>
              <a:t>.</a:t>
            </a:r>
            <a:r>
              <a:rPr sz="1300">
                <a:solidFill>
                  <a:srgbClr val="E6EDF8"/>
                </a:solidFill>
                <a:latin typeface="Consolas"/>
              </a:rPr>
              <a:t>totalTime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=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34D399"/>
                </a:solidFill>
                <a:latin typeface="Consolas"/>
              </a:rPr>
              <a:t>Math</a:t>
            </a:r>
            <a:r>
              <a:rPr sz="1300">
                <a:solidFill>
                  <a:srgbClr val="E6EDF8"/>
                </a:solidFill>
                <a:latin typeface="Consolas"/>
              </a:rPr>
              <a:t>.</a:t>
            </a:r>
            <a:r>
              <a:rPr sz="1300">
                <a:solidFill>
                  <a:srgbClr val="E6EDF8"/>
                </a:solidFill>
                <a:latin typeface="Consolas"/>
              </a:rPr>
              <a:t>max</a:t>
            </a:r>
            <a:r>
              <a:rPr sz="1300">
                <a:solidFill>
                  <a:srgbClr val="E6EDF8"/>
                </a:solidFill>
                <a:latin typeface="Consolas"/>
              </a:rPr>
              <a:t>(</a:t>
            </a:r>
            <a:r>
              <a:rPr sz="1300">
                <a:solidFill>
                  <a:srgbClr val="E6EDF8"/>
                </a:solidFill>
                <a:latin typeface="Consolas"/>
              </a:rPr>
              <a:t>timeFromVelocity</a:t>
            </a:r>
            <a:r>
              <a:rPr sz="1300">
                <a:solidFill>
                  <a:srgbClr val="E6EDF8"/>
                </a:solidFill>
                <a:latin typeface="Consolas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E6EDF8"/>
                </a:solidFill>
                <a:latin typeface="Consolas"/>
              </a:rPr>
              <a:t>                          </a:t>
            </a:r>
            <a:r>
              <a:rPr sz="1300">
                <a:solidFill>
                  <a:srgbClr val="34D399"/>
                </a:solidFill>
                <a:latin typeface="Consolas"/>
              </a:rPr>
              <a:t>Math</a:t>
            </a:r>
            <a:r>
              <a:rPr sz="1300">
                <a:solidFill>
                  <a:srgbClr val="E6EDF8"/>
                </a:solidFill>
                <a:latin typeface="Consolas"/>
              </a:rPr>
              <a:t>.</a:t>
            </a:r>
            <a:r>
              <a:rPr sz="1300">
                <a:solidFill>
                  <a:srgbClr val="E6EDF8"/>
                </a:solidFill>
                <a:latin typeface="Consolas"/>
              </a:rPr>
              <a:t>max</a:t>
            </a:r>
            <a:r>
              <a:rPr sz="1300">
                <a:solidFill>
                  <a:srgbClr val="E6EDF8"/>
                </a:solidFill>
                <a:latin typeface="Consolas"/>
              </a:rPr>
              <a:t>(</a:t>
            </a:r>
            <a:r>
              <a:rPr sz="1300">
                <a:solidFill>
                  <a:srgbClr val="E6EDF8"/>
                </a:solidFill>
                <a:latin typeface="Consolas"/>
              </a:rPr>
              <a:t>timeFromAcceleration</a:t>
            </a:r>
            <a:r>
              <a:rPr sz="1300">
                <a:solidFill>
                  <a:srgbClr val="E6EDF8"/>
                </a:solidFill>
                <a:latin typeface="Consolas"/>
              </a:rPr>
              <a:t>,</a:t>
            </a:r>
            <a:r>
              <a:rPr sz="1300">
                <a:solidFill>
                  <a:srgbClr val="E6EDF8"/>
                </a:solidFill>
                <a:latin typeface="Consolas"/>
              </a:rPr>
              <a:t> </a:t>
            </a:r>
            <a:r>
              <a:rPr sz="1300">
                <a:solidFill>
                  <a:srgbClr val="E6EDF8"/>
                </a:solidFill>
                <a:latin typeface="Consolas"/>
              </a:rPr>
              <a:t>timeFromJerk</a:t>
            </a:r>
            <a:r>
              <a:rPr sz="1300">
                <a:solidFill>
                  <a:srgbClr val="E6EDF8"/>
                </a:solidFill>
                <a:latin typeface="Consolas"/>
              </a:rPr>
              <a:t>)</a:t>
            </a:r>
            <a:r>
              <a:rPr sz="1300">
                <a:solidFill>
                  <a:srgbClr val="E6EDF8"/>
                </a:solidFill>
                <a:latin typeface="Consolas"/>
              </a:rPr>
              <a:t>)</a:t>
            </a:r>
            <a:r>
              <a:rPr sz="1300">
                <a:solidFill>
                  <a:srgbClr val="E6EDF8"/>
                </a:solidFill>
                <a:latin typeface="Consolas"/>
              </a:rPr>
              <a:t>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" y="5193792"/>
            <a:ext cx="1640433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SCurveProfile.java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O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Forma fechada: nenhuma iteração, nenhuma tabela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A curva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10789920" cy="228600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850">
                <a:solidFill>
                  <a:srgbClr val="A78BFA"/>
                </a:solidFill>
                <a:latin typeface="Consolas"/>
              </a:rPr>
              <a:t>public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34D399"/>
                </a:solidFill>
                <a:latin typeface="Consolas"/>
              </a:rPr>
              <a:t>State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calculate</a:t>
            </a:r>
            <a:r>
              <a:rPr sz="850">
                <a:solidFill>
                  <a:srgbClr val="E6EDF8"/>
                </a:solidFill>
                <a:latin typeface="Consolas"/>
              </a:rPr>
              <a:t>(</a:t>
            </a:r>
            <a:r>
              <a:rPr sz="850">
                <a:solidFill>
                  <a:srgbClr val="A78BFA"/>
                </a:solidFill>
                <a:latin typeface="Consolas"/>
              </a:rPr>
              <a:t>double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t</a:t>
            </a:r>
            <a:r>
              <a:rPr sz="850">
                <a:solidFill>
                  <a:srgbClr val="E6EDF8"/>
                </a:solidFill>
                <a:latin typeface="Consolas"/>
              </a:rPr>
              <a:t>)</a:t>
            </a:r>
          </a:p>
          <a:p>
            <a:pPr algn="l">
              <a:lnSpc>
                <a:spcPct val="120000"/>
              </a:lnSpc>
            </a:pPr>
            <a:r>
              <a:rPr sz="850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850">
                <a:solidFill>
                  <a:srgbClr val="E6EDF8"/>
                </a:solidFill>
                <a:latin typeface="Consolas"/>
              </a:rPr>
              <a:t>    </a:t>
            </a:r>
            <a:r>
              <a:rPr sz="850">
                <a:solidFill>
                  <a:srgbClr val="A78BFA"/>
                </a:solidFill>
                <a:latin typeface="Consolas"/>
              </a:rPr>
              <a:t>if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(</a:t>
            </a:r>
            <a:r>
              <a:rPr sz="850">
                <a:solidFill>
                  <a:srgbClr val="E6EDF8"/>
                </a:solidFill>
                <a:latin typeface="Consolas"/>
              </a:rPr>
              <a:t>t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&lt;</a:t>
            </a:r>
            <a:r>
              <a:rPr sz="850">
                <a:solidFill>
                  <a:srgbClr val="E6EDF8"/>
                </a:solidFill>
                <a:latin typeface="Consolas"/>
              </a:rPr>
              <a:t>=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F472B6"/>
                </a:solidFill>
                <a:latin typeface="Consolas"/>
              </a:rPr>
              <a:t>0.0</a:t>
            </a:r>
            <a:r>
              <a:rPr sz="850">
                <a:solidFill>
                  <a:srgbClr val="E6EDF8"/>
                </a:solidFill>
                <a:latin typeface="Consolas"/>
              </a:rPr>
              <a:t>)</a:t>
            </a:r>
            <a:r>
              <a:rPr sz="850">
                <a:solidFill>
                  <a:srgbClr val="E6EDF8"/>
                </a:solidFill>
                <a:latin typeface="Consolas"/>
              </a:rPr>
              <a:t>        </a:t>
            </a:r>
            <a:r>
              <a:rPr sz="850">
                <a:solidFill>
                  <a:srgbClr val="A78BFA"/>
                </a:solidFill>
                <a:latin typeface="Consolas"/>
              </a:rPr>
              <a:t>return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A78BFA"/>
                </a:solidFill>
                <a:latin typeface="Consolas"/>
              </a:rPr>
              <a:t>new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34D399"/>
                </a:solidFill>
                <a:latin typeface="Consolas"/>
              </a:rPr>
              <a:t>State</a:t>
            </a:r>
            <a:r>
              <a:rPr sz="850">
                <a:solidFill>
                  <a:srgbClr val="E6EDF8"/>
                </a:solidFill>
                <a:latin typeface="Consolas"/>
              </a:rPr>
              <a:t>(</a:t>
            </a:r>
            <a:r>
              <a:rPr sz="850">
                <a:solidFill>
                  <a:srgbClr val="E6EDF8"/>
                </a:solidFill>
                <a:latin typeface="Consolas"/>
              </a:rPr>
              <a:t>startPosition</a:t>
            </a:r>
            <a:r>
              <a:rPr sz="850">
                <a:solidFill>
                  <a:srgbClr val="E6EDF8"/>
                </a:solidFill>
                <a:latin typeface="Consolas"/>
              </a:rPr>
              <a:t>,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F472B6"/>
                </a:solidFill>
                <a:latin typeface="Consolas"/>
              </a:rPr>
              <a:t>0.0</a:t>
            </a:r>
            <a:r>
              <a:rPr sz="850">
                <a:solidFill>
                  <a:srgbClr val="E6EDF8"/>
                </a:solidFill>
                <a:latin typeface="Consolas"/>
              </a:rPr>
              <a:t>,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F472B6"/>
                </a:solidFill>
                <a:latin typeface="Consolas"/>
              </a:rPr>
              <a:t>0.0</a:t>
            </a:r>
            <a:r>
              <a:rPr sz="850">
                <a:solidFill>
                  <a:srgbClr val="E6EDF8"/>
                </a:solidFill>
                <a:latin typeface="Consolas"/>
              </a:rPr>
              <a:t>)</a:t>
            </a:r>
            <a:r>
              <a:rPr sz="85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850">
                <a:solidFill>
                  <a:srgbClr val="E6EDF8"/>
                </a:solidFill>
                <a:latin typeface="Consolas"/>
              </a:rPr>
              <a:t>    </a:t>
            </a:r>
            <a:r>
              <a:rPr sz="850">
                <a:solidFill>
                  <a:srgbClr val="A78BFA"/>
                </a:solidFill>
                <a:latin typeface="Consolas"/>
              </a:rPr>
              <a:t>if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(</a:t>
            </a:r>
            <a:r>
              <a:rPr sz="850">
                <a:solidFill>
                  <a:srgbClr val="E6EDF8"/>
                </a:solidFill>
                <a:latin typeface="Consolas"/>
              </a:rPr>
              <a:t>t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&gt;</a:t>
            </a:r>
            <a:r>
              <a:rPr sz="850">
                <a:solidFill>
                  <a:srgbClr val="E6EDF8"/>
                </a:solidFill>
                <a:latin typeface="Consolas"/>
              </a:rPr>
              <a:t>=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totalTime</a:t>
            </a:r>
            <a:r>
              <a:rPr sz="850">
                <a:solidFill>
                  <a:srgbClr val="E6EDF8"/>
                </a:solidFill>
                <a:latin typeface="Consolas"/>
              </a:rPr>
              <a:t>)</a:t>
            </a:r>
            <a:r>
              <a:rPr sz="850">
                <a:solidFill>
                  <a:srgbClr val="E6EDF8"/>
                </a:solidFill>
                <a:latin typeface="Consolas"/>
              </a:rPr>
              <a:t>  </a:t>
            </a:r>
            <a:r>
              <a:rPr sz="850">
                <a:solidFill>
                  <a:srgbClr val="A78BFA"/>
                </a:solidFill>
                <a:latin typeface="Consolas"/>
              </a:rPr>
              <a:t>return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A78BFA"/>
                </a:solidFill>
                <a:latin typeface="Consolas"/>
              </a:rPr>
              <a:t>new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34D399"/>
                </a:solidFill>
                <a:latin typeface="Consolas"/>
              </a:rPr>
              <a:t>State</a:t>
            </a:r>
            <a:r>
              <a:rPr sz="850">
                <a:solidFill>
                  <a:srgbClr val="E6EDF8"/>
                </a:solidFill>
                <a:latin typeface="Consolas"/>
              </a:rPr>
              <a:t>(</a:t>
            </a:r>
            <a:r>
              <a:rPr sz="850">
                <a:solidFill>
                  <a:srgbClr val="E6EDF8"/>
                </a:solidFill>
                <a:latin typeface="Consolas"/>
              </a:rPr>
              <a:t>startPosition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+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delta</a:t>
            </a:r>
            <a:r>
              <a:rPr sz="850">
                <a:solidFill>
                  <a:srgbClr val="E6EDF8"/>
                </a:solidFill>
                <a:latin typeface="Consolas"/>
              </a:rPr>
              <a:t>,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F472B6"/>
                </a:solidFill>
                <a:latin typeface="Consolas"/>
              </a:rPr>
              <a:t>0.0</a:t>
            </a:r>
            <a:r>
              <a:rPr sz="850">
                <a:solidFill>
                  <a:srgbClr val="E6EDF8"/>
                </a:solidFill>
                <a:latin typeface="Consolas"/>
              </a:rPr>
              <a:t>,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F472B6"/>
                </a:solidFill>
                <a:latin typeface="Consolas"/>
              </a:rPr>
              <a:t>0.0</a:t>
            </a:r>
            <a:r>
              <a:rPr sz="850">
                <a:solidFill>
                  <a:srgbClr val="E6EDF8"/>
                </a:solidFill>
                <a:latin typeface="Consolas"/>
              </a:rPr>
              <a:t>)</a:t>
            </a:r>
            <a:r>
              <a:rPr sz="85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850">
                <a:solidFill>
                  <a:srgbClr val="E6EDF8"/>
                </a:solidFill>
                <a:latin typeface="Consolas"/>
              </a:rPr>
              <a:t>    </a:t>
            </a:r>
            <a:r>
              <a:rPr sz="850">
                <a:solidFill>
                  <a:srgbClr val="A78BFA"/>
                </a:solidFill>
                <a:latin typeface="Consolas"/>
              </a:rPr>
              <a:t>double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u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=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t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/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totalTime</a:t>
            </a:r>
            <a:r>
              <a:rPr sz="85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850">
                <a:solidFill>
                  <a:srgbClr val="E6EDF8"/>
                </a:solidFill>
                <a:latin typeface="Consolas"/>
              </a:rPr>
              <a:t>    </a:t>
            </a:r>
            <a:r>
              <a:rPr sz="850">
                <a:solidFill>
                  <a:srgbClr val="A78BFA"/>
                </a:solidFill>
                <a:latin typeface="Consolas"/>
              </a:rPr>
              <a:t>double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oneMinusU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=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F472B6"/>
                </a:solidFill>
                <a:latin typeface="Consolas"/>
              </a:rPr>
              <a:t>1.0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-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u</a:t>
            </a:r>
            <a:r>
              <a:rPr sz="85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850">
                <a:solidFill>
                  <a:srgbClr val="E6EDF8"/>
                </a:solidFill>
                <a:latin typeface="Consolas"/>
              </a:rPr>
              <a:t>    </a:t>
            </a:r>
            <a:r>
              <a:rPr sz="850">
                <a:solidFill>
                  <a:srgbClr val="A78BFA"/>
                </a:solidFill>
                <a:latin typeface="Consolas"/>
              </a:rPr>
              <a:t>double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position</a:t>
            </a:r>
            <a:r>
              <a:rPr sz="850">
                <a:solidFill>
                  <a:srgbClr val="E6EDF8"/>
                </a:solidFill>
                <a:latin typeface="Consolas"/>
              </a:rPr>
              <a:t>     </a:t>
            </a:r>
            <a:r>
              <a:rPr sz="850">
                <a:solidFill>
                  <a:srgbClr val="E6EDF8"/>
                </a:solidFill>
                <a:latin typeface="Consolas"/>
              </a:rPr>
              <a:t>=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startPosition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+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delta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*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u</a:t>
            </a:r>
            <a:r>
              <a:rPr sz="850">
                <a:solidFill>
                  <a:srgbClr val="E6EDF8"/>
                </a:solidFill>
                <a:latin typeface="Consolas"/>
              </a:rPr>
              <a:t>*</a:t>
            </a:r>
            <a:r>
              <a:rPr sz="850">
                <a:solidFill>
                  <a:srgbClr val="E6EDF8"/>
                </a:solidFill>
                <a:latin typeface="Consolas"/>
              </a:rPr>
              <a:t>u</a:t>
            </a:r>
            <a:r>
              <a:rPr sz="850">
                <a:solidFill>
                  <a:srgbClr val="E6EDF8"/>
                </a:solidFill>
                <a:latin typeface="Consolas"/>
              </a:rPr>
              <a:t>*</a:t>
            </a:r>
            <a:r>
              <a:rPr sz="850">
                <a:solidFill>
                  <a:srgbClr val="E6EDF8"/>
                </a:solidFill>
                <a:latin typeface="Consolas"/>
              </a:rPr>
              <a:t>u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*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(</a:t>
            </a:r>
            <a:r>
              <a:rPr sz="850">
                <a:solidFill>
                  <a:srgbClr val="F472B6"/>
                </a:solidFill>
                <a:latin typeface="Consolas"/>
              </a:rPr>
              <a:t>10.0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-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F472B6"/>
                </a:solidFill>
                <a:latin typeface="Consolas"/>
              </a:rPr>
              <a:t>15.0</a:t>
            </a:r>
            <a:r>
              <a:rPr sz="850">
                <a:solidFill>
                  <a:srgbClr val="E6EDF8"/>
                </a:solidFill>
                <a:latin typeface="Consolas"/>
              </a:rPr>
              <a:t>*</a:t>
            </a:r>
            <a:r>
              <a:rPr sz="850">
                <a:solidFill>
                  <a:srgbClr val="E6EDF8"/>
                </a:solidFill>
                <a:latin typeface="Consolas"/>
              </a:rPr>
              <a:t>u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+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F472B6"/>
                </a:solidFill>
                <a:latin typeface="Consolas"/>
              </a:rPr>
              <a:t>6.0</a:t>
            </a:r>
            <a:r>
              <a:rPr sz="850">
                <a:solidFill>
                  <a:srgbClr val="E6EDF8"/>
                </a:solidFill>
                <a:latin typeface="Consolas"/>
              </a:rPr>
              <a:t>*</a:t>
            </a:r>
            <a:r>
              <a:rPr sz="850">
                <a:solidFill>
                  <a:srgbClr val="E6EDF8"/>
                </a:solidFill>
                <a:latin typeface="Consolas"/>
              </a:rPr>
              <a:t>u</a:t>
            </a:r>
            <a:r>
              <a:rPr sz="850">
                <a:solidFill>
                  <a:srgbClr val="E6EDF8"/>
                </a:solidFill>
                <a:latin typeface="Consolas"/>
              </a:rPr>
              <a:t>*</a:t>
            </a:r>
            <a:r>
              <a:rPr sz="850">
                <a:solidFill>
                  <a:srgbClr val="E6EDF8"/>
                </a:solidFill>
                <a:latin typeface="Consolas"/>
              </a:rPr>
              <a:t>u</a:t>
            </a:r>
            <a:r>
              <a:rPr sz="850">
                <a:solidFill>
                  <a:srgbClr val="E6EDF8"/>
                </a:solidFill>
                <a:latin typeface="Consolas"/>
              </a:rPr>
              <a:t>)</a:t>
            </a:r>
            <a:r>
              <a:rPr sz="85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850">
                <a:solidFill>
                  <a:srgbClr val="E6EDF8"/>
                </a:solidFill>
                <a:latin typeface="Consolas"/>
              </a:rPr>
              <a:t>    </a:t>
            </a:r>
            <a:r>
              <a:rPr sz="850">
                <a:solidFill>
                  <a:srgbClr val="A78BFA"/>
                </a:solidFill>
                <a:latin typeface="Consolas"/>
              </a:rPr>
              <a:t>double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velocity</a:t>
            </a:r>
            <a:r>
              <a:rPr sz="850">
                <a:solidFill>
                  <a:srgbClr val="E6EDF8"/>
                </a:solidFill>
                <a:latin typeface="Consolas"/>
              </a:rPr>
              <a:t>     </a:t>
            </a:r>
            <a:r>
              <a:rPr sz="850">
                <a:solidFill>
                  <a:srgbClr val="E6EDF8"/>
                </a:solidFill>
                <a:latin typeface="Consolas"/>
              </a:rPr>
              <a:t>=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F472B6"/>
                </a:solidFill>
                <a:latin typeface="Consolas"/>
              </a:rPr>
              <a:t>30.0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*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delta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/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totalTime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*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u</a:t>
            </a:r>
            <a:r>
              <a:rPr sz="850">
                <a:solidFill>
                  <a:srgbClr val="E6EDF8"/>
                </a:solidFill>
                <a:latin typeface="Consolas"/>
              </a:rPr>
              <a:t>*</a:t>
            </a:r>
            <a:r>
              <a:rPr sz="850">
                <a:solidFill>
                  <a:srgbClr val="E6EDF8"/>
                </a:solidFill>
                <a:latin typeface="Consolas"/>
              </a:rPr>
              <a:t>u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*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oneMinusU</a:t>
            </a:r>
            <a:r>
              <a:rPr sz="850">
                <a:solidFill>
                  <a:srgbClr val="E6EDF8"/>
                </a:solidFill>
                <a:latin typeface="Consolas"/>
              </a:rPr>
              <a:t>*</a:t>
            </a:r>
            <a:r>
              <a:rPr sz="850">
                <a:solidFill>
                  <a:srgbClr val="E6EDF8"/>
                </a:solidFill>
                <a:latin typeface="Consolas"/>
              </a:rPr>
              <a:t>oneMinusU</a:t>
            </a:r>
            <a:r>
              <a:rPr sz="85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850">
                <a:solidFill>
                  <a:srgbClr val="E6EDF8"/>
                </a:solidFill>
                <a:latin typeface="Consolas"/>
              </a:rPr>
              <a:t>    </a:t>
            </a:r>
            <a:r>
              <a:rPr sz="850">
                <a:solidFill>
                  <a:srgbClr val="A78BFA"/>
                </a:solidFill>
                <a:latin typeface="Consolas"/>
              </a:rPr>
              <a:t>double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acceleration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=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F472B6"/>
                </a:solidFill>
                <a:latin typeface="Consolas"/>
              </a:rPr>
              <a:t>60.0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*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delta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/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(</a:t>
            </a:r>
            <a:r>
              <a:rPr sz="850">
                <a:solidFill>
                  <a:srgbClr val="E6EDF8"/>
                </a:solidFill>
                <a:latin typeface="Consolas"/>
              </a:rPr>
              <a:t>totalTime</a:t>
            </a:r>
            <a:r>
              <a:rPr sz="850">
                <a:solidFill>
                  <a:srgbClr val="E6EDF8"/>
                </a:solidFill>
                <a:latin typeface="Consolas"/>
              </a:rPr>
              <a:t>*</a:t>
            </a:r>
            <a:r>
              <a:rPr sz="850">
                <a:solidFill>
                  <a:srgbClr val="E6EDF8"/>
                </a:solidFill>
                <a:latin typeface="Consolas"/>
              </a:rPr>
              <a:t>totalTime</a:t>
            </a:r>
            <a:r>
              <a:rPr sz="850">
                <a:solidFill>
                  <a:srgbClr val="E6EDF8"/>
                </a:solidFill>
                <a:latin typeface="Consolas"/>
              </a:rPr>
              <a:t>)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*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u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*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oneMinusU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*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(</a:t>
            </a:r>
            <a:r>
              <a:rPr sz="850">
                <a:solidFill>
                  <a:srgbClr val="F472B6"/>
                </a:solidFill>
                <a:latin typeface="Consolas"/>
              </a:rPr>
              <a:t>1.0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-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F472B6"/>
                </a:solidFill>
                <a:latin typeface="Consolas"/>
              </a:rPr>
              <a:t>2.0</a:t>
            </a:r>
            <a:r>
              <a:rPr sz="850">
                <a:solidFill>
                  <a:srgbClr val="E6EDF8"/>
                </a:solidFill>
                <a:latin typeface="Consolas"/>
              </a:rPr>
              <a:t>*</a:t>
            </a:r>
            <a:r>
              <a:rPr sz="850">
                <a:solidFill>
                  <a:srgbClr val="E6EDF8"/>
                </a:solidFill>
                <a:latin typeface="Consolas"/>
              </a:rPr>
              <a:t>u</a:t>
            </a:r>
            <a:r>
              <a:rPr sz="850">
                <a:solidFill>
                  <a:srgbClr val="E6EDF8"/>
                </a:solidFill>
                <a:latin typeface="Consolas"/>
              </a:rPr>
              <a:t>)</a:t>
            </a:r>
            <a:r>
              <a:rPr sz="85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850">
                <a:solidFill>
                  <a:srgbClr val="E6EDF8"/>
                </a:solidFill>
                <a:latin typeface="Consolas"/>
              </a:rPr>
              <a:t>    </a:t>
            </a:r>
            <a:r>
              <a:rPr sz="850">
                <a:solidFill>
                  <a:srgbClr val="A78BFA"/>
                </a:solidFill>
                <a:latin typeface="Consolas"/>
              </a:rPr>
              <a:t>return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A78BFA"/>
                </a:solidFill>
                <a:latin typeface="Consolas"/>
              </a:rPr>
              <a:t>new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34D399"/>
                </a:solidFill>
                <a:latin typeface="Consolas"/>
              </a:rPr>
              <a:t>State</a:t>
            </a:r>
            <a:r>
              <a:rPr sz="850">
                <a:solidFill>
                  <a:srgbClr val="E6EDF8"/>
                </a:solidFill>
                <a:latin typeface="Consolas"/>
              </a:rPr>
              <a:t>(</a:t>
            </a:r>
            <a:r>
              <a:rPr sz="850">
                <a:solidFill>
                  <a:srgbClr val="E6EDF8"/>
                </a:solidFill>
                <a:latin typeface="Consolas"/>
              </a:rPr>
              <a:t>position</a:t>
            </a:r>
            <a:r>
              <a:rPr sz="850">
                <a:solidFill>
                  <a:srgbClr val="E6EDF8"/>
                </a:solidFill>
                <a:latin typeface="Consolas"/>
              </a:rPr>
              <a:t>,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velocity</a:t>
            </a:r>
            <a:r>
              <a:rPr sz="850">
                <a:solidFill>
                  <a:srgbClr val="E6EDF8"/>
                </a:solidFill>
                <a:latin typeface="Consolas"/>
              </a:rPr>
              <a:t>,</a:t>
            </a:r>
            <a:r>
              <a:rPr sz="850">
                <a:solidFill>
                  <a:srgbClr val="E6EDF8"/>
                </a:solidFill>
                <a:latin typeface="Consolas"/>
              </a:rPr>
              <a:t> </a:t>
            </a:r>
            <a:r>
              <a:rPr sz="850">
                <a:solidFill>
                  <a:srgbClr val="E6EDF8"/>
                </a:solidFill>
                <a:latin typeface="Consolas"/>
              </a:rPr>
              <a:t>acceleration</a:t>
            </a:r>
            <a:r>
              <a:rPr sz="850">
                <a:solidFill>
                  <a:srgbClr val="E6EDF8"/>
                </a:solidFill>
                <a:latin typeface="Consolas"/>
              </a:rPr>
              <a:t>)</a:t>
            </a:r>
            <a:r>
              <a:rPr sz="85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850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" y="1856232"/>
            <a:ext cx="1640433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SCurveProfile.java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526280"/>
            <a:ext cx="5257800" cy="118872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4654296"/>
            <a:ext cx="50292" cy="93268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09160"/>
            <a:ext cx="47823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34D399"/>
                </a:solidFill>
                <a:latin typeface="Segoe UI"/>
              </a:rPr>
              <a:t>Mesma interface do TrapezoidProfile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056632"/>
            <a:ext cx="478231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Constraints, State, calculate(t), isFinished(t). Trocar um pelo outro no comando são duas linhas.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526280"/>
            <a:ext cx="5257800" cy="118872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654296"/>
            <a:ext cx="50292" cy="932688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709160"/>
            <a:ext cx="47823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38D9F0"/>
                </a:solidFill>
                <a:latin typeface="Segoe UI"/>
              </a:rPr>
              <a:t>State carrega a aceleração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056632"/>
            <a:ext cx="478231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O TrapezoidProfile não devolve. E é ela que alimenta o termo ka do feedforward.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O PREÇO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Maciez custa tempo — e é bom saber quanto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A curva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10789920" cy="2697480"/>
          </a:xfrm>
          <a:prstGeom prst="roundRect">
            <a:avLst>
              <a:gd name="adj" fmla="val 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344168" y="2368296"/>
            <a:ext cx="0" cy="1911096"/>
          </a:xfrm>
          <a:prstGeom prst="line">
            <a:avLst/>
          </a:prstGeom>
          <a:ln w="1397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44168" y="4279392"/>
            <a:ext cx="9930384" cy="0"/>
          </a:xfrm>
          <a:prstGeom prst="line">
            <a:avLst/>
          </a:prstGeom>
          <a:ln w="1397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2020824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3A6C4"/>
                </a:solidFill>
                <a:latin typeface="Consolas"/>
              </a:rPr>
              <a:t>v (mm/s)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80160" y="2686811"/>
            <a:ext cx="64008" cy="0"/>
          </a:xfrm>
          <a:prstGeom prst="line">
            <a:avLst/>
          </a:prstGeom>
          <a:ln w="1270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2604516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5A6C8A"/>
                </a:solidFill>
                <a:latin typeface="Consolas"/>
              </a:rPr>
              <a:t>300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82924" y="4279392"/>
            <a:ext cx="0" cy="64008"/>
          </a:xfrm>
          <a:prstGeom prst="line">
            <a:avLst/>
          </a:prstGeom>
          <a:ln w="1270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62884" y="4361688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A6C8A"/>
                </a:solidFill>
                <a:latin typeface="Consolas"/>
              </a:rPr>
              <a:t>1.50 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892614" y="4279392"/>
            <a:ext cx="0" cy="64008"/>
          </a:xfrm>
          <a:prstGeom prst="line">
            <a:avLst/>
          </a:prstGeom>
          <a:ln w="12700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572574" y="4361688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A6C8A"/>
                </a:solidFill>
                <a:latin typeface="Consolas"/>
              </a:rPr>
              <a:t>1.88 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44168" y="2686811"/>
            <a:ext cx="9930384" cy="0"/>
          </a:xfrm>
          <a:prstGeom prst="line">
            <a:avLst/>
          </a:prstGeom>
          <a:ln w="12700">
            <a:solidFill>
              <a:srgbClr val="5A6C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reeform 18"/>
          <p:cNvSpPr/>
          <p:nvPr/>
        </p:nvSpPr>
        <p:spPr>
          <a:xfrm>
            <a:off x="1344168" y="2686812"/>
            <a:ext cx="9930384" cy="1592580"/>
          </a:xfrm>
          <a:custGeom>
            <a:avLst/>
            <a:gdLst/>
            <a:ahLst/>
            <a:cxnLst/>
            <a:rect l="l" t="t" r="r" b="b"/>
            <a:pathLst>
              <a:path w="9930384" h="1592580">
                <a:moveTo>
                  <a:pt x="0" y="1592580"/>
                </a:moveTo>
                <a:lnTo>
                  <a:pt x="2546252" y="0"/>
                </a:lnTo>
                <a:lnTo>
                  <a:pt x="5092505" y="0"/>
                </a:lnTo>
                <a:lnTo>
                  <a:pt x="7638757" y="1592580"/>
                </a:lnTo>
                <a:lnTo>
                  <a:pt x="9930384" y="1592580"/>
                </a:lnTo>
              </a:path>
            </a:pathLst>
          </a:custGeom>
          <a:noFill/>
          <a:ln w="22860">
            <a:solidFill>
              <a:srgbClr val="5A6C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344168" y="2686879"/>
            <a:ext cx="9930384" cy="1592513"/>
          </a:xfrm>
          <a:custGeom>
            <a:avLst/>
            <a:gdLst/>
            <a:ahLst/>
            <a:cxnLst/>
            <a:rect l="l" t="t" r="r" b="b"/>
            <a:pathLst>
              <a:path w="9930384" h="1592513">
                <a:moveTo>
                  <a:pt x="0" y="1592513"/>
                </a:moveTo>
                <a:lnTo>
                  <a:pt x="70931" y="1591128"/>
                </a:lnTo>
                <a:lnTo>
                  <a:pt x="141863" y="1587054"/>
                </a:lnTo>
                <a:lnTo>
                  <a:pt x="212794" y="1580415"/>
                </a:lnTo>
                <a:lnTo>
                  <a:pt x="283725" y="1571332"/>
                </a:lnTo>
                <a:lnTo>
                  <a:pt x="354657" y="1559922"/>
                </a:lnTo>
                <a:lnTo>
                  <a:pt x="425588" y="1546304"/>
                </a:lnTo>
                <a:lnTo>
                  <a:pt x="496519" y="1530591"/>
                </a:lnTo>
                <a:lnTo>
                  <a:pt x="567451" y="1512898"/>
                </a:lnTo>
                <a:lnTo>
                  <a:pt x="638382" y="1493336"/>
                </a:lnTo>
                <a:lnTo>
                  <a:pt x="709313" y="1472013"/>
                </a:lnTo>
                <a:lnTo>
                  <a:pt x="780244" y="1449039"/>
                </a:lnTo>
                <a:lnTo>
                  <a:pt x="851176" y="1424519"/>
                </a:lnTo>
                <a:lnTo>
                  <a:pt x="922107" y="1398556"/>
                </a:lnTo>
                <a:lnTo>
                  <a:pt x="993038" y="1371252"/>
                </a:lnTo>
                <a:lnTo>
                  <a:pt x="1063970" y="1342709"/>
                </a:lnTo>
                <a:lnTo>
                  <a:pt x="1134901" y="1313024"/>
                </a:lnTo>
                <a:lnTo>
                  <a:pt x="1205832" y="1282294"/>
                </a:lnTo>
                <a:lnTo>
                  <a:pt x="1276764" y="1250613"/>
                </a:lnTo>
                <a:lnTo>
                  <a:pt x="1347695" y="1218074"/>
                </a:lnTo>
                <a:lnTo>
                  <a:pt x="1418626" y="1184768"/>
                </a:lnTo>
                <a:lnTo>
                  <a:pt x="1489558" y="1150785"/>
                </a:lnTo>
                <a:lnTo>
                  <a:pt x="1560489" y="1116210"/>
                </a:lnTo>
                <a:lnTo>
                  <a:pt x="1631420" y="1081130"/>
                </a:lnTo>
                <a:lnTo>
                  <a:pt x="1702352" y="1045628"/>
                </a:lnTo>
                <a:lnTo>
                  <a:pt x="1773283" y="1009786"/>
                </a:lnTo>
                <a:lnTo>
                  <a:pt x="1844214" y="973682"/>
                </a:lnTo>
                <a:lnTo>
                  <a:pt x="1915145" y="937396"/>
                </a:lnTo>
                <a:lnTo>
                  <a:pt x="1986077" y="901003"/>
                </a:lnTo>
                <a:lnTo>
                  <a:pt x="2057008" y="864578"/>
                </a:lnTo>
                <a:lnTo>
                  <a:pt x="2127939" y="828192"/>
                </a:lnTo>
                <a:lnTo>
                  <a:pt x="2198871" y="791915"/>
                </a:lnTo>
                <a:lnTo>
                  <a:pt x="2269802" y="755818"/>
                </a:lnTo>
                <a:lnTo>
                  <a:pt x="2340733" y="719965"/>
                </a:lnTo>
                <a:lnTo>
                  <a:pt x="2411665" y="684423"/>
                </a:lnTo>
                <a:lnTo>
                  <a:pt x="2482596" y="649253"/>
                </a:lnTo>
                <a:lnTo>
                  <a:pt x="2553527" y="614518"/>
                </a:lnTo>
                <a:lnTo>
                  <a:pt x="2624459" y="580275"/>
                </a:lnTo>
                <a:lnTo>
                  <a:pt x="2695390" y="546584"/>
                </a:lnTo>
                <a:lnTo>
                  <a:pt x="2766321" y="513499"/>
                </a:lnTo>
                <a:lnTo>
                  <a:pt x="2837253" y="481073"/>
                </a:lnTo>
                <a:lnTo>
                  <a:pt x="2908184" y="449359"/>
                </a:lnTo>
                <a:lnTo>
                  <a:pt x="2979115" y="418407"/>
                </a:lnTo>
                <a:lnTo>
                  <a:pt x="3050047" y="388264"/>
                </a:lnTo>
                <a:lnTo>
                  <a:pt x="3120978" y="358977"/>
                </a:lnTo>
                <a:lnTo>
                  <a:pt x="3191909" y="330591"/>
                </a:lnTo>
                <a:lnTo>
                  <a:pt x="3262840" y="303147"/>
                </a:lnTo>
                <a:lnTo>
                  <a:pt x="3333772" y="276686"/>
                </a:lnTo>
                <a:lnTo>
                  <a:pt x="3404703" y="251247"/>
                </a:lnTo>
                <a:lnTo>
                  <a:pt x="3475634" y="226867"/>
                </a:lnTo>
                <a:lnTo>
                  <a:pt x="3546566" y="203581"/>
                </a:lnTo>
                <a:lnTo>
                  <a:pt x="3617497" y="181421"/>
                </a:lnTo>
                <a:lnTo>
                  <a:pt x="3688428" y="160421"/>
                </a:lnTo>
                <a:lnTo>
                  <a:pt x="3759360" y="140608"/>
                </a:lnTo>
                <a:lnTo>
                  <a:pt x="3830291" y="122010"/>
                </a:lnTo>
                <a:lnTo>
                  <a:pt x="3901222" y="104654"/>
                </a:lnTo>
                <a:lnTo>
                  <a:pt x="3972154" y="88562"/>
                </a:lnTo>
                <a:lnTo>
                  <a:pt x="4043085" y="73758"/>
                </a:lnTo>
                <a:lnTo>
                  <a:pt x="4114016" y="60260"/>
                </a:lnTo>
                <a:lnTo>
                  <a:pt x="4184948" y="48088"/>
                </a:lnTo>
                <a:lnTo>
                  <a:pt x="4255879" y="37258"/>
                </a:lnTo>
                <a:lnTo>
                  <a:pt x="4326810" y="27783"/>
                </a:lnTo>
                <a:lnTo>
                  <a:pt x="4397741" y="19678"/>
                </a:lnTo>
                <a:lnTo>
                  <a:pt x="4468673" y="12953"/>
                </a:lnTo>
                <a:lnTo>
                  <a:pt x="4539604" y="7616"/>
                </a:lnTo>
                <a:lnTo>
                  <a:pt x="4610535" y="3675"/>
                </a:lnTo>
                <a:lnTo>
                  <a:pt x="4681467" y="1135"/>
                </a:lnTo>
                <a:lnTo>
                  <a:pt x="4752398" y="0"/>
                </a:lnTo>
                <a:lnTo>
                  <a:pt x="4823329" y="270"/>
                </a:lnTo>
                <a:lnTo>
                  <a:pt x="4894261" y="1946"/>
                </a:lnTo>
                <a:lnTo>
                  <a:pt x="4965192" y="5025"/>
                </a:lnTo>
                <a:lnTo>
                  <a:pt x="5036123" y="9504"/>
                </a:lnTo>
                <a:lnTo>
                  <a:pt x="5107055" y="15376"/>
                </a:lnTo>
                <a:lnTo>
                  <a:pt x="5177986" y="22633"/>
                </a:lnTo>
                <a:lnTo>
                  <a:pt x="5248917" y="31266"/>
                </a:lnTo>
                <a:lnTo>
                  <a:pt x="5319849" y="41263"/>
                </a:lnTo>
                <a:lnTo>
                  <a:pt x="5390780" y="52612"/>
                </a:lnTo>
                <a:lnTo>
                  <a:pt x="5461711" y="65296"/>
                </a:lnTo>
                <a:lnTo>
                  <a:pt x="5532643" y="79298"/>
                </a:lnTo>
                <a:lnTo>
                  <a:pt x="5603574" y="94600"/>
                </a:lnTo>
                <a:lnTo>
                  <a:pt x="5674505" y="111181"/>
                </a:lnTo>
                <a:lnTo>
                  <a:pt x="5745436" y="129018"/>
                </a:lnTo>
                <a:lnTo>
                  <a:pt x="5816368" y="148086"/>
                </a:lnTo>
                <a:lnTo>
                  <a:pt x="5887299" y="168359"/>
                </a:lnTo>
                <a:lnTo>
                  <a:pt x="5958230" y="189809"/>
                </a:lnTo>
                <a:lnTo>
                  <a:pt x="6029162" y="212405"/>
                </a:lnTo>
                <a:lnTo>
                  <a:pt x="6100093" y="236116"/>
                </a:lnTo>
                <a:lnTo>
                  <a:pt x="6171024" y="260908"/>
                </a:lnTo>
                <a:lnTo>
                  <a:pt x="6241956" y="286744"/>
                </a:lnTo>
                <a:lnTo>
                  <a:pt x="6312887" y="313588"/>
                </a:lnTo>
                <a:lnTo>
                  <a:pt x="6383818" y="341399"/>
                </a:lnTo>
                <a:lnTo>
                  <a:pt x="6454750" y="370137"/>
                </a:lnTo>
                <a:lnTo>
                  <a:pt x="6525681" y="399759"/>
                </a:lnTo>
                <a:lnTo>
                  <a:pt x="6596612" y="430219"/>
                </a:lnTo>
                <a:lnTo>
                  <a:pt x="6667544" y="461470"/>
                </a:lnTo>
                <a:lnTo>
                  <a:pt x="6738475" y="493463"/>
                </a:lnTo>
                <a:lnTo>
                  <a:pt x="6809406" y="526149"/>
                </a:lnTo>
                <a:lnTo>
                  <a:pt x="6880337" y="559473"/>
                </a:lnTo>
                <a:lnTo>
                  <a:pt x="6951269" y="593383"/>
                </a:lnTo>
                <a:lnTo>
                  <a:pt x="7022200" y="627822"/>
                </a:lnTo>
                <a:lnTo>
                  <a:pt x="7093131" y="662732"/>
                </a:lnTo>
                <a:lnTo>
                  <a:pt x="7164063" y="698052"/>
                </a:lnTo>
                <a:lnTo>
                  <a:pt x="7234994" y="733721"/>
                </a:lnTo>
                <a:lnTo>
                  <a:pt x="7305925" y="769676"/>
                </a:lnTo>
                <a:lnTo>
                  <a:pt x="7376857" y="805850"/>
                </a:lnTo>
                <a:lnTo>
                  <a:pt x="7447788" y="842177"/>
                </a:lnTo>
                <a:lnTo>
                  <a:pt x="7518719" y="878587"/>
                </a:lnTo>
                <a:lnTo>
                  <a:pt x="7589651" y="915008"/>
                </a:lnTo>
                <a:lnTo>
                  <a:pt x="7660582" y="951369"/>
                </a:lnTo>
                <a:lnTo>
                  <a:pt x="7731513" y="987594"/>
                </a:lnTo>
                <a:lnTo>
                  <a:pt x="7802445" y="1023606"/>
                </a:lnTo>
                <a:lnTo>
                  <a:pt x="7873376" y="1059327"/>
                </a:lnTo>
                <a:lnTo>
                  <a:pt x="7944307" y="1094677"/>
                </a:lnTo>
                <a:lnTo>
                  <a:pt x="8015239" y="1129572"/>
                </a:lnTo>
                <a:lnTo>
                  <a:pt x="8086170" y="1163930"/>
                </a:lnTo>
                <a:lnTo>
                  <a:pt x="8157101" y="1197663"/>
                </a:lnTo>
                <a:lnTo>
                  <a:pt x="8228032" y="1230685"/>
                </a:lnTo>
                <a:lnTo>
                  <a:pt x="8298964" y="1262904"/>
                </a:lnTo>
                <a:lnTo>
                  <a:pt x="8369895" y="1294231"/>
                </a:lnTo>
                <a:lnTo>
                  <a:pt x="8440826" y="1324570"/>
                </a:lnTo>
                <a:lnTo>
                  <a:pt x="8511758" y="1353828"/>
                </a:lnTo>
                <a:lnTo>
                  <a:pt x="8582689" y="1381906"/>
                </a:lnTo>
                <a:lnTo>
                  <a:pt x="8653620" y="1408706"/>
                </a:lnTo>
                <a:lnTo>
                  <a:pt x="8724552" y="1434126"/>
                </a:lnTo>
                <a:lnTo>
                  <a:pt x="8795483" y="1458064"/>
                </a:lnTo>
                <a:lnTo>
                  <a:pt x="8866414" y="1480416"/>
                </a:lnTo>
                <a:lnTo>
                  <a:pt x="8937346" y="1501074"/>
                </a:lnTo>
                <a:lnTo>
                  <a:pt x="9008277" y="1519930"/>
                </a:lnTo>
                <a:lnTo>
                  <a:pt x="9079208" y="1536875"/>
                </a:lnTo>
                <a:lnTo>
                  <a:pt x="9150140" y="1551796"/>
                </a:lnTo>
                <a:lnTo>
                  <a:pt x="9221071" y="1564578"/>
                </a:lnTo>
                <a:lnTo>
                  <a:pt x="9292002" y="1575107"/>
                </a:lnTo>
                <a:lnTo>
                  <a:pt x="9362933" y="1583265"/>
                </a:lnTo>
                <a:lnTo>
                  <a:pt x="9433865" y="1588931"/>
                </a:lnTo>
                <a:lnTo>
                  <a:pt x="9504796" y="1591985"/>
                </a:lnTo>
                <a:lnTo>
                  <a:pt x="9575727" y="1592513"/>
                </a:lnTo>
                <a:lnTo>
                  <a:pt x="9646659" y="1592513"/>
                </a:lnTo>
                <a:lnTo>
                  <a:pt x="9717590" y="1592513"/>
                </a:lnTo>
                <a:lnTo>
                  <a:pt x="9788521" y="1592513"/>
                </a:lnTo>
                <a:lnTo>
                  <a:pt x="9859453" y="1592513"/>
                </a:lnTo>
                <a:lnTo>
                  <a:pt x="9930384" y="1592513"/>
                </a:lnTo>
              </a:path>
            </a:pathLst>
          </a:custGeom>
          <a:noFill/>
          <a:ln w="3556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847" y="2356484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C8A"/>
                </a:solidFill>
                <a:latin typeface="Segoe UI"/>
              </a:rPr>
              <a:t>cruzeiro: o trapézio fica no teto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2511" y="3391661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BBF24"/>
                </a:solidFill>
                <a:latin typeface="Segoe UI"/>
              </a:rPr>
              <a:t>o quíntico só TOCA o teto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878324"/>
            <a:ext cx="237744" cy="68580"/>
          </a:xfrm>
          <a:prstGeom prst="rect">
            <a:avLst/>
          </a:prstGeom>
          <a:solidFill>
            <a:srgbClr val="5A6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828032"/>
            <a:ext cx="13972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trapézio  1.50 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85923" y="4878324"/>
            <a:ext cx="237744" cy="685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05963" y="4828032"/>
            <a:ext cx="196047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curva S  1.88 s  (+25%)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349240"/>
            <a:ext cx="1078992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5586983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9304" y="5440679"/>
            <a:ext cx="9966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O quíntico não tem fase de velocidade constante: a média é 53% do pico. Curso curto (atirador, garra, elevador) não se nota; atravessar o campo, nota.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0" y="1325880"/>
            <a:ext cx="29260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0" b="1" i="0">
                <a:solidFill>
                  <a:srgbClr val="1E2E4A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3957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4D399"/>
                </a:solidFill>
                <a:latin typeface="Segoe UI"/>
              </a:rPr>
              <a:t>PARTE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0"/>
            <a:ext cx="9509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No robô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703320"/>
            <a:ext cx="8961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93A6C4"/>
                </a:solidFill>
                <a:latin typeface="Segoe UI"/>
              </a:rPr>
              <a:t>Quem calcula o perfil, quem fecha a malha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4526280"/>
            <a:ext cx="1323136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arquitetura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7032" y="4526280"/>
            <a:ext cx="1323136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feedforward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8185" y="4526280"/>
            <a:ext cx="1589227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os três botões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5428" y="4526280"/>
            <a:ext cx="1411833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o que plotar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comando planeja, o subsystem executa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No robô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5257800" cy="2286000"/>
          </a:xfrm>
          <a:prstGeom prst="roundRect">
            <a:avLst>
              <a:gd name="adj" fmla="val 6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39696"/>
            <a:ext cx="50292" cy="20299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94560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BBF24"/>
                </a:solidFill>
                <a:latin typeface="Segoe UI"/>
              </a:rPr>
              <a:t>COMANDO  —  dono do plano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060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504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>
                <a:solidFill>
                  <a:srgbClr val="E6EDF8"/>
                </a:solidFill>
                <a:latin typeface="Segoe UI"/>
              </a:rPr>
              <a:t>monta o perfil no initialize()</a:t>
            </a:r>
          </a:p>
          <a:p>
            <a:pPr>
              <a:lnSpc>
                <a:spcPct val="118000"/>
              </a:lnSpc>
              <a:spcAft>
                <a:spcPts val="504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>
                <a:solidFill>
                  <a:srgbClr val="E6EDF8"/>
                </a:solidFill>
                <a:latin typeface="Segoe UI"/>
              </a:rPr>
              <a:t>conta o tempo com um Timer</a:t>
            </a:r>
          </a:p>
          <a:p>
            <a:pPr>
              <a:lnSpc>
                <a:spcPct val="118000"/>
              </a:lnSpc>
              <a:spcAft>
                <a:spcPts val="504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>
                <a:solidFill>
                  <a:srgbClr val="E6EDF8"/>
                </a:solidFill>
                <a:latin typeface="Segoe UI"/>
              </a:rPr>
              <a:t>a cada ciclo: calculate(t)</a:t>
            </a:r>
          </a:p>
          <a:p>
            <a:pPr>
              <a:lnSpc>
                <a:spcPct val="118000"/>
              </a:lnSpc>
              <a:spcAft>
                <a:spcPts val="504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>
                <a:solidFill>
                  <a:srgbClr val="E6EDF8"/>
                </a:solidFill>
                <a:latin typeface="Segoe UI"/>
              </a:rPr>
              <a:t>entrega s, v, a ao subsystem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5257800" cy="2286000"/>
          </a:xfrm>
          <a:prstGeom prst="roundRect">
            <a:avLst>
              <a:gd name="adj" fmla="val 6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139696"/>
            <a:ext cx="50292" cy="202996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34D399"/>
                </a:solidFill>
                <a:latin typeface="Segoe UI"/>
              </a:rPr>
              <a:t>SUBSYSTEM  —  dono da malha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060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504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>
                <a:solidFill>
                  <a:srgbClr val="E6EDF8"/>
                </a:solidFill>
                <a:latin typeface="Segoe UI"/>
              </a:rPr>
              <a:t>feedforward + PID → volts</a:t>
            </a:r>
          </a:p>
          <a:p>
            <a:pPr>
              <a:lnSpc>
                <a:spcPct val="118000"/>
              </a:lnSpc>
              <a:spcAft>
                <a:spcPts val="504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>
                <a:solidFill>
                  <a:srgbClr val="E6EDF8"/>
                </a:solidFill>
                <a:latin typeface="Segoe UI"/>
              </a:rPr>
              <a:t>setVoltage() compensa a bateria</a:t>
            </a:r>
          </a:p>
          <a:p>
            <a:pPr>
              <a:lnSpc>
                <a:spcPct val="118000"/>
              </a:lnSpc>
              <a:spcAft>
                <a:spcPts val="504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>
                <a:solidFill>
                  <a:srgbClr val="E6EDF8"/>
                </a:solidFill>
                <a:latin typeface="Segoe UI"/>
              </a:rPr>
              <a:t>clamp em kPositionMaxVolts</a:t>
            </a:r>
          </a:p>
          <a:p>
            <a:pPr>
              <a:lnSpc>
                <a:spcPct val="118000"/>
              </a:lnSpc>
              <a:spcAft>
                <a:spcPts val="504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>
                <a:solidFill>
                  <a:srgbClr val="E6EDF8"/>
                </a:solidFill>
                <a:latin typeface="Segoe UI"/>
              </a:rPr>
              <a:t>segura a posição no periodic()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788152" y="3063240"/>
            <a:ext cx="384048" cy="274320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4572000"/>
            <a:ext cx="10789920" cy="68580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lnSpc>
                <a:spcPct val="132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perfil (s, v, a)  →  feedforward.calculate(v, a) + pid.calculate(medido, s)  →  volts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559552"/>
            <a:ext cx="1078992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579729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" y="5650992"/>
            <a:ext cx="9966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Trocar degrau por trapézio por curva S não mexe uma linha no subsystem. É o teste de que a separação está certa.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FEEDFORWARD + PID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perfil só rende se alguém antecipar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No robô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10789920" cy="137160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152">
                <a:solidFill>
                  <a:srgbClr val="A78BFA"/>
                </a:solidFill>
                <a:latin typeface="Consolas"/>
              </a:rPr>
              <a:t>public</a:t>
            </a:r>
            <a:r>
              <a:rPr sz="1152">
                <a:solidFill>
                  <a:srgbClr val="E6EDF8"/>
                </a:solidFill>
                <a:latin typeface="Consolas"/>
              </a:rPr>
              <a:t> </a:t>
            </a:r>
            <a:r>
              <a:rPr sz="1152">
                <a:solidFill>
                  <a:srgbClr val="A78BFA"/>
                </a:solidFill>
                <a:latin typeface="Consolas"/>
              </a:rPr>
              <a:t>void</a:t>
            </a:r>
            <a:r>
              <a:rPr sz="1152">
                <a:solidFill>
                  <a:srgbClr val="E6EDF8"/>
                </a:solidFill>
                <a:latin typeface="Consolas"/>
              </a:rPr>
              <a:t> </a:t>
            </a:r>
            <a:r>
              <a:rPr sz="1152">
                <a:solidFill>
                  <a:srgbClr val="E6EDF8"/>
                </a:solidFill>
                <a:latin typeface="Consolas"/>
              </a:rPr>
              <a:t>followSetpoint</a:t>
            </a:r>
            <a:r>
              <a:rPr sz="1152">
                <a:solidFill>
                  <a:srgbClr val="E6EDF8"/>
                </a:solidFill>
                <a:latin typeface="Consolas"/>
              </a:rPr>
              <a:t>(</a:t>
            </a:r>
            <a:r>
              <a:rPr sz="1152">
                <a:solidFill>
                  <a:srgbClr val="A78BFA"/>
                </a:solidFill>
                <a:latin typeface="Consolas"/>
              </a:rPr>
              <a:t>double</a:t>
            </a:r>
            <a:r>
              <a:rPr sz="1152">
                <a:solidFill>
                  <a:srgbClr val="E6EDF8"/>
                </a:solidFill>
                <a:latin typeface="Consolas"/>
              </a:rPr>
              <a:t> </a:t>
            </a:r>
            <a:r>
              <a:rPr sz="1152">
                <a:solidFill>
                  <a:srgbClr val="E6EDF8"/>
                </a:solidFill>
                <a:latin typeface="Consolas"/>
              </a:rPr>
              <a:t>positionMM</a:t>
            </a:r>
            <a:r>
              <a:rPr sz="1152">
                <a:solidFill>
                  <a:srgbClr val="E6EDF8"/>
                </a:solidFill>
                <a:latin typeface="Consolas"/>
              </a:rPr>
              <a:t>,</a:t>
            </a:r>
            <a:r>
              <a:rPr sz="1152">
                <a:solidFill>
                  <a:srgbClr val="E6EDF8"/>
                </a:solidFill>
                <a:latin typeface="Consolas"/>
              </a:rPr>
              <a:t> </a:t>
            </a:r>
            <a:r>
              <a:rPr sz="1152">
                <a:solidFill>
                  <a:srgbClr val="A78BFA"/>
                </a:solidFill>
                <a:latin typeface="Consolas"/>
              </a:rPr>
              <a:t>double</a:t>
            </a:r>
            <a:r>
              <a:rPr sz="1152">
                <a:solidFill>
                  <a:srgbClr val="E6EDF8"/>
                </a:solidFill>
                <a:latin typeface="Consolas"/>
              </a:rPr>
              <a:t> </a:t>
            </a:r>
            <a:r>
              <a:rPr sz="1152">
                <a:solidFill>
                  <a:srgbClr val="E6EDF8"/>
                </a:solidFill>
                <a:latin typeface="Consolas"/>
              </a:rPr>
              <a:t>velocityMMps</a:t>
            </a:r>
            <a:r>
              <a:rPr sz="1152">
                <a:solidFill>
                  <a:srgbClr val="E6EDF8"/>
                </a:solidFill>
                <a:latin typeface="Consolas"/>
              </a:rPr>
              <a:t>,</a:t>
            </a:r>
            <a:r>
              <a:rPr sz="1152">
                <a:solidFill>
                  <a:srgbClr val="E6EDF8"/>
                </a:solidFill>
                <a:latin typeface="Consolas"/>
              </a:rPr>
              <a:t> </a:t>
            </a:r>
            <a:r>
              <a:rPr sz="1152">
                <a:solidFill>
                  <a:srgbClr val="A78BFA"/>
                </a:solidFill>
                <a:latin typeface="Consolas"/>
              </a:rPr>
              <a:t>double</a:t>
            </a:r>
            <a:r>
              <a:rPr sz="1152">
                <a:solidFill>
                  <a:srgbClr val="E6EDF8"/>
                </a:solidFill>
                <a:latin typeface="Consolas"/>
              </a:rPr>
              <a:t> </a:t>
            </a:r>
            <a:r>
              <a:rPr sz="1152">
                <a:solidFill>
                  <a:srgbClr val="E6EDF8"/>
                </a:solidFill>
                <a:latin typeface="Consolas"/>
              </a:rPr>
              <a:t>accelMMps2</a:t>
            </a:r>
            <a:r>
              <a:rPr sz="1152">
                <a:solidFill>
                  <a:srgbClr val="E6EDF8"/>
                </a:solidFill>
                <a:latin typeface="Consolas"/>
              </a:rPr>
              <a:t>)</a:t>
            </a:r>
          </a:p>
          <a:p>
            <a:pPr algn="l">
              <a:lnSpc>
                <a:spcPct val="120000"/>
              </a:lnSpc>
            </a:pPr>
            <a:r>
              <a:rPr sz="1152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152">
                <a:solidFill>
                  <a:srgbClr val="E6EDF8"/>
                </a:solidFill>
                <a:latin typeface="Consolas"/>
              </a:rPr>
              <a:t>    </a:t>
            </a:r>
            <a:r>
              <a:rPr sz="1152">
                <a:solidFill>
                  <a:srgbClr val="E6EDF8"/>
                </a:solidFill>
                <a:latin typeface="Consolas"/>
              </a:rPr>
              <a:t>driveVolts</a:t>
            </a:r>
            <a:r>
              <a:rPr sz="1152">
                <a:solidFill>
                  <a:srgbClr val="E6EDF8"/>
                </a:solidFill>
                <a:latin typeface="Consolas"/>
              </a:rPr>
              <a:t>(</a:t>
            </a:r>
            <a:r>
              <a:rPr sz="1152">
                <a:solidFill>
                  <a:srgbClr val="E6EDF8"/>
                </a:solidFill>
                <a:latin typeface="Consolas"/>
              </a:rPr>
              <a:t>feedforward</a:t>
            </a:r>
            <a:r>
              <a:rPr sz="1152">
                <a:solidFill>
                  <a:srgbClr val="E6EDF8"/>
                </a:solidFill>
                <a:latin typeface="Consolas"/>
              </a:rPr>
              <a:t>.</a:t>
            </a:r>
            <a:r>
              <a:rPr sz="1152">
                <a:solidFill>
                  <a:srgbClr val="E6EDF8"/>
                </a:solidFill>
                <a:latin typeface="Consolas"/>
              </a:rPr>
              <a:t>calculate</a:t>
            </a:r>
            <a:r>
              <a:rPr sz="1152">
                <a:solidFill>
                  <a:srgbClr val="E6EDF8"/>
                </a:solidFill>
                <a:latin typeface="Consolas"/>
              </a:rPr>
              <a:t>(</a:t>
            </a:r>
            <a:r>
              <a:rPr sz="1152">
                <a:solidFill>
                  <a:srgbClr val="E6EDF8"/>
                </a:solidFill>
                <a:latin typeface="Consolas"/>
              </a:rPr>
              <a:t>velocityMMps</a:t>
            </a:r>
            <a:r>
              <a:rPr sz="1152">
                <a:solidFill>
                  <a:srgbClr val="E6EDF8"/>
                </a:solidFill>
                <a:latin typeface="Consolas"/>
              </a:rPr>
              <a:t>,</a:t>
            </a:r>
            <a:r>
              <a:rPr sz="1152">
                <a:solidFill>
                  <a:srgbClr val="E6EDF8"/>
                </a:solidFill>
                <a:latin typeface="Consolas"/>
              </a:rPr>
              <a:t> </a:t>
            </a:r>
            <a:r>
              <a:rPr sz="1152">
                <a:solidFill>
                  <a:srgbClr val="E6EDF8"/>
                </a:solidFill>
                <a:latin typeface="Consolas"/>
              </a:rPr>
              <a:t>accelMMps2</a:t>
            </a:r>
            <a:r>
              <a:rPr sz="1152">
                <a:solidFill>
                  <a:srgbClr val="E6EDF8"/>
                </a:solidFill>
                <a:latin typeface="Consolas"/>
              </a:rPr>
              <a:t>)</a:t>
            </a:r>
          </a:p>
          <a:p>
            <a:pPr algn="l">
              <a:lnSpc>
                <a:spcPct val="120000"/>
              </a:lnSpc>
            </a:pPr>
            <a:r>
              <a:rPr sz="1152">
                <a:solidFill>
                  <a:srgbClr val="E6EDF8"/>
                </a:solidFill>
                <a:latin typeface="Consolas"/>
              </a:rPr>
              <a:t>               </a:t>
            </a:r>
            <a:r>
              <a:rPr sz="1152">
                <a:solidFill>
                  <a:srgbClr val="E6EDF8"/>
                </a:solidFill>
                <a:latin typeface="Consolas"/>
              </a:rPr>
              <a:t>+</a:t>
            </a:r>
            <a:r>
              <a:rPr sz="1152">
                <a:solidFill>
                  <a:srgbClr val="E6EDF8"/>
                </a:solidFill>
                <a:latin typeface="Consolas"/>
              </a:rPr>
              <a:t> </a:t>
            </a:r>
            <a:r>
              <a:rPr sz="1152">
                <a:solidFill>
                  <a:srgbClr val="E6EDF8"/>
                </a:solidFill>
                <a:latin typeface="Consolas"/>
              </a:rPr>
              <a:t>pidController</a:t>
            </a:r>
            <a:r>
              <a:rPr sz="1152">
                <a:solidFill>
                  <a:srgbClr val="E6EDF8"/>
                </a:solidFill>
                <a:latin typeface="Consolas"/>
              </a:rPr>
              <a:t>.</a:t>
            </a:r>
            <a:r>
              <a:rPr sz="1152">
                <a:solidFill>
                  <a:srgbClr val="E6EDF8"/>
                </a:solidFill>
                <a:latin typeface="Consolas"/>
              </a:rPr>
              <a:t>calculate</a:t>
            </a:r>
            <a:r>
              <a:rPr sz="1152">
                <a:solidFill>
                  <a:srgbClr val="E6EDF8"/>
                </a:solidFill>
                <a:latin typeface="Consolas"/>
              </a:rPr>
              <a:t>(</a:t>
            </a:r>
            <a:r>
              <a:rPr sz="1152">
                <a:solidFill>
                  <a:srgbClr val="E6EDF8"/>
                </a:solidFill>
                <a:latin typeface="Consolas"/>
              </a:rPr>
              <a:t>getPositionMM</a:t>
            </a:r>
            <a:r>
              <a:rPr sz="1152">
                <a:solidFill>
                  <a:srgbClr val="E6EDF8"/>
                </a:solidFill>
                <a:latin typeface="Consolas"/>
              </a:rPr>
              <a:t>(</a:t>
            </a:r>
            <a:r>
              <a:rPr sz="1152">
                <a:solidFill>
                  <a:srgbClr val="E6EDF8"/>
                </a:solidFill>
                <a:latin typeface="Consolas"/>
              </a:rPr>
              <a:t>)</a:t>
            </a:r>
            <a:r>
              <a:rPr sz="1152">
                <a:solidFill>
                  <a:srgbClr val="E6EDF8"/>
                </a:solidFill>
                <a:latin typeface="Consolas"/>
              </a:rPr>
              <a:t>,</a:t>
            </a:r>
            <a:r>
              <a:rPr sz="1152">
                <a:solidFill>
                  <a:srgbClr val="E6EDF8"/>
                </a:solidFill>
                <a:latin typeface="Consolas"/>
              </a:rPr>
              <a:t> </a:t>
            </a:r>
            <a:r>
              <a:rPr sz="1152">
                <a:solidFill>
                  <a:srgbClr val="E6EDF8"/>
                </a:solidFill>
                <a:latin typeface="Consolas"/>
              </a:rPr>
              <a:t>positionMM</a:t>
            </a:r>
            <a:r>
              <a:rPr sz="1152">
                <a:solidFill>
                  <a:srgbClr val="E6EDF8"/>
                </a:solidFill>
                <a:latin typeface="Consolas"/>
              </a:rPr>
              <a:t>)</a:t>
            </a:r>
            <a:r>
              <a:rPr sz="1152">
                <a:solidFill>
                  <a:srgbClr val="E6EDF8"/>
                </a:solidFill>
                <a:latin typeface="Consolas"/>
              </a:rPr>
              <a:t>)</a:t>
            </a:r>
            <a:r>
              <a:rPr sz="1152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152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" y="1856232"/>
            <a:ext cx="1944014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AtiradorSubsystem.java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611880"/>
            <a:ext cx="10789920" cy="457200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3611880"/>
            <a:ext cx="15179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D9F0"/>
                </a:solidFill>
                <a:latin typeface="Segoe UI"/>
              </a:rPr>
              <a:t>ganho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9464" y="3611880"/>
            <a:ext cx="25237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D9F0"/>
                </a:solidFill>
                <a:latin typeface="Segoe UI"/>
              </a:rPr>
              <a:t>unidade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2664" y="3611880"/>
            <a:ext cx="60899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D9F0"/>
                </a:solidFill>
                <a:latin typeface="Segoe UI"/>
              </a:rPr>
              <a:t>o que faz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4069080"/>
            <a:ext cx="15179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9464" y="4069080"/>
            <a:ext cx="25237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2664" y="4069080"/>
            <a:ext cx="60899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tira o eixo da inércia (atrito seco)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526280"/>
            <a:ext cx="10789920" cy="457200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4526280"/>
            <a:ext cx="15179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kv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9464" y="4526280"/>
            <a:ext cx="25237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V / (mm/s)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4526280"/>
            <a:ext cx="60899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paga a velocidade pedida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" y="4983480"/>
            <a:ext cx="15179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9464" y="4983480"/>
            <a:ext cx="25237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V / (mm/s²)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4983480"/>
            <a:ext cx="60899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ANTECIPA a aceleração — é o que faz a curva S render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532120"/>
            <a:ext cx="1078992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5769864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9304" y="5623559"/>
            <a:ext cx="9966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No projeto ks = kv = ka = 0: o perfil é seguido só pelo feedback. Funciona, mas o eixo fica sempre atrasado. Caracterizar o mecanismo é o exercício seguinte.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NA BANCADA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Três botões, o mesmo eixo, o mesmo alvo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No robô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965960"/>
            <a:ext cx="10789920" cy="475488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965960"/>
            <a:ext cx="969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D9F0"/>
                </a:solidFill>
                <a:latin typeface="Segoe UI"/>
              </a:rPr>
              <a:t>botão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0824" y="196596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D9F0"/>
                </a:solidFill>
                <a:latin typeface="Segoe UI"/>
              </a:rPr>
              <a:t>comando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7064" y="1965960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D9F0"/>
                </a:solidFill>
                <a:latin typeface="Segoe UI"/>
              </a:rPr>
              <a:t>perfil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44584" y="196596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D9F0"/>
                </a:solidFill>
                <a:latin typeface="Segoe UI"/>
              </a:rPr>
              <a:t>limita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441448"/>
            <a:ext cx="969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6EDF8"/>
                </a:solidFill>
                <a:latin typeface="Consolas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0824" y="244144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6EDF8"/>
                </a:solidFill>
                <a:latin typeface="Consolas"/>
              </a:rPr>
              <a:t>AtiradorSCurveCmd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7064" y="2441448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6EDF8"/>
                </a:solidFill>
                <a:latin typeface="Consolas"/>
              </a:rPr>
              <a:t>curva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44584" y="244144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6EDF8"/>
                </a:solidFill>
                <a:latin typeface="Consolas"/>
              </a:rPr>
              <a:t>v, a e j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916936"/>
            <a:ext cx="10789920" cy="475488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2916936"/>
            <a:ext cx="969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6EDF8"/>
                </a:solidFill>
                <a:latin typeface="Consolas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0824" y="291693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6EDF8"/>
                </a:solidFill>
                <a:latin typeface="Consolas"/>
              </a:rPr>
              <a:t>AtiradorTrapezoidCmd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291693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6EDF8"/>
                </a:solidFill>
                <a:latin typeface="Consolas"/>
              </a:rPr>
              <a:t>TrapezoidProfile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291693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6EDF8"/>
                </a:solidFill>
                <a:latin typeface="Consolas"/>
              </a:rPr>
              <a:t>v e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3392424"/>
            <a:ext cx="969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6EDF8"/>
                </a:solidFill>
                <a:latin typeface="Consolas"/>
              </a:rP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0824" y="339242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6EDF8"/>
                </a:solidFill>
                <a:latin typeface="Consolas"/>
              </a:rPr>
              <a:t>AtiradorStepCmd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7064" y="3392424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6EDF8"/>
                </a:solidFill>
                <a:latin typeface="Consolas"/>
              </a:rPr>
              <a:t>degrau (nenhum)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584" y="339242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6EDF8"/>
                </a:solidFill>
                <a:latin typeface="Consolas"/>
              </a:rPr>
              <a:t>nada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867912"/>
            <a:ext cx="10789920" cy="475488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" y="3867912"/>
            <a:ext cx="969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6EDF8"/>
                </a:solidFill>
                <a:latin typeface="Consolas"/>
              </a:rPr>
              <a:t>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20824" y="386791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6EDF8"/>
                </a:solidFill>
                <a:latin typeface="Consolas"/>
              </a:rPr>
              <a:t>AtiradorSCurveCmd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27064" y="3867912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6EDF8"/>
                </a:solidFill>
                <a:latin typeface="Consolas"/>
              </a:rPr>
              <a:t>volta à origem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386791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6EDF8"/>
                </a:solidFill>
                <a:latin typeface="Consolas"/>
              </a:rPr>
              <a:t>v, a e j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480560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4608576"/>
            <a:ext cx="50292" cy="795527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663440"/>
            <a:ext cx="47823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38D9F0"/>
                </a:solidFill>
                <a:latin typeface="Segoe UI"/>
              </a:rPr>
              <a:t>Também no autônomo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010912"/>
            <a:ext cx="4782312" cy="393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Os três estão no SendableChooser, para rodar sem joystick.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480560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608576"/>
            <a:ext cx="50292" cy="795527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4663440"/>
            <a:ext cx="47823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34D399"/>
                </a:solidFill>
                <a:latin typeface="Segoe UI"/>
              </a:rPr>
              <a:t>Alvo em um só lugar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010912"/>
            <a:ext cx="4782312" cy="393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AtiradorConstants.kTargetMM = 100 mm. Mudou ali, mudou nos quatro.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5623560"/>
            <a:ext cx="10789920" cy="530352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" y="575157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9304" y="5715000"/>
            <a:ext cx="9966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Comece pelo X (degrau), depois B, depois A: a sequência ensina mais que a explicação.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O QUE PLOTAR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gráfico é a aula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No robô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10789920" cy="73152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lnSpc>
                <a:spcPct val="132000"/>
              </a:lnSpc>
            </a:pPr>
            <a:r>
              <a:rPr sz="2000">
                <a:solidFill>
                  <a:srgbClr val="FBBF24"/>
                </a:solidFill>
                <a:latin typeface="Consolas"/>
              </a:rPr>
              <a:t>Atirador/Setpoint Acel mmps2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926080"/>
            <a:ext cx="10789920" cy="420624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926080"/>
            <a:ext cx="307238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8D9F0"/>
                </a:solidFill>
                <a:latin typeface="Segoe UI"/>
              </a:rPr>
              <a:t>canal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3944" y="2926080"/>
            <a:ext cx="215798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8D9F0"/>
                </a:solidFill>
                <a:latin typeface="Segoe UI"/>
              </a:rPr>
              <a:t>degrau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3" y="2926080"/>
            <a:ext cx="234086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8D9F0"/>
                </a:solidFill>
                <a:latin typeface="Segoe UI"/>
              </a:rPr>
              <a:t>trapézio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61704" y="2926080"/>
            <a:ext cx="234086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8D9F0"/>
                </a:solidFill>
                <a:latin typeface="Segoe UI"/>
              </a:rPr>
              <a:t>curva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346704"/>
            <a:ext cx="307238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Setpoint Acel mmps2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23944" y="3346704"/>
            <a:ext cx="215798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sempre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3" y="3346704"/>
            <a:ext cx="234086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onda quadrada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61704" y="3346704"/>
            <a:ext cx="234086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trapézio suave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767328"/>
            <a:ext cx="10789920" cy="420624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767328"/>
            <a:ext cx="307238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Setpoint Vel mmps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23944" y="3767328"/>
            <a:ext cx="215798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sempre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3" y="3767328"/>
            <a:ext cx="234086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trapézio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1704" y="3767328"/>
            <a:ext cx="234086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sino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4187952"/>
            <a:ext cx="307238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Posicao 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23944" y="4187952"/>
            <a:ext cx="215798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sobe saturado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1383" y="4187952"/>
            <a:ext cx="234086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segue o perfil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61704" y="4187952"/>
            <a:ext cx="234086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segue o perfil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608576"/>
            <a:ext cx="10789920" cy="420624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" y="4608576"/>
            <a:ext cx="307238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Erro mm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23944" y="4608576"/>
            <a:ext cx="215798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salta para 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1383" y="4608576"/>
            <a:ext cx="234086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pequeno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61704" y="4608576"/>
            <a:ext cx="234086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pequeno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" y="5029200"/>
            <a:ext cx="307238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Tensao 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23944" y="5029200"/>
            <a:ext cx="215798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satura em 6 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01383" y="5029200"/>
            <a:ext cx="234086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pode saturar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61704" y="5029200"/>
            <a:ext cx="234086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sobra margem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504688"/>
            <a:ext cx="1078992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" y="5742431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9304" y="5596127"/>
            <a:ext cx="9966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No degrau, velocidade e aceleração desejadas valem zero: não existe plano nenhum. É isso que o gráfico vazio está dizendo.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PLANO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Jerk limitado sem classe nova, com SlewRateLimiter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No robô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10789920" cy="1874519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061" i="1">
                <a:solidFill>
                  <a:srgbClr val="6B82A6"/>
                </a:solidFill>
                <a:latin typeface="Consolas"/>
              </a:rPr>
              <a:t>// Limita o JERK da aceleracao e integra para achar a velocidade.</a:t>
            </a:r>
          </a:p>
          <a:p>
            <a:pPr algn="l">
              <a:lnSpc>
                <a:spcPct val="120000"/>
              </a:lnSpc>
            </a:pPr>
            <a:r>
              <a:rPr sz="1061">
                <a:solidFill>
                  <a:srgbClr val="A78BFA"/>
                </a:solidFill>
                <a:latin typeface="Consolas"/>
              </a:rPr>
              <a:t>private</a:t>
            </a:r>
            <a:r>
              <a:rPr sz="1061">
                <a:solidFill>
                  <a:srgbClr val="E6EDF8"/>
                </a:solidFill>
                <a:latin typeface="Consolas"/>
              </a:rPr>
              <a:t> </a:t>
            </a:r>
            <a:r>
              <a:rPr sz="1061">
                <a:solidFill>
                  <a:srgbClr val="A78BFA"/>
                </a:solidFill>
                <a:latin typeface="Consolas"/>
              </a:rPr>
              <a:t>final</a:t>
            </a:r>
            <a:r>
              <a:rPr sz="1061">
                <a:solidFill>
                  <a:srgbClr val="E6EDF8"/>
                </a:solidFill>
                <a:latin typeface="Consolas"/>
              </a:rPr>
              <a:t> </a:t>
            </a:r>
            <a:r>
              <a:rPr sz="1061">
                <a:solidFill>
                  <a:srgbClr val="34D399"/>
                </a:solidFill>
                <a:latin typeface="Consolas"/>
              </a:rPr>
              <a:t>SlewRateLimiter</a:t>
            </a:r>
            <a:r>
              <a:rPr sz="1061">
                <a:solidFill>
                  <a:srgbClr val="E6EDF8"/>
                </a:solidFill>
                <a:latin typeface="Consolas"/>
              </a:rPr>
              <a:t> </a:t>
            </a:r>
            <a:r>
              <a:rPr sz="1061">
                <a:solidFill>
                  <a:srgbClr val="E6EDF8"/>
                </a:solidFill>
                <a:latin typeface="Consolas"/>
              </a:rPr>
              <a:t>limiteDeJerk</a:t>
            </a:r>
            <a:r>
              <a:rPr sz="1061">
                <a:solidFill>
                  <a:srgbClr val="E6EDF8"/>
                </a:solidFill>
                <a:latin typeface="Consolas"/>
              </a:rPr>
              <a:t> </a:t>
            </a:r>
            <a:r>
              <a:rPr sz="1061">
                <a:solidFill>
                  <a:srgbClr val="E6EDF8"/>
                </a:solidFill>
                <a:latin typeface="Consolas"/>
              </a:rPr>
              <a:t>=</a:t>
            </a:r>
            <a:r>
              <a:rPr sz="1061">
                <a:solidFill>
                  <a:srgbClr val="E6EDF8"/>
                </a:solidFill>
                <a:latin typeface="Consolas"/>
              </a:rPr>
              <a:t> </a:t>
            </a:r>
            <a:r>
              <a:rPr sz="1061">
                <a:solidFill>
                  <a:srgbClr val="A78BFA"/>
                </a:solidFill>
                <a:latin typeface="Consolas"/>
              </a:rPr>
              <a:t>new</a:t>
            </a:r>
            <a:r>
              <a:rPr sz="1061">
                <a:solidFill>
                  <a:srgbClr val="E6EDF8"/>
                </a:solidFill>
                <a:latin typeface="Consolas"/>
              </a:rPr>
              <a:t> </a:t>
            </a:r>
            <a:r>
              <a:rPr sz="1061">
                <a:solidFill>
                  <a:srgbClr val="34D399"/>
                </a:solidFill>
                <a:latin typeface="Consolas"/>
              </a:rPr>
              <a:t>SlewRateLimiter</a:t>
            </a:r>
            <a:r>
              <a:rPr sz="1061">
                <a:solidFill>
                  <a:srgbClr val="E6EDF8"/>
                </a:solidFill>
                <a:latin typeface="Consolas"/>
              </a:rPr>
              <a:t>(</a:t>
            </a:r>
            <a:r>
              <a:rPr sz="1061">
                <a:solidFill>
                  <a:srgbClr val="E6EDF8"/>
                </a:solidFill>
                <a:latin typeface="Consolas"/>
              </a:rPr>
              <a:t>kMaxJerk</a:t>
            </a:r>
            <a:r>
              <a:rPr sz="1061">
                <a:solidFill>
                  <a:srgbClr val="E6EDF8"/>
                </a:solidFill>
                <a:latin typeface="Consolas"/>
              </a:rPr>
              <a:t>)</a:t>
            </a:r>
            <a:r>
              <a:rPr sz="1061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61">
                <a:solidFill>
                  <a:srgbClr val="A78BFA"/>
                </a:solidFill>
                <a:latin typeface="Consolas"/>
              </a:rPr>
              <a:t>private</a:t>
            </a:r>
            <a:r>
              <a:rPr sz="1061">
                <a:solidFill>
                  <a:srgbClr val="E6EDF8"/>
                </a:solidFill>
                <a:latin typeface="Consolas"/>
              </a:rPr>
              <a:t> </a:t>
            </a:r>
            <a:r>
              <a:rPr sz="1061">
                <a:solidFill>
                  <a:srgbClr val="A78BFA"/>
                </a:solidFill>
                <a:latin typeface="Consolas"/>
              </a:rPr>
              <a:t>double</a:t>
            </a:r>
            <a:r>
              <a:rPr sz="1061">
                <a:solidFill>
                  <a:srgbClr val="E6EDF8"/>
                </a:solidFill>
                <a:latin typeface="Consolas"/>
              </a:rPr>
              <a:t> </a:t>
            </a:r>
            <a:r>
              <a:rPr sz="1061">
                <a:solidFill>
                  <a:srgbClr val="E6EDF8"/>
                </a:solidFill>
                <a:latin typeface="Consolas"/>
              </a:rPr>
              <a:t>velocidadeSuave</a:t>
            </a:r>
            <a:r>
              <a:rPr sz="1061">
                <a:solidFill>
                  <a:srgbClr val="E6EDF8"/>
                </a:solidFill>
                <a:latin typeface="Consolas"/>
              </a:rPr>
              <a:t> </a:t>
            </a:r>
            <a:r>
              <a:rPr sz="1061">
                <a:solidFill>
                  <a:srgbClr val="E6EDF8"/>
                </a:solidFill>
                <a:latin typeface="Consolas"/>
              </a:rPr>
              <a:t>=</a:t>
            </a:r>
            <a:r>
              <a:rPr sz="1061">
                <a:solidFill>
                  <a:srgbClr val="E6EDF8"/>
                </a:solidFill>
                <a:latin typeface="Consolas"/>
              </a:rPr>
              <a:t> </a:t>
            </a:r>
            <a:r>
              <a:rPr sz="1061">
                <a:solidFill>
                  <a:srgbClr val="F472B6"/>
                </a:solidFill>
                <a:latin typeface="Consolas"/>
              </a:rPr>
              <a:t>0.0</a:t>
            </a:r>
            <a:r>
              <a:rPr sz="1061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061" i="1">
                <a:solidFill>
                  <a:srgbClr val="6B82A6"/>
                </a:solidFill>
                <a:latin typeface="Consolas"/>
              </a:rPr>
              <a:t>// a cada ciclo de 20 ms:</a:t>
            </a:r>
          </a:p>
          <a:p>
            <a:pPr algn="l">
              <a:lnSpc>
                <a:spcPct val="120000"/>
              </a:lnSpc>
            </a:pPr>
            <a:r>
              <a:rPr sz="1061">
                <a:solidFill>
                  <a:srgbClr val="A78BFA"/>
                </a:solidFill>
                <a:latin typeface="Consolas"/>
              </a:rPr>
              <a:t>double</a:t>
            </a:r>
            <a:r>
              <a:rPr sz="1061">
                <a:solidFill>
                  <a:srgbClr val="E6EDF8"/>
                </a:solidFill>
                <a:latin typeface="Consolas"/>
              </a:rPr>
              <a:t> </a:t>
            </a:r>
            <a:r>
              <a:rPr sz="1061">
                <a:solidFill>
                  <a:srgbClr val="E6EDF8"/>
                </a:solidFill>
                <a:latin typeface="Consolas"/>
              </a:rPr>
              <a:t>aceleracaoBruta</a:t>
            </a:r>
            <a:r>
              <a:rPr sz="1061">
                <a:solidFill>
                  <a:srgbClr val="E6EDF8"/>
                </a:solidFill>
                <a:latin typeface="Consolas"/>
              </a:rPr>
              <a:t> </a:t>
            </a:r>
            <a:r>
              <a:rPr sz="1061">
                <a:solidFill>
                  <a:srgbClr val="E6EDF8"/>
                </a:solidFill>
                <a:latin typeface="Consolas"/>
              </a:rPr>
              <a:t>=</a:t>
            </a:r>
            <a:r>
              <a:rPr sz="1061">
                <a:solidFill>
                  <a:srgbClr val="E6EDF8"/>
                </a:solidFill>
                <a:latin typeface="Consolas"/>
              </a:rPr>
              <a:t> </a:t>
            </a:r>
            <a:r>
              <a:rPr sz="1061">
                <a:solidFill>
                  <a:srgbClr val="E6EDF8"/>
                </a:solidFill>
                <a:latin typeface="Consolas"/>
              </a:rPr>
              <a:t>(</a:t>
            </a:r>
            <a:r>
              <a:rPr sz="1061">
                <a:solidFill>
                  <a:srgbClr val="E6EDF8"/>
                </a:solidFill>
                <a:latin typeface="Consolas"/>
              </a:rPr>
              <a:t>velocidadeDoTrapezio</a:t>
            </a:r>
            <a:r>
              <a:rPr sz="1061">
                <a:solidFill>
                  <a:srgbClr val="E6EDF8"/>
                </a:solidFill>
                <a:latin typeface="Consolas"/>
              </a:rPr>
              <a:t> </a:t>
            </a:r>
            <a:r>
              <a:rPr sz="1061">
                <a:solidFill>
                  <a:srgbClr val="E6EDF8"/>
                </a:solidFill>
                <a:latin typeface="Consolas"/>
              </a:rPr>
              <a:t>-</a:t>
            </a:r>
            <a:r>
              <a:rPr sz="1061">
                <a:solidFill>
                  <a:srgbClr val="E6EDF8"/>
                </a:solidFill>
                <a:latin typeface="Consolas"/>
              </a:rPr>
              <a:t> </a:t>
            </a:r>
            <a:r>
              <a:rPr sz="1061">
                <a:solidFill>
                  <a:srgbClr val="E6EDF8"/>
                </a:solidFill>
                <a:latin typeface="Consolas"/>
              </a:rPr>
              <a:t>velocidadeSuave</a:t>
            </a:r>
            <a:r>
              <a:rPr sz="1061">
                <a:solidFill>
                  <a:srgbClr val="E6EDF8"/>
                </a:solidFill>
                <a:latin typeface="Consolas"/>
              </a:rPr>
              <a:t>)</a:t>
            </a:r>
            <a:r>
              <a:rPr sz="1061">
                <a:solidFill>
                  <a:srgbClr val="E6EDF8"/>
                </a:solidFill>
                <a:latin typeface="Consolas"/>
              </a:rPr>
              <a:t> </a:t>
            </a:r>
            <a:r>
              <a:rPr sz="1061">
                <a:solidFill>
                  <a:srgbClr val="E6EDF8"/>
                </a:solidFill>
                <a:latin typeface="Consolas"/>
              </a:rPr>
              <a:t>/</a:t>
            </a:r>
            <a:r>
              <a:rPr sz="1061">
                <a:solidFill>
                  <a:srgbClr val="E6EDF8"/>
                </a:solidFill>
                <a:latin typeface="Consolas"/>
              </a:rPr>
              <a:t> </a:t>
            </a:r>
            <a:r>
              <a:rPr sz="1061">
                <a:solidFill>
                  <a:srgbClr val="E6EDF8"/>
                </a:solidFill>
                <a:latin typeface="Consolas"/>
              </a:rPr>
              <a:t>kDt</a:t>
            </a:r>
            <a:r>
              <a:rPr sz="1061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61">
                <a:solidFill>
                  <a:srgbClr val="A78BFA"/>
                </a:solidFill>
                <a:latin typeface="Consolas"/>
              </a:rPr>
              <a:t>double</a:t>
            </a:r>
            <a:r>
              <a:rPr sz="1061">
                <a:solidFill>
                  <a:srgbClr val="E6EDF8"/>
                </a:solidFill>
                <a:latin typeface="Consolas"/>
              </a:rPr>
              <a:t> </a:t>
            </a:r>
            <a:r>
              <a:rPr sz="1061">
                <a:solidFill>
                  <a:srgbClr val="E6EDF8"/>
                </a:solidFill>
                <a:latin typeface="Consolas"/>
              </a:rPr>
              <a:t>aceleracaoSuave</a:t>
            </a:r>
            <a:r>
              <a:rPr sz="1061">
                <a:solidFill>
                  <a:srgbClr val="E6EDF8"/>
                </a:solidFill>
                <a:latin typeface="Consolas"/>
              </a:rPr>
              <a:t> </a:t>
            </a:r>
            <a:r>
              <a:rPr sz="1061">
                <a:solidFill>
                  <a:srgbClr val="E6EDF8"/>
                </a:solidFill>
                <a:latin typeface="Consolas"/>
              </a:rPr>
              <a:t>=</a:t>
            </a:r>
            <a:r>
              <a:rPr sz="1061">
                <a:solidFill>
                  <a:srgbClr val="E6EDF8"/>
                </a:solidFill>
                <a:latin typeface="Consolas"/>
              </a:rPr>
              <a:t> </a:t>
            </a:r>
            <a:r>
              <a:rPr sz="1061">
                <a:solidFill>
                  <a:srgbClr val="E6EDF8"/>
                </a:solidFill>
                <a:latin typeface="Consolas"/>
              </a:rPr>
              <a:t>limiteDeJerk</a:t>
            </a:r>
            <a:r>
              <a:rPr sz="1061">
                <a:solidFill>
                  <a:srgbClr val="E6EDF8"/>
                </a:solidFill>
                <a:latin typeface="Consolas"/>
              </a:rPr>
              <a:t>.</a:t>
            </a:r>
            <a:r>
              <a:rPr sz="1061">
                <a:solidFill>
                  <a:srgbClr val="E6EDF8"/>
                </a:solidFill>
                <a:latin typeface="Consolas"/>
              </a:rPr>
              <a:t>calculate</a:t>
            </a:r>
            <a:r>
              <a:rPr sz="1061">
                <a:solidFill>
                  <a:srgbClr val="E6EDF8"/>
                </a:solidFill>
                <a:latin typeface="Consolas"/>
              </a:rPr>
              <a:t>(</a:t>
            </a:r>
            <a:r>
              <a:rPr sz="1061">
                <a:solidFill>
                  <a:srgbClr val="E6EDF8"/>
                </a:solidFill>
                <a:latin typeface="Consolas"/>
              </a:rPr>
              <a:t>aceleracaoBruta</a:t>
            </a:r>
            <a:r>
              <a:rPr sz="1061">
                <a:solidFill>
                  <a:srgbClr val="E6EDF8"/>
                </a:solidFill>
                <a:latin typeface="Consolas"/>
              </a:rPr>
              <a:t>)</a:t>
            </a:r>
            <a:r>
              <a:rPr sz="1061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61">
                <a:solidFill>
                  <a:srgbClr val="E6EDF8"/>
                </a:solidFill>
                <a:latin typeface="Consolas"/>
              </a:rPr>
              <a:t>velocidadeSuave</a:t>
            </a:r>
            <a:r>
              <a:rPr sz="1061">
                <a:solidFill>
                  <a:srgbClr val="E6EDF8"/>
                </a:solidFill>
                <a:latin typeface="Consolas"/>
              </a:rPr>
              <a:t> </a:t>
            </a:r>
            <a:r>
              <a:rPr sz="1061">
                <a:solidFill>
                  <a:srgbClr val="E6EDF8"/>
                </a:solidFill>
                <a:latin typeface="Consolas"/>
              </a:rPr>
              <a:t>+</a:t>
            </a:r>
            <a:r>
              <a:rPr sz="1061">
                <a:solidFill>
                  <a:srgbClr val="E6EDF8"/>
                </a:solidFill>
                <a:latin typeface="Consolas"/>
              </a:rPr>
              <a:t>=</a:t>
            </a:r>
            <a:r>
              <a:rPr sz="1061">
                <a:solidFill>
                  <a:srgbClr val="E6EDF8"/>
                </a:solidFill>
                <a:latin typeface="Consolas"/>
              </a:rPr>
              <a:t> </a:t>
            </a:r>
            <a:r>
              <a:rPr sz="1061">
                <a:solidFill>
                  <a:srgbClr val="E6EDF8"/>
                </a:solidFill>
                <a:latin typeface="Consolas"/>
              </a:rPr>
              <a:t>aceleracaoSuave</a:t>
            </a:r>
            <a:r>
              <a:rPr sz="1061">
                <a:solidFill>
                  <a:srgbClr val="E6EDF8"/>
                </a:solidFill>
                <a:latin typeface="Consolas"/>
              </a:rPr>
              <a:t> </a:t>
            </a:r>
            <a:r>
              <a:rPr sz="1061">
                <a:solidFill>
                  <a:srgbClr val="E6EDF8"/>
                </a:solidFill>
                <a:latin typeface="Consolas"/>
              </a:rPr>
              <a:t>*</a:t>
            </a:r>
            <a:r>
              <a:rPr sz="1061">
                <a:solidFill>
                  <a:srgbClr val="E6EDF8"/>
                </a:solidFill>
                <a:latin typeface="Consolas"/>
              </a:rPr>
              <a:t> </a:t>
            </a:r>
            <a:r>
              <a:rPr sz="1061">
                <a:solidFill>
                  <a:srgbClr val="E6EDF8"/>
                </a:solidFill>
                <a:latin typeface="Consolas"/>
              </a:rPr>
              <a:t>kDt</a:t>
            </a:r>
            <a:r>
              <a:rPr sz="1061">
                <a:solidFill>
                  <a:srgbClr val="E6EDF8"/>
                </a:solidFill>
                <a:latin typeface="Consolas"/>
              </a:rPr>
              <a:t>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" y="1856232"/>
            <a:ext cx="3082442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edu.wpi.first.wpilibj.SlewRateLimiter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11480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4242816"/>
            <a:ext cx="50292" cy="111556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7823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Segoe UI"/>
              </a:rPr>
              <a:t>A favor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645152"/>
            <a:ext cx="478231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Cinco linhas, nenhuma classe nova, e funciona em teleop com joystick — onde não existe perfil para calcular.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242816"/>
            <a:ext cx="50292" cy="111556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47823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72B6"/>
                </a:solidFill>
                <a:latin typeface="Segoe UI"/>
              </a:rPr>
              <a:t>Contra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645152"/>
            <a:ext cx="478231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O filtro atrasa. A distância de frenagem do trapézio fica curta e aparece um overshoot pequeno, que o PID limpa.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559552"/>
            <a:ext cx="1078992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579729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" y="5650992"/>
            <a:ext cx="9966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Ponto-a-ponto, o quíntico é melhor: chega sem overshoot e com o tempo conhecido antes de o motor girar.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TESTES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A matemática dá para conferir sem robô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No robô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10789920" cy="146304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19456" tIns="164592" bIns="91440"/>
          <a:lstStyle/>
          <a:p>
            <a:pPr algn="l">
              <a:lnSpc>
                <a:spcPct val="120000"/>
              </a:lnSpc>
            </a:pPr>
            <a:r>
              <a:rPr sz="1042" i="1">
                <a:solidFill>
                  <a:srgbClr val="6B82A6"/>
                </a:solidFill>
                <a:latin typeface="Consolas"/>
              </a:rPr>
              <a:t>// ./gradlew test  -  roda em 4 s, sem roboRIO e sem HAL.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A78BFA"/>
                </a:solidFill>
                <a:latin typeface="Consolas"/>
              </a:rPr>
              <a:t>for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(</a:t>
            </a:r>
            <a:r>
              <a:rPr sz="1042">
                <a:solidFill>
                  <a:srgbClr val="A78BFA"/>
                </a:solidFill>
                <a:latin typeface="Consolas"/>
              </a:rPr>
              <a:t>int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i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=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F472B6"/>
                </a:solidFill>
                <a:latin typeface="Consolas"/>
              </a:rPr>
              <a:t>0</a:t>
            </a:r>
            <a:r>
              <a:rPr sz="1042">
                <a:solidFill>
                  <a:srgbClr val="E6EDF8"/>
                </a:solidFill>
                <a:latin typeface="Consolas"/>
              </a:rPr>
              <a:t>;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i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&lt;</a:t>
            </a:r>
            <a:r>
              <a:rPr sz="1042">
                <a:solidFill>
                  <a:srgbClr val="E6EDF8"/>
                </a:solidFill>
                <a:latin typeface="Consolas"/>
              </a:rPr>
              <a:t>=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F472B6"/>
                </a:solidFill>
                <a:latin typeface="Consolas"/>
              </a:rPr>
              <a:t>2000</a:t>
            </a:r>
            <a:r>
              <a:rPr sz="1042">
                <a:solidFill>
                  <a:srgbClr val="E6EDF8"/>
                </a:solidFill>
                <a:latin typeface="Consolas"/>
              </a:rPr>
              <a:t>;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i</a:t>
            </a:r>
            <a:r>
              <a:rPr sz="1042">
                <a:solidFill>
                  <a:srgbClr val="E6EDF8"/>
                </a:solidFill>
                <a:latin typeface="Consolas"/>
              </a:rPr>
              <a:t>+</a:t>
            </a:r>
            <a:r>
              <a:rPr sz="1042">
                <a:solidFill>
                  <a:srgbClr val="E6EDF8"/>
                </a:solidFill>
                <a:latin typeface="Consolas"/>
              </a:rPr>
              <a:t>+</a:t>
            </a:r>
            <a:r>
              <a:rPr sz="1042">
                <a:solidFill>
                  <a:srgbClr val="E6EDF8"/>
                </a:solidFill>
                <a:latin typeface="Consolas"/>
              </a:rPr>
              <a:t>)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    </a:t>
            </a:r>
            <a:r>
              <a:rPr sz="1042">
                <a:solidFill>
                  <a:srgbClr val="A78BFA"/>
                </a:solidFill>
                <a:latin typeface="Consolas"/>
              </a:rPr>
              <a:t>double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t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=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profile</a:t>
            </a:r>
            <a:r>
              <a:rPr sz="1042">
                <a:solidFill>
                  <a:srgbClr val="E6EDF8"/>
                </a:solidFill>
                <a:latin typeface="Consolas"/>
              </a:rPr>
              <a:t>.</a:t>
            </a:r>
            <a:r>
              <a:rPr sz="1042">
                <a:solidFill>
                  <a:srgbClr val="E6EDF8"/>
                </a:solidFill>
                <a:latin typeface="Consolas"/>
              </a:rPr>
              <a:t>totalTime</a:t>
            </a:r>
            <a:r>
              <a:rPr sz="1042">
                <a:solidFill>
                  <a:srgbClr val="E6EDF8"/>
                </a:solidFill>
                <a:latin typeface="Consolas"/>
              </a:rPr>
              <a:t>(</a:t>
            </a:r>
            <a:r>
              <a:rPr sz="1042">
                <a:solidFill>
                  <a:srgbClr val="E6EDF8"/>
                </a:solidFill>
                <a:latin typeface="Consolas"/>
              </a:rPr>
              <a:t>)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*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i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/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F472B6"/>
                </a:solidFill>
                <a:latin typeface="Consolas"/>
              </a:rPr>
              <a:t>2000.0</a:t>
            </a:r>
            <a:r>
              <a:rPr sz="1042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    </a:t>
            </a:r>
            <a:r>
              <a:rPr sz="1042">
                <a:solidFill>
                  <a:srgbClr val="E6EDF8"/>
                </a:solidFill>
                <a:latin typeface="Consolas"/>
              </a:rPr>
              <a:t>picoJerk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=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34D399"/>
                </a:solidFill>
                <a:latin typeface="Consolas"/>
              </a:rPr>
              <a:t>Math</a:t>
            </a:r>
            <a:r>
              <a:rPr sz="1042">
                <a:solidFill>
                  <a:srgbClr val="E6EDF8"/>
                </a:solidFill>
                <a:latin typeface="Consolas"/>
              </a:rPr>
              <a:t>.</a:t>
            </a:r>
            <a:r>
              <a:rPr sz="1042">
                <a:solidFill>
                  <a:srgbClr val="E6EDF8"/>
                </a:solidFill>
                <a:latin typeface="Consolas"/>
              </a:rPr>
              <a:t>max</a:t>
            </a:r>
            <a:r>
              <a:rPr sz="1042">
                <a:solidFill>
                  <a:srgbClr val="E6EDF8"/>
                </a:solidFill>
                <a:latin typeface="Consolas"/>
              </a:rPr>
              <a:t>(</a:t>
            </a:r>
            <a:r>
              <a:rPr sz="1042">
                <a:solidFill>
                  <a:srgbClr val="E6EDF8"/>
                </a:solidFill>
                <a:latin typeface="Consolas"/>
              </a:rPr>
              <a:t>picoJerk</a:t>
            </a:r>
            <a:r>
              <a:rPr sz="1042">
                <a:solidFill>
                  <a:srgbClr val="E6EDF8"/>
                </a:solidFill>
                <a:latin typeface="Consolas"/>
              </a:rPr>
              <a:t>,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34D399"/>
                </a:solidFill>
                <a:latin typeface="Consolas"/>
              </a:rPr>
              <a:t>Math</a:t>
            </a:r>
            <a:r>
              <a:rPr sz="1042">
                <a:solidFill>
                  <a:srgbClr val="E6EDF8"/>
                </a:solidFill>
                <a:latin typeface="Consolas"/>
              </a:rPr>
              <a:t>.</a:t>
            </a:r>
            <a:r>
              <a:rPr sz="1042">
                <a:solidFill>
                  <a:srgbClr val="E6EDF8"/>
                </a:solidFill>
                <a:latin typeface="Consolas"/>
              </a:rPr>
              <a:t>abs</a:t>
            </a:r>
            <a:r>
              <a:rPr sz="1042">
                <a:solidFill>
                  <a:srgbClr val="E6EDF8"/>
                </a:solidFill>
                <a:latin typeface="Consolas"/>
              </a:rPr>
              <a:t>(</a:t>
            </a:r>
            <a:r>
              <a:rPr sz="1042">
                <a:solidFill>
                  <a:srgbClr val="E6EDF8"/>
                </a:solidFill>
                <a:latin typeface="Consolas"/>
              </a:rPr>
              <a:t>profile</a:t>
            </a:r>
            <a:r>
              <a:rPr sz="1042">
                <a:solidFill>
                  <a:srgbClr val="E6EDF8"/>
                </a:solidFill>
                <a:latin typeface="Consolas"/>
              </a:rPr>
              <a:t>.</a:t>
            </a:r>
            <a:r>
              <a:rPr sz="1042">
                <a:solidFill>
                  <a:srgbClr val="E6EDF8"/>
                </a:solidFill>
                <a:latin typeface="Consolas"/>
              </a:rPr>
              <a:t>jerk</a:t>
            </a:r>
            <a:r>
              <a:rPr sz="1042">
                <a:solidFill>
                  <a:srgbClr val="E6EDF8"/>
                </a:solidFill>
                <a:latin typeface="Consolas"/>
              </a:rPr>
              <a:t>(</a:t>
            </a:r>
            <a:r>
              <a:rPr sz="1042">
                <a:solidFill>
                  <a:srgbClr val="E6EDF8"/>
                </a:solidFill>
                <a:latin typeface="Consolas"/>
              </a:rPr>
              <a:t>t</a:t>
            </a:r>
            <a:r>
              <a:rPr sz="1042">
                <a:solidFill>
                  <a:srgbClr val="E6EDF8"/>
                </a:solidFill>
                <a:latin typeface="Consolas"/>
              </a:rPr>
              <a:t>)</a:t>
            </a:r>
            <a:r>
              <a:rPr sz="1042">
                <a:solidFill>
                  <a:srgbClr val="E6EDF8"/>
                </a:solidFill>
                <a:latin typeface="Consolas"/>
              </a:rPr>
              <a:t>)</a:t>
            </a:r>
            <a:r>
              <a:rPr sz="1042">
                <a:solidFill>
                  <a:srgbClr val="E6EDF8"/>
                </a:solidFill>
                <a:latin typeface="Consolas"/>
              </a:rPr>
              <a:t>)</a:t>
            </a:r>
            <a:r>
              <a:rPr sz="1042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}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assertTrue</a:t>
            </a:r>
            <a:r>
              <a:rPr sz="1042">
                <a:solidFill>
                  <a:srgbClr val="E6EDF8"/>
                </a:solidFill>
                <a:latin typeface="Consolas"/>
              </a:rPr>
              <a:t>(</a:t>
            </a:r>
            <a:r>
              <a:rPr sz="1042">
                <a:solidFill>
                  <a:srgbClr val="E6EDF8"/>
                </a:solidFill>
                <a:latin typeface="Consolas"/>
              </a:rPr>
              <a:t>picoJerk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&lt;</a:t>
            </a:r>
            <a:r>
              <a:rPr sz="1042">
                <a:solidFill>
                  <a:srgbClr val="E6EDF8"/>
                </a:solidFill>
                <a:latin typeface="Consolas"/>
              </a:rPr>
              <a:t>=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kMaxJerk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E6EDF8"/>
                </a:solidFill>
                <a:latin typeface="Consolas"/>
              </a:rPr>
              <a:t>*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F472B6"/>
                </a:solidFill>
                <a:latin typeface="Consolas"/>
              </a:rPr>
              <a:t>1.001</a:t>
            </a:r>
            <a:r>
              <a:rPr sz="1042">
                <a:solidFill>
                  <a:srgbClr val="E6EDF8"/>
                </a:solidFill>
                <a:latin typeface="Consolas"/>
              </a:rPr>
              <a:t>)</a:t>
            </a:r>
            <a:r>
              <a:rPr sz="1042">
                <a:solidFill>
                  <a:srgbClr val="E6EDF8"/>
                </a:solidFill>
                <a:latin typeface="Consolas"/>
              </a:rPr>
              <a:t>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" y="1856232"/>
            <a:ext cx="1944014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SCurveProfileTest.java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611880"/>
            <a:ext cx="10789920" cy="384048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3611880"/>
            <a:ext cx="45354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8D9F0"/>
                </a:solidFill>
                <a:latin typeface="Segoe UI"/>
              </a:rPr>
              <a:t>teste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6984" y="3611880"/>
            <a:ext cx="581558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8D9F0"/>
                </a:solidFill>
                <a:latin typeface="Segoe UI"/>
              </a:rPr>
              <a:t>o que garante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3995928"/>
            <a:ext cx="45354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comecaEterminaParado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6984" y="3995928"/>
            <a:ext cx="581558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v = 0 E a = 0 nas duas pontas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379976"/>
            <a:ext cx="10789920" cy="384048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" y="4379976"/>
            <a:ext cx="45354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respeitaOsTresLimites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6984" y="4379976"/>
            <a:ext cx="581558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picos de v, a e j dentro do pedido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4764024"/>
            <a:ext cx="45354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quemMandaNaDuracao...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86984" y="4764024"/>
            <a:ext cx="581558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T sai do limite mais apertado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148072"/>
            <a:ext cx="10789920" cy="384048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" y="5148072"/>
            <a:ext cx="45354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integralDaVelocidadeDaOCurso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86984" y="5148072"/>
            <a:ext cx="581558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a área sob v(t) é a distância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5532120"/>
            <a:ext cx="45354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funcionaNoSentidoNegativo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86984" y="5532120"/>
            <a:ext cx="581558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alvo atrás do ponto de partida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916168"/>
            <a:ext cx="10789920" cy="384048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" y="5916168"/>
            <a:ext cx="45354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cursoZeroNaoTravaOComando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86984" y="5916168"/>
            <a:ext cx="581558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T = 0 e isFinished(0) = true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Três frases para levar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No robô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O WPILib limita aceleração. Quem limita o tranco é você.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566160"/>
            <a:ext cx="3429000" cy="155448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694176"/>
            <a:ext cx="50292" cy="129844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749039"/>
            <a:ext cx="2953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72B6"/>
                </a:solidFill>
                <a:latin typeface="Segoe UI"/>
              </a:rPr>
              <a:t>Degrau em aceleração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96511"/>
            <a:ext cx="2953512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= jerk infinito. É o tranco, a folga batendo e a corrente de pico.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3566160"/>
            <a:ext cx="3429000" cy="155448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3694176"/>
            <a:ext cx="50292" cy="12984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3749039"/>
            <a:ext cx="2953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BBF24"/>
                </a:solidFill>
                <a:latin typeface="Segoe UI"/>
              </a:rPr>
              <a:t>Rampa em aceleração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4096511"/>
            <a:ext cx="2953512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= curva S. Um quíntico de 30 linhas resolve o caso ponto-a-ponto.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566160"/>
            <a:ext cx="3429000" cy="155448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3694176"/>
            <a:ext cx="50292" cy="12984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749039"/>
            <a:ext cx="2953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Segoe UI"/>
              </a:rPr>
              <a:t>Maciez custa tempo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096511"/>
            <a:ext cx="2953512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+25% no exemplo de 300 mm. Saber o preço é parte de escolher.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3949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6C8A"/>
                </a:solidFill>
                <a:latin typeface="Consolas"/>
              </a:rPr>
              <a:t>Projeto:  lab10CurvaS  ·  Decks irmãos:  Lab9-OmniDrive  ·  Lab9-MatrizRotacao-Trajetoria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